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db6320f284e4c04" /><Relationship Type="http://schemas.openxmlformats.org/officeDocument/2006/relationships/extended-properties" Target="/docProps/app.xml" Id="R045b95bf0c414dff" /><Relationship Type="http://schemas.openxmlformats.org/officeDocument/2006/relationships/officeDocument" Target="/ppt/presentation.xml" Id="Rba0d41e6bf4348fe" /></Relationships>
</file>

<file path=ppt/presentation.xml><?xml version="1.0" encoding="utf-8"?>
<p:presentation xmlns:p="http://schemas.openxmlformats.org/presentationml/2006/main">
  <p:sldMasterIdLst>
    <p:sldMasterId xmlns:r="http://schemas.openxmlformats.org/officeDocument/2006/relationships" id="2147483648" r:id="R49128d126a4a4884"/>
  </p:sldMasterIdLst>
  <p:notesMasterIdLst>
    <p:notesMasterId xmlns:r="http://schemas.openxmlformats.org/officeDocument/2006/relationships" r:id="R57770f6af6fa47ba"/>
  </p:notesMasterIdLst>
  <p:sldIdLst>
    <p:sldId xmlns:r="http://schemas.openxmlformats.org/officeDocument/2006/relationships" id="256" r:id="Rfc4c05e843db4c78"/>
    <p:sldId xmlns:r="http://schemas.openxmlformats.org/officeDocument/2006/relationships" id="257" r:id="R9b1314970df0434a"/>
    <p:sldId xmlns:r="http://schemas.openxmlformats.org/officeDocument/2006/relationships" id="258" r:id="Rc5b491553d3a4221"/>
    <p:sldId xmlns:r="http://schemas.openxmlformats.org/officeDocument/2006/relationships" id="259" r:id="Rc0fadb33741d4924"/>
    <p:sldId xmlns:r="http://schemas.openxmlformats.org/officeDocument/2006/relationships" id="260" r:id="Rf4dacd8dd1d94232"/>
    <p:sldId xmlns:r="http://schemas.openxmlformats.org/officeDocument/2006/relationships" id="261" r:id="R89807b40ec6a4ce1"/>
    <p:sldId xmlns:r="http://schemas.openxmlformats.org/officeDocument/2006/relationships" id="262" r:id="R178ca011a4f74052"/>
    <p:sldId xmlns:r="http://schemas.openxmlformats.org/officeDocument/2006/relationships" id="263" r:id="R5952585021ab4d35"/>
    <p:sldId xmlns:r="http://schemas.openxmlformats.org/officeDocument/2006/relationships" id="264" r:id="R2f39f6ecbd594e74"/>
    <p:sldId xmlns:r="http://schemas.openxmlformats.org/officeDocument/2006/relationships" id="265" r:id="R29758a4fec464790"/>
    <p:sldId xmlns:r="http://schemas.openxmlformats.org/officeDocument/2006/relationships" id="266" r:id="Rce3daf80e3b546d1"/>
    <p:sldId xmlns:r="http://schemas.openxmlformats.org/officeDocument/2006/relationships" id="267" r:id="Rbd796beae5a44f4f"/>
    <p:sldId xmlns:r="http://schemas.openxmlformats.org/officeDocument/2006/relationships" id="268" r:id="R01dd6fbaf36a45d6"/>
    <p:sldId xmlns:r="http://schemas.openxmlformats.org/officeDocument/2006/relationships" id="269" r:id="R20b4161ba1854b98"/>
    <p:sldId xmlns:r="http://schemas.openxmlformats.org/officeDocument/2006/relationships" id="270" r:id="R3b32d62af5144e4e"/>
    <p:sldId xmlns:r="http://schemas.openxmlformats.org/officeDocument/2006/relationships" id="271" r:id="R6a82e268e1ca49eb"/>
    <p:sldId xmlns:r="http://schemas.openxmlformats.org/officeDocument/2006/relationships" id="272" r:id="Ra5102a7a52da4e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89305c70874b29" /><Relationship Type="http://schemas.openxmlformats.org/officeDocument/2006/relationships/slideMaster" Target="/ppt/slideMasters/slideMaster1.xml" Id="R49128d126a4a4884" /><Relationship Type="http://schemas.openxmlformats.org/officeDocument/2006/relationships/notesMaster" Target="/ppt/notesMasters/notesMaster1.xml" Id="R57770f6af6fa47ba" /><Relationship Type="http://schemas.openxmlformats.org/officeDocument/2006/relationships/presProps" Target="/ppt/presProps.xml" Id="R3aa9789761ed4ea4" /><Relationship Type="http://schemas.openxmlformats.org/officeDocument/2006/relationships/tableStyles" Target="/ppt/tableStyles.xml" Id="R06cd9316997a4a38" /><Relationship Type="http://schemas.openxmlformats.org/officeDocument/2006/relationships/slide" Target="/ppt/slides/slide1.xml" Id="Rfc4c05e843db4c78" /><Relationship Type="http://schemas.openxmlformats.org/officeDocument/2006/relationships/slide" Target="/ppt/slides/slide2.xml" Id="R9b1314970df0434a" /><Relationship Type="http://schemas.openxmlformats.org/officeDocument/2006/relationships/slide" Target="/ppt/slides/slide3.xml" Id="Rc5b491553d3a4221" /><Relationship Type="http://schemas.openxmlformats.org/officeDocument/2006/relationships/slide" Target="/ppt/slides/slide4.xml" Id="Rc0fadb33741d4924" /><Relationship Type="http://schemas.openxmlformats.org/officeDocument/2006/relationships/slide" Target="/ppt/slides/slide5.xml" Id="Rf4dacd8dd1d94232" /><Relationship Type="http://schemas.openxmlformats.org/officeDocument/2006/relationships/slide" Target="/ppt/slides/slide6.xml" Id="R89807b40ec6a4ce1" /><Relationship Type="http://schemas.openxmlformats.org/officeDocument/2006/relationships/slide" Target="/ppt/slides/slide7.xml" Id="R178ca011a4f74052" /><Relationship Type="http://schemas.openxmlformats.org/officeDocument/2006/relationships/slide" Target="/ppt/slides/slide8.xml" Id="R5952585021ab4d35" /><Relationship Type="http://schemas.openxmlformats.org/officeDocument/2006/relationships/slide" Target="/ppt/slides/slide9.xml" Id="R2f39f6ecbd594e74" /><Relationship Type="http://schemas.openxmlformats.org/officeDocument/2006/relationships/slide" Target="/ppt/slides/slide10.xml" Id="R29758a4fec464790" /><Relationship Type="http://schemas.openxmlformats.org/officeDocument/2006/relationships/slide" Target="/ppt/slides/slide11.xml" Id="Rce3daf80e3b546d1" /><Relationship Type="http://schemas.openxmlformats.org/officeDocument/2006/relationships/slide" Target="/ppt/slides/slide12.xml" Id="Rbd796beae5a44f4f" /><Relationship Type="http://schemas.openxmlformats.org/officeDocument/2006/relationships/slide" Target="/ppt/slides/slide13.xml" Id="R01dd6fbaf36a45d6" /><Relationship Type="http://schemas.openxmlformats.org/officeDocument/2006/relationships/slide" Target="/ppt/slides/slide14.xml" Id="R20b4161ba1854b98" /><Relationship Type="http://schemas.openxmlformats.org/officeDocument/2006/relationships/slide" Target="/ppt/slides/slide15.xml" Id="R3b32d62af5144e4e" /><Relationship Type="http://schemas.openxmlformats.org/officeDocument/2006/relationships/slide" Target="/ppt/slides/slide16.xml" Id="R6a82e268e1ca49eb" /><Relationship Type="http://schemas.openxmlformats.org/officeDocument/2006/relationships/slide" Target="/ppt/slides/slide17.xml" Id="Ra5102a7a52da4e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2e4fbba90a41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a9e641391e4b1c" /><Relationship Type="http://schemas.openxmlformats.org/officeDocument/2006/relationships/notesMaster" Target="/ppt/notesMasters/notesMaster1.xml" Id="Rb37ce13ce3db4c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fed8a90b484333" /><Relationship Type="http://schemas.openxmlformats.org/officeDocument/2006/relationships/notesMaster" Target="/ppt/notesMasters/notesMaster1.xml" Id="R7fa21a6bafe2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e62b4003bb43e2" /><Relationship Type="http://schemas.openxmlformats.org/officeDocument/2006/relationships/notesMaster" Target="/ppt/notesMasters/notesMaster1.xml" Id="R9aaf143fc9b241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7768fd711d4a02" /><Relationship Type="http://schemas.openxmlformats.org/officeDocument/2006/relationships/notesMaster" Target="/ppt/notesMasters/notesMaster1.xml" Id="Re522b2fa1cb847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380d08a9854ded" /><Relationship Type="http://schemas.openxmlformats.org/officeDocument/2006/relationships/notesMaster" Target="/ppt/notesMasters/notesMaster1.xml" Id="Ra66465b3d98d4e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0224583fbf4627" /><Relationship Type="http://schemas.openxmlformats.org/officeDocument/2006/relationships/notesMaster" Target="/ppt/notesMasters/notesMaster1.xml" Id="Rb0676c05746143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61e672dd674e3e" /><Relationship Type="http://schemas.openxmlformats.org/officeDocument/2006/relationships/notesMaster" Target="/ppt/notesMasters/notesMaster1.xml" Id="R74e6e857673347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cda5c4678c40a6" /><Relationship Type="http://schemas.openxmlformats.org/officeDocument/2006/relationships/notesMaster" Target="/ppt/notesMasters/notesMaster1.xml" Id="R255c4bc32a304c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b62310910745d4" /><Relationship Type="http://schemas.openxmlformats.org/officeDocument/2006/relationships/notesMaster" Target="/ppt/notesMasters/notesMaster1.xml" Id="R9b3b816f5aee437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24fb4bd0d64076" /><Relationship Type="http://schemas.openxmlformats.org/officeDocument/2006/relationships/notesMaster" Target="/ppt/notesMasters/notesMaster1.xml" Id="R019fafb28f4a4d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ec2be75e3d4bda" /><Relationship Type="http://schemas.openxmlformats.org/officeDocument/2006/relationships/notesMaster" Target="/ppt/notesMasters/notesMaster1.xml" Id="R625e064f0abc41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0c75b802964e86" /><Relationship Type="http://schemas.openxmlformats.org/officeDocument/2006/relationships/notesMaster" Target="/ppt/notesMasters/notesMaster1.xml" Id="Rae89db1525664f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b14465698d46dd" /><Relationship Type="http://schemas.openxmlformats.org/officeDocument/2006/relationships/notesMaster" Target="/ppt/notesMasters/notesMaster1.xml" Id="Ra2502359d6904d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5fa9147aa74208" /><Relationship Type="http://schemas.openxmlformats.org/officeDocument/2006/relationships/notesMaster" Target="/ppt/notesMasters/notesMaster1.xml" Id="R3264199d16a146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0fb83933f64972" /><Relationship Type="http://schemas.openxmlformats.org/officeDocument/2006/relationships/notesMaster" Target="/ppt/notesMasters/notesMaster1.xml" Id="R6dfd4a420f574e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d2ed34ea404680" /><Relationship Type="http://schemas.openxmlformats.org/officeDocument/2006/relationships/notesMaster" Target="/ppt/notesMasters/notesMaster1.xml" Id="R5148b9c8670845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1c5b65952049c9" /><Relationship Type="http://schemas.openxmlformats.org/officeDocument/2006/relationships/notesMaster" Target="/ppt/notesMasters/notesMaster1.xml" Id="R889f4e1f870b4b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xmlns:a="http://schemas.openxmlformats.org/drawingml/2006/main">
            <a:r>
              <a:t/>
            </a:r>
          </a:p>
          <a:p xmlns:a="http://schemas.openxmlformats.org/drawingml/2006/main">
            <a:r>
              <a:t>Sources, relative to glycerol_lactate_community/: docs/PROJECT_BRIEF.md; protocols/SOP — Community Assembly and Crude-Glycerol Fermentation 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384 genome records form the screening cohort. Counts of genomes with different enzyme classes overlap. These are sequence-derived calls, not fermentation measurements. The broad annotation screen and the dedicated LDH adjudication are distinct analyses.</a:t>
            </a:r>
          </a:p>
          <a:p xmlns:a="http://schemas.openxmlformats.org/drawingml/2006/main">
            <a:r>
              <a:t/>
            </a:r>
          </a:p>
          <a:p xmlns:a="http://schemas.openxmlformats.org/drawingml/2006/main">
            <a:r>
              <a:t>Sources, relative to glycerol_lactate_community/: results/screening/genome_scores.tsv; results/screening/ldh_adjudication.tsv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 generic LDH annotation cannot establish L-lactate production. The sequence review distinguishes L-LDH from D-LDH and lactate-consuming enzymes, and considers racemase systems. The current v5 panel does not exclude strains merely for lactate oxidase or modeled lactate consumption. Strain 275 maps to P3_C3, Lactococcus lactis, whose panel rationale explicitly retains a predicted lctO. Strain 294, P3_G8, is also retained despite oxidation-related concerns. These calls indicate potential, not measured activity.</a:t>
            </a:r>
          </a:p>
          <a:p xmlns:a="http://schemas.openxmlformats.org/drawingml/2006/main">
            <a:r>
              <a:t/>
            </a:r>
          </a:p>
          <a:p xmlns:a="http://schemas.openxmlformats.org/drawingml/2006/main">
            <a:r>
              <a:t>Sources, relative to glycerol_lactate_community/: results/screening/genome_scores.tsv; results/screening/ldh_adjudication.tsv; panel/pool_v5_panel.yaml; protocols/Strain Identity and Lab Mapping.md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xmlns:a="http://schemas.openxmlformats.org/drawingml/2006/main">
            <a:r>
              <a:t/>
            </a:r>
          </a:p>
          <a:p xmlns:a="http://schemas.openxmlformats.org/drawingml/2006/main">
            <a:r>
              <a:t>Sources, relative to glycerol_lactate_community/: panel/pool_v5_panel.yaml; protocols/Strain Identity and Lab Mapping.md;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xmlns:a="http://schemas.openxmlformats.org/drawingml/2006/main">
            <a:r>
              <a:t/>
            </a:r>
          </a:p>
          <a:p xmlns:a="http://schemas.openxmlformats.org/drawingml/2006/main">
            <a:r>
              <a:t>Sources, relative to glycerol_lactate_community/: protocols/SOP — Colorimetric L-Lactate Assay for Bacterial Supernatants.md;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The user describes the experiment as aerobic. This means incubation with oxygen exposure, not a measured dissolved-oxygen setpoint. The SOP specifies sealed 384-well plates and a fixed 48 h endpoint. It leaves shaking to the recorded campaign setting, so no rpm is invented here. Glycerol is more reduced than lactate. In a GlpK/GlpD route, oxygen accepts surplus electrons through respiration while LDH reduces pyruvate to lactate. Mazumdar et al. demonstrate this coupling in engineered E. coli producing D-lactate, a mechanistic precedent rather than evidence for production by this natural L-lactate panel. Excess oxygen can also favor respiration or lactate consumption. The 48 h rationale is to allow slow cultures to develop and include potential stationary-phase accumulation. The current data do not establish when each community reaches stationary phase or when lactate production peaks. The SOP explicitly calls for endpoint validation. Older planning documents assumed low oxygen and later revised timepoint plans. Those assumptions are not measurements of these plates.</a:t>
            </a:r>
          </a:p>
          <a:p xmlns:a="http://schemas.openxmlformats.org/drawingml/2006/main">
            <a:r>
              <a:t/>
            </a:r>
          </a:p>
          <a:p xmlns:a="http://schemas.openxmlformats.org/drawingml/2006/main">
            <a:r>
              <a:t>Sources, relative to glycerol_lactate_community/: protocols/SOP — Community Assembly and Crude-Glycerol Fermentation Screen.md, section 8; results/lactate_biology/OVERFLOW_TRIGGERS.md, H1; https://doi.org/10.1128/AEM.00664-10; user incubation rationale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xmlns:a="http://schemas.openxmlformats.org/drawingml/2006/main">
            <a:r>
              <a:t/>
            </a:r>
          </a:p>
          <a:p xmlns:a="http://schemas.openxmlformats.org/drawingml/2006/main">
            <a:r>
              <a:t>Sources, relative to glycerol_lactate_community/: protocols/echo/experiment_setup_output; current analysis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xmlns:a="http://schemas.openxmlformats.org/drawingml/2006/main">
            <a:r>
              <a:t/>
            </a:r>
          </a:p>
          <a:p xmlns:a="http://schemas.openxmlformats.org/drawingml/2006/main">
            <a:r>
              <a:t>Sources, relative to glycerol_lactate_community/: protocols/echo/acquisition_round_20260909.py; snapshot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xmlns:a="http://schemas.openxmlformats.org/drawingml/2006/main">
            <a:r>
              <a:t/>
            </a:r>
          </a:p>
          <a:p xmlns:a="http://schemas.openxmlformats.org/drawingml/2006/main">
            <a:r>
              <a:t>Sources, relative to glycerol_lactate_community/: protocols/echo/acquisition_round_20260909.py; snapshot training lineage and model_summary.csv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Prospective means predictions saved before the measurements existed: predictions saved on 2 September, ordinary readout on 4 September. For each batch, sort communities by predicted response and separately by observed response, then compare the rankings with Spearman correlation. Plus one is identical order, zero is no monotonic agreement, minus one is reversed order. The values are -0.131, -0.130 and +0.146. They show little ranking agreement in the selected batches. This is not percent accuracy, a lactate concentration, or a comparison of average batch performance. EI and posterior-mean batches deliberately cover selected parts of the prediction range. These within-batch correlations alone cannot establish model performance over the full community space or whether an acquisition policy beats random sampling. One plate per path also confounds strategy and plate effects.</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Each community has three intended technical wells. ICC(1,1), a one-way random-effects intraclass correlation for individual wells, compares between-community variance with within-community variance. Zero means no consistent separation by community identity. One means perfect agreement of replicate wells with differences between communities. ICC is dimensionless, not absorbance, concentration, or percent correctly assembled. It can have a negative sample estimate, although all values here are positive. September 11 values are 0.016, 0.073, 0.037 and 0.040. On September 4 the max-diversity and posterior-mean panels show more agreement. Different compositions and signal ranges across rounds limit this comparison. Incomplete assembly due to the source-volume calculation error is a known problem in the latest round. ICC cannot identify failed transfers or establish the sole cause of low agreement.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work/master_update_20260913/analyze.py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 minutes.</a:t>
            </a:r>
          </a:p>
          <a:p xmlns:a="http://schemas.openxmlformats.org/drawingml/2006/main">
            <a:r>
              <a:t/>
            </a:r>
          </a:p>
          <a:p xmlns:a="http://schemas.openxmlformats.org/drawingml/2006/main">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9f1bf2a6c49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21d569e3ac43af" /><Relationship Type="http://schemas.openxmlformats.org/officeDocument/2006/relationships/slideLayout" Target="/ppt/slideLayouts/slideLayout1.xml" Id="R5af5844ed8da44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f5844ed8da44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7b2a3bccb34626" /><Relationship Type="http://schemas.openxmlformats.org/officeDocument/2006/relationships/notesSlide" Target="/ppt/notesSlides/notesSlide1.xml" Id="R9aac2dd8cc2449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28167f52aa4402" /><Relationship Type="http://schemas.openxmlformats.org/officeDocument/2006/relationships/notesSlide" Target="/ppt/notesSlides/notesSlide2.xml" Id="R0d17fa0cb06f4f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9768a88b564f4a" /><Relationship Type="http://schemas.openxmlformats.org/officeDocument/2006/relationships/chart" Target="/ppt/slides/charts/chart1.xml" Id="Rcf5ba61a1a894bf7" /><Relationship Type="http://schemas.openxmlformats.org/officeDocument/2006/relationships/notesSlide" Target="/ppt/notesSlides/notesSlide3.xml" Id="Rf34ac5f8a450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51e33e7f0e4e89" /><Relationship Type="http://schemas.openxmlformats.org/officeDocument/2006/relationships/notesSlide" Target="/ppt/notesSlides/notesSlide4.xml" Id="R78a1428e3eba43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959dfda6864d51" /><Relationship Type="http://schemas.openxmlformats.org/officeDocument/2006/relationships/notesSlide" Target="/ppt/notesSlides/notesSlide5.xml" Id="R2faecfce892f48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572df29bc4454c" /><Relationship Type="http://schemas.openxmlformats.org/officeDocument/2006/relationships/notesSlide" Target="/ppt/notesSlides/notesSlide6.xml" Id="R7c76d470720e40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6e3abd53254dc7" /><Relationship Type="http://schemas.openxmlformats.org/officeDocument/2006/relationships/notesSlide" Target="/ppt/notesSlides/notesSlide7.xml" Id="R4eff134b6a944d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25652d26894308" /><Relationship Type="http://schemas.openxmlformats.org/officeDocument/2006/relationships/notesSlide" Target="/ppt/notesSlides/notesSlide8.xml" Id="Rc92eed9eb34345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45b872b520409e" /><Relationship Type="http://schemas.openxmlformats.org/officeDocument/2006/relationships/chart" Target="/ppt/slides/charts/chart2.xml" Id="Ref8e500294174044" /><Relationship Type="http://schemas.openxmlformats.org/officeDocument/2006/relationships/notesSlide" Target="/ppt/notesSlides/notesSlide9.xml" Id="R32d0020877ac4f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d60095b46a4729" /><Relationship Type="http://schemas.openxmlformats.org/officeDocument/2006/relationships/notesSlide" Target="/ppt/notesSlides/notesSlide10.xml" Id="R2adc8787f34e45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2b6accd1924ada" /><Relationship Type="http://schemas.openxmlformats.org/officeDocument/2006/relationships/notesSlide" Target="/ppt/notesSlides/notesSlide11.xml" Id="R21c6d453f8544d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4317d5a2b44937" /><Relationship Type="http://schemas.openxmlformats.org/officeDocument/2006/relationships/notesSlide" Target="/ppt/notesSlides/notesSlide12.xml" Id="Reb8cf965f10045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c03a1401e2040c0" /><Relationship Type="http://schemas.openxmlformats.org/officeDocument/2006/relationships/chart" Target="/ppt/slides/charts/chart3.xml" Id="R82de08dda50c4f8f" /><Relationship Type="http://schemas.openxmlformats.org/officeDocument/2006/relationships/notesSlide" Target="/ppt/notesSlides/notesSlide13.xml" Id="Rc0bd110fd93648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087e108d8e45b5" /><Relationship Type="http://schemas.openxmlformats.org/officeDocument/2006/relationships/chart" Target="/ppt/slides/charts/chart4.xml" Id="R512d4c3f7ade4341" /><Relationship Type="http://schemas.openxmlformats.org/officeDocument/2006/relationships/notesSlide" Target="/ppt/notesSlides/notesSlide14.xml" Id="R92304456fac74b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1ca00973e714669" /><Relationship Type="http://schemas.openxmlformats.org/officeDocument/2006/relationships/chart" Target="/ppt/slides/charts/chart5.xml" Id="Re1fddd44b6af45cc" /><Relationship Type="http://schemas.openxmlformats.org/officeDocument/2006/relationships/notesSlide" Target="/ppt/notesSlides/notesSlide15.xml" Id="Ra32d7230ef06487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6081099b6564150" /><Relationship Type="http://schemas.openxmlformats.org/officeDocument/2006/relationships/notesSlide" Target="/ppt/notesSlides/notesSlide16.xml" Id="R8603b29c25034f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a32bb9d2ef43d6" /><Relationship Type="http://schemas.openxmlformats.org/officeDocument/2006/relationships/chart" Target="/ppt/slides/charts/chart6.xml" Id="R6aa54077851c4620" /><Relationship Type="http://schemas.openxmlformats.org/officeDocument/2006/relationships/notesSlide" Target="/ppt/notesSlides/notesSlide17.xml" Id="R9afdd1a9dfc346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Genomes with a sequence call</c:v>
          </c:tx>
          <c:spPr>
            <a:solidFill xmlns:a="http://schemas.openxmlformats.org/drawingml/2006/main">
              <a:srgbClr val="266B9B"/>
            </a:solidFill>
          </c:spPr>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40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Genomes, out of 384</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Technical well 1</c:v>
          </c:tx>
          <c:spPr>
            <a:solidFill xmlns:a="http://schemas.openxmlformats.org/drawingml/2006/main">
              <a:srgbClr val="266B9B"/>
            </a:solidFill>
          </c:spPr>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ser>
        <c:ser>
          <c:idx val="1"/>
          <c:order val="1"/>
          <c:tx>
            <c:v>Technical well 2</c:v>
          </c:tx>
          <c:spPr>
            <a:solidFill xmlns:a="http://schemas.openxmlformats.org/drawingml/2006/main">
              <a:srgbClr val="398271"/>
            </a:solidFill>
          </c:spPr>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ser>
        <c:ser>
          <c:idx val="2"/>
          <c:order val="2"/>
          <c:tx>
            <c:v>Technical well 3</c:v>
          </c:tx>
          <c:spPr>
            <a:solidFill xmlns:a="http://schemas.openxmlformats.org/drawingml/2006/main">
              <a:srgbClr val="B77B28"/>
            </a:solidFill>
          </c:spPr>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Spearman rank correlation</c:v>
          </c:tx>
          <c:spPr>
            <a:solidFill xmlns:a="http://schemas.openxmlformats.org/drawingml/2006/main">
              <a:srgbClr val="266B9B"/>
            </a:solidFill>
          </c:spPr>
          <c:invertIfNegative val="0"/>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
          <c:min val="-1"/>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Rank agreement (Spearman, unitless)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Culture wells</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ser>
        <c:ser>
          <c:idx val="1"/>
          <c:order val="1"/>
          <c:tx>
            <c:v>Edge reference, excluding column 1</c:v>
          </c:tx>
          <c:spPr>
            <a:solidFill xmlns:a="http://schemas.openxmlformats.org/drawingml/2006/main">
              <a:srgbClr val="A3AFB7"/>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4 September</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ser>
        <c:ser>
          <c:idx val="1"/>
          <c:order val="1"/>
          <c:tx>
            <c:v>11 September</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Replicate agreement (ICC, unitless)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Plate 1</c:v>
          </c:tx>
          <c:spPr>
            <a:ln xmlns:a="http://schemas.openxmlformats.org/drawingml/2006/main" w="28575">
              <a:solidFill>
                <a:srgbClr val="266B9B"/>
              </a:solidFill>
            </a:ln>
          </c:spPr>
          <c:marker>
            <c:symbol val="circle"/>
            <c:size val="5"/>
            <c:spPr>
              <a:solidFill xmlns:a="http://schemas.openxmlformats.org/drawingml/2006/main">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ser>
        <c:ser>
          <c:idx val="1"/>
          <c:order val="1"/>
          <c:tx>
            <c:v>Plate 2</c:v>
          </c:tx>
          <c:spPr>
            <a:ln xmlns:a="http://schemas.openxmlformats.org/drawingml/2006/main" w="28575">
              <a:solidFill>
                <a:srgbClr val="B77B28"/>
              </a:solidFill>
            </a:ln>
          </c:spPr>
          <c:marker>
            <c:symbol val="circle"/>
            <c:size val="5"/>
            <c:spPr>
              <a:solidFill xmlns:a="http://schemas.openxmlformats.org/drawingml/2006/main">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ser>
        <c:ser>
          <c:idx val="2"/>
          <c:order val="2"/>
          <c:tx>
            <c:v>Plate 3</c:v>
          </c:tx>
          <c:spPr>
            <a:ln xmlns:a="http://schemas.openxmlformats.org/drawingml/2006/main" w="28575">
              <a:solidFill>
                <a:srgbClr val="8063A9"/>
              </a:solidFill>
            </a:ln>
          </c:spPr>
          <c:marker>
            <c:symbol val="circle"/>
            <c:size val="5"/>
            <c:spPr>
              <a:solidFill xmlns:a="http://schemas.openxmlformats.org/drawingml/2006/main">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ser>
        <c:ser>
          <c:idx val="3"/>
          <c:order val="3"/>
          <c:tx>
            <c:v>Plate 4</c:v>
          </c:tx>
          <c:spPr>
            <a:ln xmlns:a="http://schemas.openxmlformats.org/drawingml/2006/main" w="28575">
              <a:solidFill>
                <a:srgbClr val="398271"/>
              </a:solidFill>
            </a:ln>
          </c:spPr>
          <c:marker>
            <c:symbol val="circle"/>
            <c:size val="5"/>
            <c:spPr>
              <a:solidFill xmlns:a="http://schemas.openxmlformats.org/drawingml/2006/main">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05"/>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74BDB50-75C6-4EC2-8623-F5A0C7AB2619}"/>
              </a:ext>
            </a:extLst>
          </p:cNvPr>
          <p:cNvSpPr>
            <a:spLocks xmlns:a="http://schemas.openxmlformats.org/drawingml/2006/main" noGrp="1"/>
          </p:cNvSpPr>
          <p:nvPr/>
        </p:nvSpPr>
        <p:spPr>
          <a:xfrm xmlns:a="http://schemas.openxmlformats.org/drawingml/2006/main">
            <a:off x="685800" y="1381125"/>
            <a:ext cx="1071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
            <a:extLst xmlns:a="http://schemas.openxmlformats.org/drawingml/2006/main">
              <a:ext uri="{FF2B5EF4-FFF2-40B4-BE49-F238E27FC236}">
                <a16:creationId xmlns:a16="http://schemas.microsoft.com/office/drawing/2014/main" id="{587D2B0A-9F68-4333-A297-ABE4CB9BEE50}"/>
              </a:ext>
            </a:extLst>
          </p:cNvPr>
          <p:cNvSpPr>
            <a:spLocks xmlns:a="http://schemas.openxmlformats.org/drawingml/2006/main" noGrp="1"/>
          </p:cNvSpPr>
          <p:nvPr/>
        </p:nvSpPr>
        <p:spPr>
          <a:xfrm xmlns:a="http://schemas.openxmlformats.org/drawingml/2006/main">
            <a:off x="723900" y="33432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
            <a:extLst xmlns:a="http://schemas.openxmlformats.org/drawingml/2006/main">
              <a:ext uri="{FF2B5EF4-FFF2-40B4-BE49-F238E27FC236}">
                <a16:creationId xmlns:a16="http://schemas.microsoft.com/office/drawing/2014/main" id="{1EFF467D-2CA6-40D3-9432-203A02E4E378}"/>
              </a:ext>
            </a:extLst>
          </p:cNvPr>
          <p:cNvSpPr>
            <a:spLocks xmlns:a="http://schemas.openxmlformats.org/drawingml/2006/main" noGrp="1"/>
          </p:cNvSpPr>
          <p:nvPr/>
        </p:nvSpPr>
        <p:spPr>
          <a:xfrm xmlns:a="http://schemas.openxmlformats.org/drawingml/2006/main">
            <a:off x="723900" y="4857750"/>
            <a:ext cx="904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14 September 2026</a:t>
            </a:r>
          </a:p>
        </p:txBody>
      </p:sp>
    </p:spTree>
    <p:extLst>
      <p:ext uri="{BB962C8B-B14F-4D97-AF65-F5344CB8AC3E}">
        <p14:creationId xmlns:p14="http://schemas.microsoft.com/office/powerpoint/2010/main" val="11505825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5D432E-BF55-40AF-A855-4B3D091B8F2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
            <a:extLst xmlns:a="http://schemas.openxmlformats.org/drawingml/2006/main">
              <a:ext uri="{FF2B5EF4-FFF2-40B4-BE49-F238E27FC236}">
                <a16:creationId xmlns:a16="http://schemas.microsoft.com/office/drawing/2014/main" id="{B6942E05-6325-4678-9448-31D49223AFC5}"/>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EF58DDF9-A1D2-4473-872D-C6185B93DB32}"/>
              </a:ext>
            </a:extLst>
          </p:cNvPr>
          <p:cNvSpPr>
            <a:spLocks xmlns:a="http://schemas.openxmlformats.org/drawingml/2006/main" noGrp="1"/>
          </p:cNvSpPr>
          <p:nvPr/>
        </p:nvSpPr>
        <p:spPr>
          <a:xfrm xmlns:a="http://schemas.openxmlformats.org/drawingml/2006/main">
            <a:off x="704850" y="17430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
            <a:extLst xmlns:a="http://schemas.openxmlformats.org/drawingml/2006/main">
              <a:ext uri="{FF2B5EF4-FFF2-40B4-BE49-F238E27FC236}">
                <a16:creationId xmlns:a16="http://schemas.microsoft.com/office/drawing/2014/main" id="{2C63B389-88FF-4FD6-9E20-A3F3D9B73D39}"/>
              </a:ext>
            </a:extLst>
          </p:cNvPr>
          <p:cNvSpPr>
            <a:spLocks xmlns:a="http://schemas.openxmlformats.org/drawingml/2006/main" noGrp="1"/>
          </p:cNvSpPr>
          <p:nvPr/>
        </p:nvSpPr>
        <p:spPr>
          <a:xfrm xmlns:a="http://schemas.openxmlformats.org/drawingml/2006/main">
            <a:off x="704850" y="3390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
            <a:extLst xmlns:a="http://schemas.openxmlformats.org/drawingml/2006/main">
              <a:ext uri="{FF2B5EF4-FFF2-40B4-BE49-F238E27FC236}">
                <a16:creationId xmlns:a16="http://schemas.microsoft.com/office/drawing/2014/main" id="{083002E4-14E3-4D74-A32F-2422048B0243}"/>
              </a:ext>
            </a:extLst>
          </p:cNvPr>
          <p:cNvSpPr>
            <a:spLocks xmlns:a="http://schemas.openxmlformats.org/drawingml/2006/main" noGrp="1"/>
          </p:cNvSpPr>
          <p:nvPr/>
        </p:nvSpPr>
        <p:spPr>
          <a:xfrm xmlns:a="http://schemas.openxmlformats.org/drawingml/2006/main">
            <a:off x="704850" y="3876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
            <a:extLst xmlns:a="http://schemas.openxmlformats.org/drawingml/2006/main">
              <a:ext uri="{FF2B5EF4-FFF2-40B4-BE49-F238E27FC236}">
                <a16:creationId xmlns:a16="http://schemas.microsoft.com/office/drawing/2014/main" id="{ECC9E320-1449-45F6-8E25-CF84ED84CDEF}"/>
              </a:ext>
            </a:extLst>
          </p:cNvPr>
          <p:cNvSpPr>
            <a:spLocks xmlns:a="http://schemas.openxmlformats.org/drawingml/2006/main" noGrp="1"/>
          </p:cNvSpPr>
          <p:nvPr/>
        </p:nvSpPr>
        <p:spPr>
          <a:xfrm xmlns:a="http://schemas.openxmlformats.org/drawingml/2006/main">
            <a:off x="70485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
            <a:extLst xmlns:a="http://schemas.openxmlformats.org/drawingml/2006/main">
              <a:ext uri="{FF2B5EF4-FFF2-40B4-BE49-F238E27FC236}">
                <a16:creationId xmlns:a16="http://schemas.microsoft.com/office/drawing/2014/main" id="{10758860-43B4-4D7E-9D7A-51D6BB3D1186}"/>
              </a:ext>
            </a:extLst>
          </p:cNvPr>
          <p:cNvSpPr>
            <a:spLocks xmlns:a="http://schemas.openxmlformats.org/drawingml/2006/main" noGrp="1"/>
          </p:cNvSpPr>
          <p:nvPr/>
        </p:nvSpPr>
        <p:spPr>
          <a:xfrm xmlns:a="http://schemas.openxmlformats.org/drawingml/2006/main">
            <a:off x="704850" y="52292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Can model-guided selection find useful mixtures with fewer tests?</a:t>
            </a:r>
          </a:p>
        </p:txBody>
      </p:sp>
    </p:spTree>
    <p:extLst>
      <p:ext uri="{BB962C8B-B14F-4D97-AF65-F5344CB8AC3E}">
        <p14:creationId xmlns:p14="http://schemas.microsoft.com/office/powerpoint/2010/main" val="230004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5F7139-6A5E-4D8B-BB35-CBAF807B86C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Genome screening defined a tractable strain panel</a:t>
            </a:r>
          </a:p>
        </p:txBody>
      </p:sp>
      <p:sp>
        <p:nvSpPr>
          <p:cNvPr id="2" name="">
            <a:extLst xmlns:a="http://schemas.openxmlformats.org/drawingml/2006/main">
              <a:ext uri="{FF2B5EF4-FFF2-40B4-BE49-F238E27FC236}">
                <a16:creationId xmlns:a16="http://schemas.microsoft.com/office/drawing/2014/main" id="{ECE32A14-EE59-4E1C-8653-088E50A13626}"/>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cf5ba61a1a894bf7"/>
          </a:graphicData>
        </a:graphic>
      </p:graphicFrame>
      <p:sp>
        <p:nvSpPr>
          <p:cNvPr id="4" name="">
            <a:extLst xmlns:a="http://schemas.openxmlformats.org/drawingml/2006/main">
              <a:ext uri="{FF2B5EF4-FFF2-40B4-BE49-F238E27FC236}">
                <a16:creationId xmlns:a16="http://schemas.microsoft.com/office/drawing/2014/main" id="{B4D4EB8A-78E8-4CA3-87E0-E05B591ED4BD}"/>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660459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05B690-A24D-4269-9BA4-D9569C771EC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production and consumption in the strain screen</a:t>
            </a:r>
          </a:p>
        </p:txBody>
      </p:sp>
      <p:sp>
        <p:nvSpPr>
          <p:cNvPr id="2" name="">
            <a:extLst xmlns:a="http://schemas.openxmlformats.org/drawingml/2006/main">
              <a:ext uri="{FF2B5EF4-FFF2-40B4-BE49-F238E27FC236}">
                <a16:creationId xmlns:a16="http://schemas.microsoft.com/office/drawing/2014/main" id="{BDC55434-708C-4D32-99D8-A6CE8891B75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
          <p:cNvGraphicFramePr/>
          <p:nvPr/>
        </p:nvGraphicFramePr>
        <p:xfrm>
          <a:off xmlns:a="http://schemas.openxmlformats.org/drawingml/2006/main" x="666750" y="1733550"/>
          <a:ext xmlns:a="http://schemas.openxmlformats.org/drawingml/2006/main" cx="10858500" cy="3114675"/>
        </p:xfrm>
        <a:graphic xmlns:a="http://schemas.openxmlformats.org/drawingml/2006/main">
          <a:graphicData uri="http://schemas.openxmlformats.org/drawingml/2006/table">
            <a:tbl>
              <a:tblPr/>
              <a:tblGrid>
                <a:gridCol w="4572000"/>
                <a:gridCol w="6286500"/>
              </a:tblGrid>
              <a:tr h="778669">
                <a:tc>
                  <a:txBody>
                    <a:bodyPr/>
                    <a:lstStyle/>
                    <a:p>
                      <a:r>
                        <a:rPr sz="1875" b="1">
                          <a:solidFill>
                            <a:srgbClr val="FFFFFF"/>
                          </a:solidFill>
                          <a:latin typeface="Helvetica Neue"/>
                          <a:ea typeface="Helvetica Neue"/>
                          <a:cs typeface="Helvetica Neue"/>
                        </a:rPr>
                        <a:t>Sequence evidence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Meaning for selection</a:t>
                      </a:r>
                    </a:p>
                  </a:txBody>
                  <a:tcPr marL="91440" marR="91440" marT="45720" marB="45720">
                    <a:solidFill>
                      <a:srgbClr val="172D3C"/>
                    </a:solidFill>
                  </a:tcPr>
                </a:tc>
              </a:tr>
              <a:tr h="778669">
                <a:tc>
                  <a:txBody>
                    <a:bodyPr/>
                    <a:lstStyle/>
                    <a:p>
                      <a:r>
                        <a:rPr sz="1875" b="0">
                          <a:solidFill>
                            <a:srgbClr val="172D3C"/>
                          </a:solidFill>
                          <a:latin typeface="Helvetica Neue"/>
                          <a:ea typeface="Helvetica Neue"/>
                          <a:cs typeface="Helvetica Neue"/>
                        </a:rPr>
                        <a:t>L-LDH versus D-LDH</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Candidate production route and stereochemistry</a:t>
                      </a:r>
                    </a:p>
                  </a:txBody>
                  <a:tcPr marL="91440" marR="91440" marT="45720" marB="45720">
                    <a:solidFill>
                      <a:srgbClr val="F1F4F6"/>
                    </a:solidFill>
                  </a:tcPr>
                </a:tc>
              </a:tr>
              <a:tr h="778669">
                <a:tc>
                  <a:txBody>
                    <a:bodyPr/>
                    <a:lstStyle/>
                    <a:p>
                      <a:r>
                        <a:rPr sz="1875" b="0">
                          <a:solidFill>
                            <a:srgbClr val="172D3C"/>
                          </a:solidFill>
                          <a:latin typeface="Helvetica Neue"/>
                          <a:ea typeface="Helvetica Neue"/>
                          <a:cs typeface="Helvetica Neue"/>
                        </a:rPr>
                        <a:t>Racemase systems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Potential conversion between L- and D-lactate</a:t>
                      </a:r>
                    </a:p>
                  </a:txBody>
                  <a:tcPr marL="91440" marR="91440" marT="45720" marB="45720">
                    <a:solidFill>
                      <a:srgbClr val="FFFFFF"/>
                    </a:solidFill>
                  </a:tcPr>
                </a:tc>
              </a:tr>
              <a:tr h="778669">
                <a:tc>
                  <a:txBody>
                    <a:bodyPr/>
                    <a:lstStyle/>
                    <a:p>
                      <a:r>
                        <a:rPr sz="1875" b="0">
                          <a:solidFill>
                            <a:srgbClr val="172D3C"/>
                          </a:solidFill>
                          <a:latin typeface="Helvetica Neue"/>
                          <a:ea typeface="Helvetica Neue"/>
                          <a:cs typeface="Helvetica Neue"/>
                        </a:rPr>
                        <a:t>Lactate oxidase and other oxidation routes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Allowed in the current panel. A lactate-consumption risk.</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947ED1DD-7EC7-4618-938B-87A2FC9415E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Example: strain 275 (Lactococcus lactis) remains in the panel despite its predicted lctO gene.</a:t>
            </a:r>
          </a:p>
        </p:txBody>
      </p:sp>
    </p:spTree>
    <p:extLst>
      <p:ext uri="{BB962C8B-B14F-4D97-AF65-F5344CB8AC3E}">
        <p14:creationId xmlns:p14="http://schemas.microsoft.com/office/powerpoint/2010/main" val="2552697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B4B75E-AAE7-444E-8E1F-8155BB86574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bench panel reflects availability as well as sequence evidence</a:t>
            </a:r>
          </a:p>
        </p:txBody>
      </p:sp>
      <p:sp>
        <p:nvSpPr>
          <p:cNvPr id="2" name="">
            <a:extLst xmlns:a="http://schemas.openxmlformats.org/drawingml/2006/main">
              <a:ext uri="{FF2B5EF4-FFF2-40B4-BE49-F238E27FC236}">
                <a16:creationId xmlns:a16="http://schemas.microsoft.com/office/drawing/2014/main" id="{8E53FA2B-E975-4DEA-A7C5-7682F51C3B7E}"/>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66750" y="1676400"/>
          <a:ext xmlns:a="http://schemas.openxmlformats.org/drawingml/2006/main" cx="10858500" cy="3524250"/>
        </p:xfrm>
        <a:graphic xmlns:a="http://schemas.openxmlformats.org/drawingml/2006/main">
          <a:graphicData uri="http://schemas.openxmlformats.org/drawingml/2006/table">
            <a:tbl>
              <a:tblPr/>
              <a:tblGrid>
                <a:gridCol w="4572000"/>
                <a:gridCol w="1143000"/>
                <a:gridCol w="5143500"/>
              </a:tblGrid>
              <a:tr h="704850">
                <a:tc>
                  <a:txBody>
                    <a:bodyPr/>
                    <a:lstStyle/>
                    <a:p>
                      <a:r>
                        <a:rPr sz="1875" b="1">
                          <a:solidFill>
                            <a:srgbClr val="FFFFFF"/>
                          </a:solidFill>
                          <a:latin typeface="Helvetica Neue"/>
                          <a:ea typeface="Helvetica Neue"/>
                          <a:cs typeface="Helvetica Neue"/>
                        </a:rPr>
                        <a:t>Stage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Strains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marL="91440" marR="91440" marT="45720" marB="45720">
                    <a:solidFill>
                      <a:srgbClr val="172D3C"/>
                    </a:solidFill>
                  </a:tcPr>
                </a:tc>
              </a:tr>
              <a:tr h="704850">
                <a:tc>
                  <a:txBody>
                    <a:bodyPr/>
                    <a:lstStyle/>
                    <a:p>
                      <a:r>
                        <a:rPr sz="1875" b="0">
                          <a:solidFill>
                            <a:srgbClr val="172D3C"/>
                          </a:solidFill>
                          <a:latin typeface="Helvetica Neue"/>
                          <a:ea typeface="Helvetica Neue"/>
                          <a:cs typeface="Helvetica Neue"/>
                        </a:rPr>
                        <a:t>Curated candidate panel</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Genomic evidence and manual selection</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Resolved physical stocks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One stock mapping remains unresolved</a:t>
                      </a:r>
                    </a:p>
                  </a:txBody>
                  <a:tcPr marL="91440" marR="91440" marT="45720" marB="45720">
                    <a:solidFill>
                      <a:srgbClr val="FFFFFF"/>
                    </a:solidFill>
                  </a:tcPr>
                </a:tc>
              </a:tr>
              <a:tr h="704850">
                <a:tc>
                  <a:txBody>
                    <a:bodyPr/>
                    <a:lstStyle/>
                    <a:p>
                      <a:r>
                        <a:rPr sz="1875" b="0">
                          <a:solidFill>
                            <a:srgbClr val="172D3C"/>
                          </a:solidFill>
                          <a:latin typeface="Helvetica Neue"/>
                          <a:ea typeface="Helvetica Neue"/>
                          <a:cs typeface="Helvetica Neue"/>
                        </a:rPr>
                        <a:t>First community round</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Latest two rounds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296 unavailable after no growth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A2CE630-13DB-4965-B369-858037044657}"/>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Bench genera: Oerskovia, Microbacterium, Rhodococcus, Lactococcus, Bacillus, Paenibacillus and Pseudomonas.</a:t>
            </a:r>
          </a:p>
        </p:txBody>
      </p:sp>
    </p:spTree>
    <p:extLst>
      <p:ext uri="{BB962C8B-B14F-4D97-AF65-F5344CB8AC3E}">
        <p14:creationId xmlns:p14="http://schemas.microsoft.com/office/powerpoint/2010/main" val="601530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C563667-D0C8-40DE-B775-9C2E03AC2C3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
            <a:extLst xmlns:a="http://schemas.openxmlformats.org/drawingml/2006/main">
              <a:ext uri="{FF2B5EF4-FFF2-40B4-BE49-F238E27FC236}">
                <a16:creationId xmlns:a16="http://schemas.microsoft.com/office/drawing/2014/main" id="{8691C269-01D4-446F-A3A9-DFD7648DE70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66750" y="1600200"/>
          <a:ext xmlns:a="http://schemas.openxmlformats.org/drawingml/2006/main" cx="10858500" cy="3619500"/>
        </p:xfrm>
        <a:graphic xmlns:a="http://schemas.openxmlformats.org/drawingml/2006/main">
          <a:graphicData uri="http://schemas.openxmlformats.org/drawingml/2006/table">
            <a:tbl>
              <a:tblPr/>
              <a:tblGrid>
                <a:gridCol w="3619500"/>
                <a:gridCol w="7239000"/>
              </a:tblGrid>
              <a:tr h="603250">
                <a:tc>
                  <a:txBody>
                    <a:bodyPr/>
                    <a:lstStyle/>
                    <a:p>
                      <a:r>
                        <a:rPr sz="1875" b="1">
                          <a:solidFill>
                            <a:srgbClr val="FFFFFF"/>
                          </a:solidFill>
                          <a:latin typeface="Helvetica Neue"/>
                          <a:ea typeface="Helvetica Neue"/>
                          <a:cs typeface="Helvetica Neue"/>
                        </a:rPr>
                        <a:t>Step</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Implementation</a:t>
                      </a:r>
                    </a:p>
                  </a:txBody>
                  <a:tcPr marL="91440" marR="91440" marT="45720" marB="45720">
                    <a:solidFill>
                      <a:srgbClr val="172D3C"/>
                    </a:solidFill>
                  </a:tcPr>
                </a:tc>
              </a:tr>
              <a:tr h="603250">
                <a:tc>
                  <a:txBody>
                    <a:bodyPr/>
                    <a:lstStyle/>
                    <a:p>
                      <a:r>
                        <a:rPr sz="1875" b="0">
                          <a:solidFill>
                            <a:srgbClr val="172D3C"/>
                          </a:solidFill>
                          <a:latin typeface="Helvetica Neue"/>
                          <a:ea typeface="Helvetica Neue"/>
                          <a:cs typeface="Helvetica Neue"/>
                        </a:rPr>
                        <a:t>Community design</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Acoustic assembly</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Starting dose</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Culture volume</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Readout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Colorimetric L-lactate assay on supernatant</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ED715CD1-9896-4180-93D0-FD30B9BAE40B}"/>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Technical triplicates measure repeatability. They do not replace independent culture preparations.</a:t>
            </a:r>
          </a:p>
        </p:txBody>
      </p:sp>
    </p:spTree>
    <p:extLst>
      <p:ext uri="{BB962C8B-B14F-4D97-AF65-F5344CB8AC3E}">
        <p14:creationId xmlns:p14="http://schemas.microsoft.com/office/powerpoint/2010/main" val="11537632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05E1D3-AE98-44EB-8EA3-D09686E6EC9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Incubation: oxygen supply and a 48 h endpoint</a:t>
            </a:r>
          </a:p>
        </p:txBody>
      </p:sp>
      <p:sp>
        <p:nvSpPr>
          <p:cNvPr id="2" name="">
            <a:extLst xmlns:a="http://schemas.openxmlformats.org/drawingml/2006/main">
              <a:ext uri="{FF2B5EF4-FFF2-40B4-BE49-F238E27FC236}">
                <a16:creationId xmlns:a16="http://schemas.microsoft.com/office/drawing/2014/main" id="{8AB3AEB6-8F56-4971-99EB-06F03206C463}"/>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ABCA06AD-C381-4C02-99F1-B8690472E413}"/>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oxygen?</a:t>
            </a:r>
          </a:p>
        </p:txBody>
      </p:sp>
      <p:sp>
        <p:nvSpPr>
          <p:cNvPr id="4" name="">
            <a:extLst xmlns:a="http://schemas.openxmlformats.org/drawingml/2006/main">
              <a:ext uri="{FF2B5EF4-FFF2-40B4-BE49-F238E27FC236}">
                <a16:creationId xmlns:a16="http://schemas.microsoft.com/office/drawing/2014/main" id="{87ECADBE-9104-4365-894F-6F3EF8561692}"/>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Respiration can remove surplus electrons from glycerol metabolism while LDH converts pyruvate to lactate.</a:t>
            </a:r>
          </a:p>
        </p:txBody>
      </p:sp>
      <p:sp>
        <p:nvSpPr>
          <p:cNvPr id="5" name="">
            <a:extLst xmlns:a="http://schemas.openxmlformats.org/drawingml/2006/main">
              <a:ext uri="{FF2B5EF4-FFF2-40B4-BE49-F238E27FC236}">
                <a16:creationId xmlns:a16="http://schemas.microsoft.com/office/drawing/2014/main" id="{987B05BD-62DB-4634-A595-150E2AF0AC34}"/>
              </a:ext>
            </a:extLst>
          </p:cNvPr>
          <p:cNvSpPr>
            <a:spLocks xmlns:a="http://schemas.openxmlformats.org/drawingml/2006/main" noGrp="1"/>
          </p:cNvSpPr>
          <p:nvPr/>
        </p:nvSpPr>
        <p:spPr>
          <a:xfrm xmlns:a="http://schemas.openxmlformats.org/drawingml/2006/main">
            <a:off x="704850" y="33242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Why 48 hours?</a:t>
            </a:r>
          </a:p>
        </p:txBody>
      </p:sp>
      <p:sp>
        <p:nvSpPr>
          <p:cNvPr id="6" name="">
            <a:extLst xmlns:a="http://schemas.openxmlformats.org/drawingml/2006/main">
              <a:ext uri="{FF2B5EF4-FFF2-40B4-BE49-F238E27FC236}">
                <a16:creationId xmlns:a16="http://schemas.microsoft.com/office/drawing/2014/main" id="{44F97B15-2ACD-4295-85ED-C549049622C0}"/>
              </a:ext>
            </a:extLst>
          </p:cNvPr>
          <p:cNvSpPr>
            <a:spLocks xmlns:a="http://schemas.openxmlformats.org/drawingml/2006/main" noGrp="1"/>
          </p:cNvSpPr>
          <p:nvPr/>
        </p:nvSpPr>
        <p:spPr>
          <a:xfrm xmlns:a="http://schemas.openxmlformats.org/drawingml/2006/main">
            <a:off x="704850" y="3810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common late-culture endpoint gives slow growers time and includes possible stationary-phase accumulation.</a:t>
            </a:r>
          </a:p>
        </p:txBody>
      </p:sp>
      <p:sp>
        <p:nvSpPr>
          <p:cNvPr id="7" name="">
            <a:extLst xmlns:a="http://schemas.openxmlformats.org/drawingml/2006/main">
              <a:ext uri="{FF2B5EF4-FFF2-40B4-BE49-F238E27FC236}">
                <a16:creationId xmlns:a16="http://schemas.microsoft.com/office/drawing/2014/main" id="{33047557-8430-4726-91AA-A78CB53F1D88}"/>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screen measures accumulation after 48 h. Growth phase and the time of peak lactate remain unmeasured.</a:t>
            </a:r>
          </a:p>
        </p:txBody>
      </p:sp>
    </p:spTree>
    <p:extLst>
      <p:ext uri="{BB962C8B-B14F-4D97-AF65-F5344CB8AC3E}">
        <p14:creationId xmlns:p14="http://schemas.microsoft.com/office/powerpoint/2010/main" val="7656382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1DDBAF7-FF85-4C7A-8A55-6015266E443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
            <a:extLst xmlns:a="http://schemas.openxmlformats.org/drawingml/2006/main">
              <a:ext uri="{FF2B5EF4-FFF2-40B4-BE49-F238E27FC236}">
                <a16:creationId xmlns:a16="http://schemas.microsoft.com/office/drawing/2014/main" id="{D2595615-F84A-4954-B1A5-3721CC884C82}"/>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8" name=""/>
          <p:cNvGraphicFramePr/>
          <p:nvPr/>
        </p:nvGraphicFramePr>
        <p:xfrm>
          <a:off xmlns:a="http://schemas.openxmlformats.org/drawingml/2006/main" x="666750" y="1838325"/>
          <a:ext xmlns:a="http://schemas.openxmlformats.org/drawingml/2006/main" cx="10858500" cy="2743200"/>
        </p:xfrm>
        <a:graphic xmlns:a="http://schemas.openxmlformats.org/drawingml/2006/main">
          <a:graphicData uri="http://schemas.openxmlformats.org/drawingml/2006/table">
            <a:tbl>
              <a:tblPr/>
              <a:tblGrid>
                <a:gridCol w="2333625"/>
                <a:gridCol w="1190625"/>
                <a:gridCol w="5810250"/>
                <a:gridCol w="1524000"/>
              </a:tblGrid>
              <a:tr h="685800">
                <a:tc>
                  <a:txBody>
                    <a:bodyPr/>
                    <a:lstStyle/>
                    <a:p>
                      <a:r>
                        <a:rPr sz="1875" b="1">
                          <a:solidFill>
                            <a:srgbClr val="FFFFFF"/>
                          </a:solidFill>
                          <a:latin typeface="Helvetica Neue"/>
                          <a:ea typeface="Helvetica Neue"/>
                          <a:cs typeface="Helvetica Neue"/>
                        </a:rPr>
                        <a:t>Readout date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Plates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Active species</a:t>
                      </a:r>
                    </a:p>
                  </a:txBody>
                  <a:tcPr marL="91440" marR="91440" marT="45720" marB="45720">
                    <a:solidFill>
                      <a:srgbClr val="172D3C"/>
                    </a:solidFill>
                  </a:tcPr>
                </a:tc>
              </a:tr>
              <a:tr h="685800">
                <a:tc>
                  <a:txBody>
                    <a:bodyPr/>
                    <a:lstStyle/>
                    <a:p>
                      <a:r>
                        <a:rPr sz="1875" b="0">
                          <a:solidFill>
                            <a:srgbClr val="172D3C"/>
                          </a:solidFill>
                          <a:latin typeface="Helvetica Neue"/>
                          <a:ea typeface="Helvetica Neue"/>
                          <a:cs typeface="Helvetica Neue"/>
                        </a:rPr>
                        <a:t>30 August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r>
              <a:tr h="685800">
                <a:tc>
                  <a:txBody>
                    <a:bodyPr/>
                    <a:lstStyle/>
                    <a:p>
                      <a:r>
                        <a:rPr sz="1875" b="0">
                          <a:solidFill>
                            <a:srgbClr val="172D3C"/>
                          </a:solidFill>
                          <a:latin typeface="Helvetica Neue"/>
                          <a:ea typeface="Helvetica Neue"/>
                          <a:cs typeface="Helvetica Neue"/>
                        </a:rPr>
                        <a:t>4 September</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408, including 54 repeats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r>
              <a:tr h="685800">
                <a:tc>
                  <a:txBody>
                    <a:bodyPr/>
                    <a:lstStyle/>
                    <a:p>
                      <a:r>
                        <a:rPr sz="1875" b="0">
                          <a:solidFill>
                            <a:srgbClr val="172D3C"/>
                          </a:solidFill>
                          <a:latin typeface="Helvetica Neue"/>
                          <a:ea typeface="Helvetica Neue"/>
                          <a:cs typeface="Helvetica Neue"/>
                        </a:rPr>
                        <a:t>11 September</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6BB78507-2B38-412D-908F-0CEE8FF6376E}"/>
              </a:ext>
            </a:extLst>
          </p:cNvPr>
          <p:cNvSpPr>
            <a:spLocks xmlns:a="http://schemas.openxmlformats.org/drawingml/2006/main" noGrp="1"/>
          </p:cNvSpPr>
          <p:nvPr/>
        </p:nvSpPr>
        <p:spPr>
          <a:xfrm xmlns:a="http://schemas.openxmlformats.org/drawingml/2006/main">
            <a:off x="723900" y="4972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
            <a:extLst xmlns:a="http://schemas.openxmlformats.org/drawingml/2006/main">
              <a:ext uri="{FF2B5EF4-FFF2-40B4-BE49-F238E27FC236}">
                <a16:creationId xmlns:a16="http://schemas.microsoft.com/office/drawing/2014/main" id="{9017640D-55CE-495B-A074-AF8002E7E87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A source-volume calculation error caused incomplete community assembly in the latest round.</a:t>
            </a:r>
          </a:p>
        </p:txBody>
      </p:sp>
    </p:spTree>
    <p:extLst>
      <p:ext uri="{BB962C8B-B14F-4D97-AF65-F5344CB8AC3E}">
        <p14:creationId xmlns:p14="http://schemas.microsoft.com/office/powerpoint/2010/main" val="13730540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09E442-2119-47A1-83DB-EEE4AA6448C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
            <a:extLst xmlns:a="http://schemas.openxmlformats.org/drawingml/2006/main">
              <a:ext uri="{FF2B5EF4-FFF2-40B4-BE49-F238E27FC236}">
                <a16:creationId xmlns:a16="http://schemas.microsoft.com/office/drawing/2014/main" id="{88492001-A03E-45C0-B310-D7F0BC3C526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ef8e500294174044"/>
          </a:graphicData>
        </a:graphic>
      </p:graphicFrame>
      <p:sp>
        <p:nvSpPr>
          <p:cNvPr id="4" name="">
            <a:extLst xmlns:a="http://schemas.openxmlformats.org/drawingml/2006/main">
              <a:ext uri="{FF2B5EF4-FFF2-40B4-BE49-F238E27FC236}">
                <a16:creationId xmlns:a16="http://schemas.microsoft.com/office/drawing/2014/main" id="{C810FFE1-F4CB-4714-95F9-70043F490703}"/>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688060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DA64B8-BF54-4A23-814C-7391315819B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
            <a:extLst xmlns:a="http://schemas.openxmlformats.org/drawingml/2006/main">
              <a:ext uri="{FF2B5EF4-FFF2-40B4-BE49-F238E27FC236}">
                <a16:creationId xmlns:a16="http://schemas.microsoft.com/office/drawing/2014/main" id="{1E5BD47E-D18A-4C0A-A497-87E50E05494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BC9194C-9368-49E0-8E1F-00B7C77BA182}"/>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
            <a:extLst xmlns:a="http://schemas.openxmlformats.org/drawingml/2006/main">
              <a:ext uri="{FF2B5EF4-FFF2-40B4-BE49-F238E27FC236}">
                <a16:creationId xmlns:a16="http://schemas.microsoft.com/office/drawing/2014/main" id="{2A7552CC-196C-4E6D-8733-D9B47BD674AE}"/>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
            <a:extLst xmlns:a="http://schemas.openxmlformats.org/drawingml/2006/main">
              <a:ext uri="{FF2B5EF4-FFF2-40B4-BE49-F238E27FC236}">
                <a16:creationId xmlns:a16="http://schemas.microsoft.com/office/drawing/2014/main" id="{67AC5C4C-1378-4934-8033-DE31101E5862}"/>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Unresolved explanation</a:t>
            </a:r>
          </a:p>
        </p:txBody>
      </p:sp>
      <p:sp>
        <p:nvSpPr>
          <p:cNvPr id="6" name="">
            <a:extLst xmlns:a="http://schemas.openxmlformats.org/drawingml/2006/main">
              <a:ext uri="{FF2B5EF4-FFF2-40B4-BE49-F238E27FC236}">
                <a16:creationId xmlns:a16="http://schemas.microsoft.com/office/drawing/2014/main" id="{8C4EF91D-F7DC-450E-9C6A-49E95CF89BF6}"/>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Higher total inoculum and community effects remain confounded.</a:t>
            </a:r>
          </a:p>
        </p:txBody>
      </p:sp>
      <p:sp>
        <p:nvSpPr>
          <p:cNvPr id="7" name="">
            <a:extLst xmlns:a="http://schemas.openxmlformats.org/drawingml/2006/main">
              <a:ext uri="{FF2B5EF4-FFF2-40B4-BE49-F238E27FC236}">
                <a16:creationId xmlns:a16="http://schemas.microsoft.com/office/drawing/2014/main" id="{7134F43D-A99C-43C7-9772-E4ED375689C3}"/>
              </a:ext>
            </a:extLst>
          </p:cNvPr>
          <p:cNvSpPr>
            <a:spLocks xmlns:a="http://schemas.openxmlformats.org/drawingml/2006/main" noGrp="1"/>
          </p:cNvSpPr>
          <p:nvPr/>
        </p:nvSpPr>
        <p:spPr>
          <a:xfrm xmlns:a="http://schemas.openxmlformats.org/drawingml/2006/main">
            <a:off x="7048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Validation target</a:t>
            </a:r>
          </a:p>
        </p:txBody>
      </p:sp>
      <p:sp>
        <p:nvSpPr>
          <p:cNvPr id="8" name="">
            <a:extLst xmlns:a="http://schemas.openxmlformats.org/drawingml/2006/main">
              <a:ext uri="{FF2B5EF4-FFF2-40B4-BE49-F238E27FC236}">
                <a16:creationId xmlns:a16="http://schemas.microsoft.com/office/drawing/2014/main" id="{760C9D2E-2318-453D-B212-195C5CB77C06}"/>
              </a:ext>
            </a:extLst>
          </p:cNvPr>
          <p:cNvSpPr>
            <a:spLocks xmlns:a="http://schemas.openxmlformats.org/drawingml/2006/main" noGrp="1"/>
          </p:cNvSpPr>
          <p:nvPr/>
        </p:nvSpPr>
        <p:spPr>
          <a:xfrm xmlns:a="http://schemas.openxmlformats.org/drawingml/2006/main">
            <a:off x="704850" y="5019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 reassembly, a matched-biomass comparison and an orthogonal product measurement.</a:t>
            </a:r>
          </a:p>
        </p:txBody>
      </p:sp>
    </p:spTree>
    <p:extLst>
      <p:ext uri="{BB962C8B-B14F-4D97-AF65-F5344CB8AC3E}">
        <p14:creationId xmlns:p14="http://schemas.microsoft.com/office/powerpoint/2010/main" val="10463817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142371-11C2-4D2D-93BF-A20447BCF592}"/>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
            <a:extLst xmlns:a="http://schemas.openxmlformats.org/drawingml/2006/main">
              <a:ext uri="{FF2B5EF4-FFF2-40B4-BE49-F238E27FC236}">
                <a16:creationId xmlns:a16="http://schemas.microsoft.com/office/drawing/2014/main" id="{287E235F-152C-49ED-8842-28AC7F25470E}"/>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
          <p:cNvGraphicFramePr/>
          <p:nvPr/>
        </p:nvGraphicFramePr>
        <p:xfrm>
          <a:off xmlns:a="http://schemas.openxmlformats.org/drawingml/2006/main" x="666750" y="1657350"/>
          <a:ext xmlns:a="http://schemas.openxmlformats.org/drawingml/2006/main" cx="10858500" cy="3638550"/>
        </p:xfrm>
        <a:graphic xmlns:a="http://schemas.openxmlformats.org/drawingml/2006/main">
          <a:graphicData uri="http://schemas.openxmlformats.org/drawingml/2006/table">
            <a:tbl>
              <a:tblPr/>
              <a:tblGrid>
                <a:gridCol w="952500"/>
                <a:gridCol w="3143250"/>
                <a:gridCol w="6762750"/>
              </a:tblGrid>
              <a:tr h="727710">
                <a:tc>
                  <a:txBody>
                    <a:bodyPr/>
                    <a:lstStyle/>
                    <a:p>
                      <a:r>
                        <a:rPr sz="1800" b="1">
                          <a:solidFill>
                            <a:srgbClr val="FFFFFF"/>
                          </a:solidFill>
                          <a:latin typeface="Helvetica Neue"/>
                          <a:ea typeface="Helvetica Neue"/>
                          <a:cs typeface="Helvetica Neue"/>
                        </a:rPr>
                        <a:t>Plate</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Path</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Selection criterion</a:t>
                      </a:r>
                    </a:p>
                  </a:txBody>
                  <a:tcPr marL="91440" marR="91440" marT="45720" marB="45720">
                    <a:solidFill>
                      <a:srgbClr val="172D3C"/>
                    </a:solidFill>
                  </a:tcPr>
                </a:tc>
              </a:tr>
              <a:tr h="727710">
                <a:tc>
                  <a:txBody>
                    <a:bodyPr/>
                    <a:lstStyle/>
                    <a:p>
                      <a:r>
                        <a:rPr sz="1800"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Expected improvement</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marL="91440" marR="91440" marT="45720" marB="45720">
                    <a:solidFill>
                      <a:srgbClr val="FFFFFF"/>
                    </a:solidFill>
                  </a:tcPr>
                </a:tc>
              </a:tr>
              <a:tr h="727710">
                <a:tc>
                  <a:txBody>
                    <a:bodyPr/>
                    <a:lstStyle/>
                    <a:p>
                      <a:r>
                        <a:rPr sz="1800" b="0">
                          <a:solidFill>
                            <a:srgbClr val="172D3C"/>
                          </a:solidFill>
                          <a:latin typeface="Helvetica Neue"/>
                          <a:ea typeface="Helvetica Neue"/>
                          <a:cs typeface="Helvetica Neue"/>
                        </a:rPr>
                        <a:t>3</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Posterior mean</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Random</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Uniform sample from remaining unseen compositions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619C540-30FA-4D9B-8929-7C8E9CE4DA30}"/>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Each path gets 102 compositions in triplicate. Deduplication priority: max diversity, EI, posterior mean, random.</a:t>
            </a:r>
          </a:p>
        </p:txBody>
      </p:sp>
    </p:spTree>
    <p:extLst>
      <p:ext uri="{BB962C8B-B14F-4D97-AF65-F5344CB8AC3E}">
        <p14:creationId xmlns:p14="http://schemas.microsoft.com/office/powerpoint/2010/main" val="20987716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3D5E76-3953-4C73-B4A9-4BDC5F3418E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
            <a:extLst xmlns:a="http://schemas.openxmlformats.org/drawingml/2006/main">
              <a:ext uri="{FF2B5EF4-FFF2-40B4-BE49-F238E27FC236}">
                <a16:creationId xmlns:a16="http://schemas.microsoft.com/office/drawing/2014/main" id="{E4A53730-A5FE-4AE8-BCD2-52F699AB57E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
          <p:cNvGraphicFramePr/>
          <p:nvPr/>
        </p:nvGraphicFramePr>
        <p:xfrm>
          <a:off xmlns:a="http://schemas.openxmlformats.org/drawingml/2006/main" x="666750" y="1847850"/>
          <a:ext xmlns:a="http://schemas.openxmlformats.org/drawingml/2006/main" cx="10858500" cy="2886075"/>
        </p:xfrm>
        <a:graphic xmlns:a="http://schemas.openxmlformats.org/drawingml/2006/main">
          <a:graphicData uri="http://schemas.openxmlformats.org/drawingml/2006/table">
            <a:tbl>
              <a:tblPr/>
              <a:tblGrid>
                <a:gridCol w="6191250"/>
                <a:gridCol w="2333625"/>
                <a:gridCol w="2333625"/>
              </a:tblGrid>
              <a:tr h="721519">
                <a:tc>
                  <a:txBody>
                    <a:bodyPr/>
                    <a:lstStyle/>
                    <a:p>
                      <a:r>
                        <a:rPr sz="1950" b="1">
                          <a:solidFill>
                            <a:srgbClr val="FFFFFF"/>
                          </a:solidFill>
                          <a:latin typeface="Helvetica Neue"/>
                          <a:ea typeface="Helvetica Neue"/>
                          <a:cs typeface="Helvetica Neue"/>
                        </a:rPr>
                        <a:t>Training data</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EI model</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Posterior-mean model</a:t>
                      </a:r>
                    </a:p>
                  </a:txBody>
                  <a:tcPr marL="91440" marR="91440" marT="45720" marB="45720">
                    <a:solidFill>
                      <a:srgbClr val="172D3C"/>
                    </a:solidFill>
                  </a:tcPr>
                </a:tc>
              </a:tr>
              <a:tr h="721519">
                <a:tc>
                  <a:txBody>
                    <a:bodyPr/>
                    <a:lstStyle/>
                    <a:p>
                      <a:r>
                        <a:rPr sz="1950" b="0">
                          <a:solidFill>
                            <a:srgbClr val="172D3C"/>
                          </a:solidFill>
                          <a:latin typeface="Helvetica Neue"/>
                          <a:ea typeface="Helvetica Neue"/>
                          <a:cs typeface="Helvetica Neue"/>
                        </a:rPr>
                        <a:t>Shared max-diversity observations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r>
              <a:tr h="721519">
                <a:tc>
                  <a:txBody>
                    <a:bodyPr/>
                    <a:lstStyle/>
                    <a:p>
                      <a:r>
                        <a:rPr sz="1950" b="0">
                          <a:solidFill>
                            <a:srgbClr val="172D3C"/>
                          </a:solidFill>
                          <a:latin typeface="Helvetica Neue"/>
                          <a:ea typeface="Helvetica Neue"/>
                          <a:cs typeface="Helvetica Neue"/>
                        </a:rPr>
                        <a:t>Own-path acquired observations</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EI</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posterior mean</a:t>
                      </a:r>
                    </a:p>
                  </a:txBody>
                  <a:tcPr marL="91440" marR="91440" marT="45720" marB="45720">
                    <a:solidFill>
                      <a:srgbClr val="FFFFFF"/>
                    </a:solidFill>
                  </a:tcPr>
                </a:tc>
              </a:tr>
              <a:tr h="721519">
                <a:tc>
                  <a:txBody>
                    <a:bodyPr/>
                    <a:lstStyle/>
                    <a:p>
                      <a:r>
                        <a:rPr sz="1950" b="0">
                          <a:solidFill>
                            <a:srgbClr val="172D3C"/>
                          </a:solidFill>
                          <a:latin typeface="Helvetica Neue"/>
                          <a:ea typeface="Helvetica Neue"/>
                          <a:cs typeface="Helvetica Neue"/>
                        </a:rPr>
                        <a:t>Unique training compositions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188422EC-AD43-44D7-94A4-0F55C516687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4186150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83C58D-BE73-4439-97D6-1EE0491048D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Predicted rankings barely matched the next measurements</a:t>
            </a:r>
          </a:p>
        </p:txBody>
      </p:sp>
      <p:sp>
        <p:nvSpPr>
          <p:cNvPr id="2" name="">
            <a:extLst xmlns:a="http://schemas.openxmlformats.org/drawingml/2006/main">
              <a:ext uri="{FF2B5EF4-FFF2-40B4-BE49-F238E27FC236}">
                <a16:creationId xmlns:a16="http://schemas.microsoft.com/office/drawing/2014/main" id="{CE7F3A5E-6C5D-4119-8C3A-5E42703EAF7C}"/>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93320405-91F4-463E-BCD8-80EFDD88A32A}"/>
              </a:ext>
            </a:extLst>
          </p:cNvPr>
          <p:cNvSpPr>
            <a:spLocks xmlns:a="http://schemas.openxmlformats.org/drawingml/2006/main" noGrp="1"/>
          </p:cNvSpPr>
          <p:nvPr/>
        </p:nvSpPr>
        <p:spPr>
          <a:xfrm xmlns:a="http://schemas.openxmlformats.org/drawingml/2006/main">
            <a:off x="723900" y="145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Predictions saved on 2 September, compared with the 4 September readout</a:t>
            </a:r>
          </a:p>
        </p:txBody>
      </p:sp>
      <p:graphicFrame>
        <p:nvGraphicFramePr>
          <p:cNvPr id="9" name="Chart"/>
          <p:cNvGraphicFramePr/>
          <p:nvPr/>
        </p:nvGraphicFramePr>
        <p:xfrm>
          <a:off xmlns:a="http://schemas.openxmlformats.org/drawingml/2006/main" x="723900" y="1952625"/>
          <a:ext xmlns:a="http://schemas.openxmlformats.org/drawingml/2006/main" cx="10725150" cy="3571875"/>
        </p:xfrm>
        <a:graphic xmlns:a="http://schemas.openxmlformats.org/drawingml/2006/main">
          <a:graphicData uri="http://schemas.openxmlformats.org/drawingml/2006/chart">
            <c:chart xmlns:r="http://schemas.openxmlformats.org/officeDocument/2006/relationships" xmlns:c="http://schemas.openxmlformats.org/drawingml/2006/chart" r:id="R82de08dda50c4f8f"/>
          </a:graphicData>
        </a:graphic>
      </p:graphicFrame>
      <p:sp>
        <p:nvSpPr>
          <p:cNvPr id="5" name="">
            <a:extLst xmlns:a="http://schemas.openxmlformats.org/drawingml/2006/main">
              <a:ext uri="{FF2B5EF4-FFF2-40B4-BE49-F238E27FC236}">
                <a16:creationId xmlns:a16="http://schemas.microsoft.com/office/drawing/2014/main" id="{EB37E0EF-0D84-41A3-890E-1E6ADC45EF5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−1 = reversed order, 0 = no rank agreement, +1 = perfect agreement.</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This tests ranking within each batch, separately from its average performance.</a:t>
            </a:r>
          </a:p>
        </p:txBody>
      </p:sp>
    </p:spTree>
    <p:extLst>
      <p:ext uri="{BB962C8B-B14F-4D97-AF65-F5344CB8AC3E}">
        <p14:creationId xmlns:p14="http://schemas.microsoft.com/office/powerpoint/2010/main" val="12981910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9298B3-8226-42B1-AB6E-160A921B3F25}"/>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September 11 signal is close to the edge reference</a:t>
            </a:r>
          </a:p>
        </p:txBody>
      </p:sp>
      <p:sp>
        <p:nvSpPr>
          <p:cNvPr id="2" name="">
            <a:extLst xmlns:a="http://schemas.openxmlformats.org/drawingml/2006/main">
              <a:ext uri="{FF2B5EF4-FFF2-40B4-BE49-F238E27FC236}">
                <a16:creationId xmlns:a16="http://schemas.microsoft.com/office/drawing/2014/main" id="{6BB442A3-3FC9-47C0-AC40-8D1CFB38BB34}"/>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512d4c3f7ade4341"/>
          </a:graphicData>
        </a:graphic>
      </p:graphicFrame>
      <p:sp>
        <p:nvSpPr>
          <p:cNvPr id="4" name="">
            <a:extLst xmlns:a="http://schemas.openxmlformats.org/drawingml/2006/main">
              <a:ext uri="{FF2B5EF4-FFF2-40B4-BE49-F238E27FC236}">
                <a16:creationId xmlns:a16="http://schemas.microsoft.com/office/drawing/2014/main" id="{59E4E707-A608-4239-A4E6-B63BB9DA7B7A}"/>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8093339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4E7822-EE9D-4200-8548-43D00476C9C8}"/>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Latest-round triplicates show little agreement</a:t>
            </a:r>
          </a:p>
        </p:txBody>
      </p:sp>
      <p:sp>
        <p:nvSpPr>
          <p:cNvPr id="2" name="">
            <a:extLst xmlns:a="http://schemas.openxmlformats.org/drawingml/2006/main">
              <a:ext uri="{FF2B5EF4-FFF2-40B4-BE49-F238E27FC236}">
                <a16:creationId xmlns:a16="http://schemas.microsoft.com/office/drawing/2014/main" id="{08D030E9-149E-475C-9DAE-DC1439298740}"/>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9A619A2C-0557-43C4-89D6-C7DBDA62FBEB}"/>
              </a:ext>
            </a:extLst>
          </p:cNvPr>
          <p:cNvSpPr>
            <a:spLocks xmlns:a="http://schemas.openxmlformats.org/drawingml/2006/main" noGrp="1"/>
          </p:cNvSpPr>
          <p:nvPr/>
        </p:nvSpPr>
        <p:spPr>
          <a:xfrm xmlns:a="http://schemas.openxmlformats.org/drawingml/2006/main">
            <a:off x="723900" y="1438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06574"/>
                </a:solidFill>
                <a:latin typeface="Helvetica Neue"/>
                <a:ea typeface="Helvetica Neue"/>
                <a:cs typeface="Helvetica Neue"/>
              </a:defRPr>
            </a:pPr>
            <a:r>
              <a:rPr sz="1875" b="0">
                <a:solidFill>
                  <a:srgbClr val="506574"/>
                </a:solidFill>
                <a:latin typeface="Helvetica Neue"/>
                <a:ea typeface="Helvetica Neue"/>
                <a:cs typeface="Helvetica Neue"/>
              </a:rPr>
              <a:t>Do the three wells of a community give similar readings?</a:t>
            </a:r>
          </a:p>
        </p:txBody>
      </p:sp>
      <p:graphicFrame>
        <p:nvGraphicFramePr>
          <p:cNvPr id="9" name="Chart"/>
          <p:cNvGraphicFramePr/>
          <p:nvPr/>
        </p:nvGraphicFramePr>
        <p:xfrm>
          <a:off xmlns:a="http://schemas.openxmlformats.org/drawingml/2006/main" x="723900" y="1924050"/>
          <a:ext xmlns:a="http://schemas.openxmlformats.org/drawingml/2006/main" cx="10725150" cy="3609975"/>
        </p:xfrm>
        <a:graphic xmlns:a="http://schemas.openxmlformats.org/drawingml/2006/main">
          <a:graphicData uri="http://schemas.openxmlformats.org/drawingml/2006/chart">
            <c:chart xmlns:r="http://schemas.openxmlformats.org/officeDocument/2006/relationships" xmlns:c="http://schemas.openxmlformats.org/drawingml/2006/chart" r:id="Re1fddd44b6af45cc"/>
          </a:graphicData>
        </a:graphic>
      </p:graphicFrame>
      <p:sp>
        <p:nvSpPr>
          <p:cNvPr id="5" name="">
            <a:extLst xmlns:a="http://schemas.openxmlformats.org/drawingml/2006/main">
              <a:ext uri="{FF2B5EF4-FFF2-40B4-BE49-F238E27FC236}">
                <a16:creationId xmlns:a16="http://schemas.microsoft.com/office/drawing/2014/main" id="{25FB32A0-535B-431A-BA5E-EB488A9B7CF0}"/>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0 = no consistent community effect, 1 = perfect agreement between replicate wells.</a:t>
            </a:r>
          </a:p>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Latest values: 0.02–0.07. Within-community scatter dominates the differences between communities.</a:t>
            </a:r>
          </a:p>
        </p:txBody>
      </p:sp>
    </p:spTree>
    <p:extLst>
      <p:ext uri="{BB962C8B-B14F-4D97-AF65-F5344CB8AC3E}">
        <p14:creationId xmlns:p14="http://schemas.microsoft.com/office/powerpoint/2010/main" val="4232034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CB0980-8F01-4B9D-8E5D-01A8CA221A8B}"/>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
            <a:extLst xmlns:a="http://schemas.openxmlformats.org/drawingml/2006/main">
              <a:ext uri="{FF2B5EF4-FFF2-40B4-BE49-F238E27FC236}">
                <a16:creationId xmlns:a16="http://schemas.microsoft.com/office/drawing/2014/main" id="{2664F2C7-E34D-4B8E-A91A-75774AE46C8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8150857A-CF36-42C4-A23B-28942FE6524D}"/>
              </a:ext>
            </a:extLst>
          </p:cNvPr>
          <p:cNvSpPr>
            <a:spLocks xmlns:a="http://schemas.openxmlformats.org/drawingml/2006/main" noGrp="1"/>
          </p:cNvSpPr>
          <p:nvPr/>
        </p:nvSpPr>
        <p:spPr>
          <a:xfrm xmlns:a="http://schemas.openxmlformats.org/drawingml/2006/main">
            <a:off x="70485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Latest round</a:t>
            </a:r>
          </a:p>
        </p:txBody>
      </p:sp>
      <p:sp>
        <p:nvSpPr>
          <p:cNvPr id="4" name="">
            <a:extLst xmlns:a="http://schemas.openxmlformats.org/drawingml/2006/main">
              <a:ext uri="{FF2B5EF4-FFF2-40B4-BE49-F238E27FC236}">
                <a16:creationId xmlns:a16="http://schemas.microsoft.com/office/drawing/2014/main" id="{C1726D6A-DB30-45B6-B894-85C99F34E35E}"/>
              </a:ext>
            </a:extLst>
          </p:cNvPr>
          <p:cNvSpPr>
            <a:spLocks xmlns:a="http://schemas.openxmlformats.org/drawingml/2006/main" noGrp="1"/>
          </p:cNvSpPr>
          <p:nvPr/>
        </p:nvSpPr>
        <p:spPr>
          <a:xfrm xmlns:a="http://schemas.openxmlformats.org/drawingml/2006/main">
            <a:off x="704850" y="2171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Identify which communities actually assembled before adding these data to the models.</a:t>
            </a:r>
          </a:p>
        </p:txBody>
      </p:sp>
      <p:sp>
        <p:nvSpPr>
          <p:cNvPr id="5" name="">
            <a:extLst xmlns:a="http://schemas.openxmlformats.org/drawingml/2006/main">
              <a:ext uri="{FF2B5EF4-FFF2-40B4-BE49-F238E27FC236}">
                <a16:creationId xmlns:a16="http://schemas.microsoft.com/office/drawing/2014/main" id="{CF7BB2C1-E194-4796-B510-2AAB27AAC973}"/>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Focused biological test</a:t>
            </a:r>
          </a:p>
        </p:txBody>
      </p:sp>
      <p:sp>
        <p:nvSpPr>
          <p:cNvPr id="6" name="">
            <a:extLst xmlns:a="http://schemas.openxmlformats.org/drawingml/2006/main">
              <a:ext uri="{FF2B5EF4-FFF2-40B4-BE49-F238E27FC236}">
                <a16:creationId xmlns:a16="http://schemas.microsoft.com/office/drawing/2014/main" id="{01A69B6B-CA52-4E85-AF59-CAD6FA247B80}"/>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Independently repeat the four-member candidate and its constituent monocultures.</a:t>
            </a:r>
          </a:p>
        </p:txBody>
      </p:sp>
      <p:sp>
        <p:nvSpPr>
          <p:cNvPr id="7" name="">
            <a:extLst xmlns:a="http://schemas.openxmlformats.org/drawingml/2006/main">
              <a:ext uri="{FF2B5EF4-FFF2-40B4-BE49-F238E27FC236}">
                <a16:creationId xmlns:a16="http://schemas.microsoft.com/office/drawing/2014/main" id="{ECBF2B2A-6047-4F97-B2FE-7134805A5454}"/>
              </a:ext>
            </a:extLst>
          </p:cNvPr>
          <p:cNvSpPr>
            <a:spLocks xmlns:a="http://schemas.openxmlformats.org/drawingml/2006/main" noGrp="1"/>
          </p:cNvSpPr>
          <p:nvPr/>
        </p:nvSpPr>
        <p:spPr>
          <a:xfrm xmlns:a="http://schemas.openxmlformats.org/drawingml/2006/main">
            <a:off x="704850" y="4562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Decision for the group</a:t>
            </a:r>
          </a:p>
        </p:txBody>
      </p:sp>
      <p:sp>
        <p:nvSpPr>
          <p:cNvPr id="8" name="">
            <a:extLst xmlns:a="http://schemas.openxmlformats.org/drawingml/2006/main">
              <a:ext uri="{FF2B5EF4-FFF2-40B4-BE49-F238E27FC236}">
                <a16:creationId xmlns:a16="http://schemas.microsoft.com/office/drawing/2014/main" id="{E1625B72-AA42-40B2-B5D9-F1861FE97EC4}"/>
              </a:ext>
            </a:extLst>
          </p:cNvPr>
          <p:cNvSpPr>
            <a:spLocks xmlns:a="http://schemas.openxmlformats.org/drawingml/2006/main" noGrp="1"/>
          </p:cNvSpPr>
          <p:nvPr/>
        </p:nvSpPr>
        <p:spPr>
          <a:xfrm xmlns:a="http://schemas.openxmlformats.org/drawingml/2006/main">
            <a:off x="704850" y="5048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What evidence should trigger the next acquisition round?</a:t>
            </a:r>
          </a:p>
        </p:txBody>
      </p:sp>
    </p:spTree>
    <p:extLst>
      <p:ext uri="{BB962C8B-B14F-4D97-AF65-F5344CB8AC3E}">
        <p14:creationId xmlns:p14="http://schemas.microsoft.com/office/powerpoint/2010/main" val="14996988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C2C039-7A5C-467B-997B-2ADD0826AB7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
            <a:extLst xmlns:a="http://schemas.openxmlformats.org/drawingml/2006/main">
              <a:ext uri="{FF2B5EF4-FFF2-40B4-BE49-F238E27FC236}">
                <a16:creationId xmlns:a16="http://schemas.microsoft.com/office/drawing/2014/main" id="{558138C8-3172-42B4-A30D-E094A089133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6aa54077851c4620"/>
          </a:graphicData>
        </a:graphic>
      </p:graphicFrame>
      <p:sp>
        <p:nvSpPr>
          <p:cNvPr id="4" name="">
            <a:extLst xmlns:a="http://schemas.openxmlformats.org/drawingml/2006/main">
              <a:ext uri="{FF2B5EF4-FFF2-40B4-BE49-F238E27FC236}">
                <a16:creationId xmlns:a16="http://schemas.microsoft.com/office/drawing/2014/main" id="{1C36E113-8366-414B-B653-98B30910A28A}"/>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723536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2026-09-14T06:23:51.7500000Z</dcterms:created>
  <dcterms:modified xsi:type="dcterms:W3CDTF">2026-09-14T06:23:51.7500000Z</dcterms:modified>
</coreProperties>
</file>