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9c2a78bf8542d5" /><Relationship Type="http://schemas.openxmlformats.org/officeDocument/2006/relationships/extended-properties" Target="/docProps/app.xml" Id="R8d91f7fae6c14bb8" /><Relationship Type="http://schemas.openxmlformats.org/officeDocument/2006/relationships/officeDocument" Target="/ppt/presentation.xml" Id="Rec76a92cb79f4cc4" /></Relationships>
</file>

<file path=ppt/presentation.xml><?xml version="1.0" encoding="utf-8"?>
<p:presentation xmlns:p="http://schemas.openxmlformats.org/presentationml/2006/main">
  <p:sldMasterIdLst>
    <p:sldMasterId xmlns:r="http://schemas.openxmlformats.org/officeDocument/2006/relationships" id="2147483648" r:id="R383b4345f63d4ded"/>
  </p:sldMasterIdLst>
  <p:notesMasterIdLst>
    <p:notesMasterId xmlns:r="http://schemas.openxmlformats.org/officeDocument/2006/relationships" r:id="R71d897be73d9446a"/>
  </p:notesMasterIdLst>
  <p:sldIdLst>
    <p:sldId xmlns:r="http://schemas.openxmlformats.org/officeDocument/2006/relationships" id="256" r:id="R8f7ef9bf0c154a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686b41b5a04c1f" /><Relationship Type="http://schemas.openxmlformats.org/officeDocument/2006/relationships/slideMaster" Target="/ppt/slideMasters/slideMaster1.xml" Id="R383b4345f63d4ded" /><Relationship Type="http://schemas.openxmlformats.org/officeDocument/2006/relationships/notesMaster" Target="/ppt/notesMasters/notesMaster1.xml" Id="R71d897be73d9446a" /><Relationship Type="http://schemas.openxmlformats.org/officeDocument/2006/relationships/presProps" Target="/ppt/presProps.xml" Id="R720c75e563d348dd" /><Relationship Type="http://schemas.openxmlformats.org/officeDocument/2006/relationships/tableStyles" Target="/ppt/tableStyles.xml" Id="R027a3950f185487c" /><Relationship Type="http://schemas.openxmlformats.org/officeDocument/2006/relationships/slide" Target="/ppt/slides/slide1.xml" Id="R8f7ef9bf0c154a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414bc07dde4b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17f6b7c4e44508" /><Relationship Type="http://schemas.openxmlformats.org/officeDocument/2006/relationships/notesMaster" Target="/ppt/notesMasters/notesMaster1.xml" Id="Rba6e6733f3d744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 previous slide tests ranking within selected batches. This slide asks how the batches actually performed. The blue bar is the median of 102 community triplicate medians after subtracting each plate's 76-well edge median. The orange bar is the highest community triplicate median with the same adjustment, not the highest individual well. All values use the ordinary reader mode on 4 September. EI has the highest typical signal: 0.1315 versus max diversity 0.0675, posterior mean 0.0835 and random 0.0815. The highest individual community median belongs to random (0.6235), followed by posterior mean (0.5990), EI (0.5555) and max diversity (0.4780). Random's RANDOM_010 has raw readings 0.859, 0.724 and 0.348. Max diversity's four-member candidate 294 + 196 + 291 + 264 has raw readings 0.529, 0.573 and 0.777, and all three exceed all constituent monoculture readings. Its edge-adjusted median is 0.4780. Distinguish the highest median from support across all three wells. EI also has the highest typical signal in the paired SPR mode, although that mode is not plotted here. This is a descriptive comparison of the four measured batches, with one plate per strategy. Do not infer an independently replicated acquisition-policy advantage. No concentration conversion is used. Do not subtract each plate's own culture median for a batch-performance comparison because that removes its typical response.</a:t>
            </a:r>
          </a:p>
          <a:p xmlns:a="http://schemas.openxmlformats.org/drawingml/2006/main">
            <a:r>
              <a:t/>
            </a:r>
          </a:p>
          <a:p xmlns:a="http://schemas.openxmlformats.org/drawingml/2006/main">
            <a:r>
              <a:t>Source: glycerol_lactate_community/protocols/echo/readout/04-09/analysis_20260908/findings.md, Four strategies, Strong candidates, and Mapping and processing sections. Source reader CSVs and picklist mapping are listed in that report. Existing analysis only, no model refit.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e930cc242244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008621e3b24496" /><Relationship Type="http://schemas.openxmlformats.org/officeDocument/2006/relationships/slideLayout" Target="/ppt/slideLayouts/slideLayout1.xml" Id="Rc7cf0c44132e4c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cf0c44132e4c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45603f46ff490e" /><Relationship Type="http://schemas.openxmlformats.org/officeDocument/2006/relationships/chart" Target="/ppt/slides/charts/chart1.xml" Id="Ra5814fbb3f8d4b3f" /><Relationship Type="http://schemas.openxmlformats.org/officeDocument/2006/relationships/notesSlide" Target="/ppt/notesSlides/notesSlide1.xml" Id="R0c7afecd7af84ea0" /></Relationships>
</file>

<file path=ppt/slides/charts/chart1.xml><?xml version="1.0" encoding="utf-8"?>
<c:chartSpace xmlns:c="http://schemas.openxmlformats.org/drawingml/2006/chart">
  <c:lang val="en-US"/>
  <c:chart>
    <c:plotArea>
      <c:barChart>
        <c:barDir val="col"/>
        <c:grouping val="clustered"/>
        <c:varyColors val="0"/>
        <c:ser>
          <c:idx val="0"/>
          <c:order val="0"/>
          <c:tx>
            <c:v>Batch median</c:v>
          </c:tx>
          <c:spPr>
            <a:solidFill xmlns:a="http://schemas.openxmlformats.org/drawingml/2006/main">
              <a:srgbClr val="266B9B"/>
            </a:solidFill>
          </c:spPr>
          <c:cat>
            <c:strLit>
              <c:ptCount val="4"/>
              <c:pt idx="0">
                <c:v>EI</c:v>
              </c:pt>
              <c:pt idx="1">
                <c:v>Max diversity</c:v>
              </c:pt>
              <c:pt idx="2">
                <c:v>Posterior mean</c:v>
              </c:pt>
              <c:pt idx="3">
                <c:v>Random</c:v>
              </c:pt>
            </c:strLit>
          </c:cat>
          <c:val>
            <c:numLit>
              <c:formatCode>0.000</c:formatCode>
              <c:ptCount val="4"/>
              <c:pt idx="0">
                <c:v>0.1315</c:v>
              </c:pt>
              <c:pt idx="1">
                <c:v>0.0675</c:v>
              </c:pt>
              <c:pt idx="2">
                <c:v>0.0835</c:v>
              </c:pt>
              <c:pt idx="3">
                <c:v>0.0815</c:v>
              </c:pt>
            </c:numLit>
          </c:val>
        </c:ser>
        <c:ser>
          <c:idx val="1"/>
          <c:order val="1"/>
          <c:tx>
            <c:v>Best community median</c:v>
          </c:tx>
          <c:spPr>
            <a:solidFill xmlns:a="http://schemas.openxmlformats.org/drawingml/2006/main">
              <a:srgbClr val="B77B28"/>
            </a:solidFill>
          </c:spPr>
          <c:cat>
            <c:strLit>
              <c:ptCount val="4"/>
              <c:pt idx="0">
                <c:v>EI</c:v>
              </c:pt>
              <c:pt idx="1">
                <c:v>Max diversity</c:v>
              </c:pt>
              <c:pt idx="2">
                <c:v>Posterior mean</c:v>
              </c:pt>
              <c:pt idx="3">
                <c:v>Random</c:v>
              </c:pt>
            </c:strLit>
          </c:cat>
          <c:val>
            <c:numLit>
              <c:formatCode>0.000</c:formatCode>
              <c:ptCount val="4"/>
              <c:pt idx="0">
                <c:v>0.5555</c:v>
              </c:pt>
              <c:pt idx="1">
                <c:v>0.478</c:v>
              </c:pt>
              <c:pt idx="2">
                <c:v>0.599</c:v>
              </c:pt>
              <c:pt idx="3">
                <c:v>0.6235</c:v>
              </c:pt>
            </c:numLit>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Edge-adjusted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1BA212-4558-4397-A953-E64837B5C4A9}"/>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EI had the highest median, random the highest peak</a:t>
            </a:r>
          </a:p>
        </p:txBody>
      </p:sp>
      <p:sp>
        <p:nvSpPr>
          <p:cNvPr id="2" name="">
            <a:extLst xmlns:a="http://schemas.openxmlformats.org/drawingml/2006/main">
              <a:ext uri="{FF2B5EF4-FFF2-40B4-BE49-F238E27FC236}">
                <a16:creationId xmlns:a16="http://schemas.microsoft.com/office/drawing/2014/main" id="{6F6618FE-D7B3-4FBC-A1A1-85F22E53A19F}"/>
              </a:ext>
            </a:extLst>
          </p:cNvPr>
          <p:cNvSpPr>
            <a:spLocks xmlns:a="http://schemas.openxmlformats.org/drawingml/2006/main" noGrp="1"/>
          </p:cNvSpPr>
          <p:nvPr/>
        </p:nvSpPr>
        <p:spPr>
          <a:xfrm xmlns:a="http://schemas.openxmlformats.org/drawingml/2006/main">
            <a:off x="723900" y="1457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4 September, ordinary readout. 102 communities per batch, three wells each.</a:t>
            </a:r>
          </a:p>
        </p:txBody>
      </p:sp>
      <p:sp>
        <p:nvSpPr>
          <p:cNvPr id="3" name="">
            <a:extLst xmlns:a="http://schemas.openxmlformats.org/drawingml/2006/main">
              <a:ext uri="{FF2B5EF4-FFF2-40B4-BE49-F238E27FC236}">
                <a16:creationId xmlns:a16="http://schemas.microsoft.com/office/drawing/2014/main" id="{12390948-E04A-4D04-A9A8-46D1728B6E1C}"/>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9" name="Chart"/>
          <p:cNvGraphicFramePr/>
          <p:nvPr/>
        </p:nvGraphicFramePr>
        <p:xfrm>
          <a:off xmlns:a="http://schemas.openxmlformats.org/drawingml/2006/main" x="723900" y="1952625"/>
          <a:ext xmlns:a="http://schemas.openxmlformats.org/drawingml/2006/main" cx="10725150" cy="3562350"/>
        </p:xfrm>
        <a:graphic xmlns:a="http://schemas.openxmlformats.org/drawingml/2006/main">
          <a:graphicData uri="http://schemas.openxmlformats.org/drawingml/2006/chart">
            <c:chart xmlns:r="http://schemas.openxmlformats.org/officeDocument/2006/relationships" xmlns:c="http://schemas.openxmlformats.org/drawingml/2006/chart" r:id="Ra5814fbb3f8d4b3f"/>
          </a:graphicData>
        </a:graphic>
      </p:graphicFrame>
      <p:sp>
        <p:nvSpPr>
          <p:cNvPr id="5" name="">
            <a:extLst xmlns:a="http://schemas.openxmlformats.org/drawingml/2006/main">
              <a:ext uri="{FF2B5EF4-FFF2-40B4-BE49-F238E27FC236}">
                <a16:creationId xmlns:a16="http://schemas.microsoft.com/office/drawing/2014/main" id="{A028E690-1A87-4E0C-94FC-DDDF50D53EDE}"/>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Signal = community triplicate median minus that plate’s edge-well median.</a:t>
            </a:r>
          </a:p>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Max diversity supplied the four-member candidate supported by all three wells.</a:t>
            </a:r>
          </a:p>
        </p:txBody>
      </p:sp>
    </p:spTree>
    <p:extLst>
      <p:ext uri="{BB962C8B-B14F-4D97-AF65-F5344CB8AC3E}">
        <p14:creationId xmlns:p14="http://schemas.microsoft.com/office/powerpoint/2010/main" val="11306835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2026-09-14T07:25:15.6380000Z</dcterms:created>
  <dcterms:modified xsi:type="dcterms:W3CDTF">2026-09-14T07:25:15.6380000Z</dcterms:modified>
</coreProperties>
</file>