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7.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f3155e26db14b60" /><Relationship Type="http://schemas.openxmlformats.org/officeDocument/2006/relationships/extended-properties" Target="/docProps/app.xml" Id="R541de14d2d0547a7" /><Relationship Type="http://schemas.openxmlformats.org/officeDocument/2006/relationships/officeDocument" Target="/ppt/presentation.xml" Id="R07c33d6bd55e4925" /></Relationships>
</file>

<file path=ppt/presentation.xml><?xml version="1.0" encoding="utf-8"?>
<p:presentation xmlns:p="http://schemas.openxmlformats.org/presentationml/2006/main">
  <p:sldMasterIdLst>
    <p:sldMasterId xmlns:r="http://schemas.openxmlformats.org/officeDocument/2006/relationships" id="2147483648" r:id="R738364aa93d2403f"/>
  </p:sldMasterIdLst>
  <p:notesMasterIdLst>
    <p:notesMasterId xmlns:r="http://schemas.openxmlformats.org/officeDocument/2006/relationships" r:id="R7315e7a481df4305"/>
  </p:notesMasterIdLst>
  <p:sldIdLst>
    <p:sldId xmlns:r="http://schemas.openxmlformats.org/officeDocument/2006/relationships" id="256" r:id="Rd27dcec9b31643f7"/>
    <p:sldId xmlns:r="http://schemas.openxmlformats.org/officeDocument/2006/relationships" id="257" r:id="Rd6269b48449f4655"/>
    <p:sldId xmlns:r="http://schemas.openxmlformats.org/officeDocument/2006/relationships" id="258" r:id="R0113f017c66949f6"/>
    <p:sldId xmlns:r="http://schemas.openxmlformats.org/officeDocument/2006/relationships" id="259" r:id="R2e834a3118dc467a"/>
    <p:sldId xmlns:r="http://schemas.openxmlformats.org/officeDocument/2006/relationships" id="260" r:id="R2f55306685474f4b"/>
    <p:sldId xmlns:r="http://schemas.openxmlformats.org/officeDocument/2006/relationships" id="261" r:id="R9eeeb372dbfc4a6d"/>
    <p:sldId xmlns:r="http://schemas.openxmlformats.org/officeDocument/2006/relationships" id="262" r:id="Rce3269c6d44b4613"/>
    <p:sldId xmlns:r="http://schemas.openxmlformats.org/officeDocument/2006/relationships" id="263" r:id="Rb2f3623463ee4129"/>
    <p:sldId xmlns:r="http://schemas.openxmlformats.org/officeDocument/2006/relationships" id="264" r:id="Ree68720d00a846d3"/>
    <p:sldId xmlns:r="http://schemas.openxmlformats.org/officeDocument/2006/relationships" id="265" r:id="R7be9cf9297624618"/>
    <p:sldId xmlns:r="http://schemas.openxmlformats.org/officeDocument/2006/relationships" id="266" r:id="R6c010f7eff084bfe"/>
    <p:sldId xmlns:r="http://schemas.openxmlformats.org/officeDocument/2006/relationships" id="267" r:id="R845afc8d844b4ea2"/>
    <p:sldId xmlns:r="http://schemas.openxmlformats.org/officeDocument/2006/relationships" id="268" r:id="R77336cf3c0704a56"/>
    <p:sldId xmlns:r="http://schemas.openxmlformats.org/officeDocument/2006/relationships" id="269" r:id="R9758aa8278e748ee"/>
    <p:sldId xmlns:r="http://schemas.openxmlformats.org/officeDocument/2006/relationships" id="270" r:id="R40fa921556004fe0"/>
    <p:sldId xmlns:r="http://schemas.openxmlformats.org/officeDocument/2006/relationships" id="271" r:id="Raeb3ff90e9424830"/>
    <p:sldId xmlns:r="http://schemas.openxmlformats.org/officeDocument/2006/relationships" id="272" r:id="R2bb96351585345a5"/>
    <p:sldId xmlns:r="http://schemas.openxmlformats.org/officeDocument/2006/relationships" id="273" r:id="R7c773211a26143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d28cf7f0484938" /><Relationship Type="http://schemas.openxmlformats.org/officeDocument/2006/relationships/slideMaster" Target="/ppt/slideMasters/slideMaster1.xml" Id="R738364aa93d2403f" /><Relationship Type="http://schemas.openxmlformats.org/officeDocument/2006/relationships/notesMaster" Target="/ppt/notesMasters/notesMaster1.xml" Id="R7315e7a481df4305" /><Relationship Type="http://schemas.openxmlformats.org/officeDocument/2006/relationships/presProps" Target="/ppt/presProps.xml" Id="Rdd37d022d7ee43e1" /><Relationship Type="http://schemas.openxmlformats.org/officeDocument/2006/relationships/tableStyles" Target="/ppt/tableStyles.xml" Id="R9643436992e841df" /><Relationship Type="http://schemas.openxmlformats.org/officeDocument/2006/relationships/slide" Target="/ppt/slides/slide1.xml" Id="Rd27dcec9b31643f7" /><Relationship Type="http://schemas.openxmlformats.org/officeDocument/2006/relationships/slide" Target="/ppt/slides/slide2.xml" Id="Rd6269b48449f4655" /><Relationship Type="http://schemas.openxmlformats.org/officeDocument/2006/relationships/slide" Target="/ppt/slides/slide3.xml" Id="R0113f017c66949f6" /><Relationship Type="http://schemas.openxmlformats.org/officeDocument/2006/relationships/slide" Target="/ppt/slides/slide4.xml" Id="R2e834a3118dc467a" /><Relationship Type="http://schemas.openxmlformats.org/officeDocument/2006/relationships/slide" Target="/ppt/slides/slide5.xml" Id="R2f55306685474f4b" /><Relationship Type="http://schemas.openxmlformats.org/officeDocument/2006/relationships/slide" Target="/ppt/slides/slide6.xml" Id="R9eeeb372dbfc4a6d" /><Relationship Type="http://schemas.openxmlformats.org/officeDocument/2006/relationships/slide" Target="/ppt/slides/slide7.xml" Id="Rce3269c6d44b4613" /><Relationship Type="http://schemas.openxmlformats.org/officeDocument/2006/relationships/slide" Target="/ppt/slides/slide8.xml" Id="Rb2f3623463ee4129" /><Relationship Type="http://schemas.openxmlformats.org/officeDocument/2006/relationships/slide" Target="/ppt/slides/slide9.xml" Id="Ree68720d00a846d3" /><Relationship Type="http://schemas.openxmlformats.org/officeDocument/2006/relationships/slide" Target="/ppt/slides/slide10.xml" Id="R7be9cf9297624618" /><Relationship Type="http://schemas.openxmlformats.org/officeDocument/2006/relationships/slide" Target="/ppt/slides/slide11.xml" Id="R6c010f7eff084bfe" /><Relationship Type="http://schemas.openxmlformats.org/officeDocument/2006/relationships/slide" Target="/ppt/slides/slide12.xml" Id="R845afc8d844b4ea2" /><Relationship Type="http://schemas.openxmlformats.org/officeDocument/2006/relationships/slide" Target="/ppt/slides/slide13.xml" Id="R77336cf3c0704a56" /><Relationship Type="http://schemas.openxmlformats.org/officeDocument/2006/relationships/slide" Target="/ppt/slides/slide14.xml" Id="R9758aa8278e748ee" /><Relationship Type="http://schemas.openxmlformats.org/officeDocument/2006/relationships/slide" Target="/ppt/slides/slide15.xml" Id="R40fa921556004fe0" /><Relationship Type="http://schemas.openxmlformats.org/officeDocument/2006/relationships/slide" Target="/ppt/slides/slide16.xml" Id="Raeb3ff90e9424830" /><Relationship Type="http://schemas.openxmlformats.org/officeDocument/2006/relationships/slide" Target="/ppt/slides/slide17.xml" Id="R2bb96351585345a5" /><Relationship Type="http://schemas.openxmlformats.org/officeDocument/2006/relationships/slide" Target="/ppt/slides/slide18.xml" Id="R7c773211a26143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16aa3c6eed4d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18b2b864f44993" /><Relationship Type="http://schemas.openxmlformats.org/officeDocument/2006/relationships/notesMaster" Target="/ppt/notesMasters/notesMaster1.xml" Id="Rf5fe0532ac1f4c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7c9fd837e5465f" /><Relationship Type="http://schemas.openxmlformats.org/officeDocument/2006/relationships/notesMaster" Target="/ppt/notesMasters/notesMaster1.xml" Id="R948884e1577f48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ed582050ed40d5" /><Relationship Type="http://schemas.openxmlformats.org/officeDocument/2006/relationships/notesMaster" Target="/ppt/notesMasters/notesMaster1.xml" Id="Rf1d81bd25cf740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6a76914c8c4899" /><Relationship Type="http://schemas.openxmlformats.org/officeDocument/2006/relationships/notesMaster" Target="/ppt/notesMasters/notesMaster1.xml" Id="Rfaa6c3ba183a4b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939a6ac58c4c1b" /><Relationship Type="http://schemas.openxmlformats.org/officeDocument/2006/relationships/notesMaster" Target="/ppt/notesMasters/notesMaster1.xml" Id="R8814be4d46ae4d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4533d22056490a" /><Relationship Type="http://schemas.openxmlformats.org/officeDocument/2006/relationships/notesMaster" Target="/ppt/notesMasters/notesMaster1.xml" Id="R7bc70691ab2c4c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e729df5bee43ba" /><Relationship Type="http://schemas.openxmlformats.org/officeDocument/2006/relationships/notesMaster" Target="/ppt/notesMasters/notesMaster1.xml" Id="Ra0b462bbfa034e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c7b0ede47242b7" /><Relationship Type="http://schemas.openxmlformats.org/officeDocument/2006/relationships/notesMaster" Target="/ppt/notesMasters/notesMaster1.xml" Id="R820adb219c1c42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9a7529c0224ec9" /><Relationship Type="http://schemas.openxmlformats.org/officeDocument/2006/relationships/notesMaster" Target="/ppt/notesMasters/notesMaster1.xml" Id="Rd39a4e9e372c41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50445add3c498e" /><Relationship Type="http://schemas.openxmlformats.org/officeDocument/2006/relationships/notesMaster" Target="/ppt/notesMasters/notesMaster1.xml" Id="R377f88440a7d4f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75903daf0e4520" /><Relationship Type="http://schemas.openxmlformats.org/officeDocument/2006/relationships/notesMaster" Target="/ppt/notesMasters/notesMaster1.xml" Id="R09b76aa2abfc47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73dc811801d4279" /><Relationship Type="http://schemas.openxmlformats.org/officeDocument/2006/relationships/notesMaster" Target="/ppt/notesMasters/notesMaster1.xml" Id="R837982b6a5f04a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2867e00a5e54ae1" /><Relationship Type="http://schemas.openxmlformats.org/officeDocument/2006/relationships/notesMaster" Target="/ppt/notesMasters/notesMaster1.xml" Id="R041f7609af494a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157c7e74584e4f" /><Relationship Type="http://schemas.openxmlformats.org/officeDocument/2006/relationships/notesMaster" Target="/ppt/notesMasters/notesMaster1.xml" Id="Ra57a7c49bac1411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07a45d4d7b74cae" /><Relationship Type="http://schemas.openxmlformats.org/officeDocument/2006/relationships/notesMaster" Target="/ppt/notesMasters/notesMaster1.xml" Id="Rd581b0e74095420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5995d699d840fa" /><Relationship Type="http://schemas.openxmlformats.org/officeDocument/2006/relationships/notesMaster" Target="/ppt/notesMasters/notesMaster1.xml" Id="R36f831cfb65e48c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b58e131f8604ae8" /><Relationship Type="http://schemas.openxmlformats.org/officeDocument/2006/relationships/notesMaster" Target="/ppt/notesMasters/notesMaster1.xml" Id="R24a4ed4d7e56422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9092dd1a90f4df4" /><Relationship Type="http://schemas.openxmlformats.org/officeDocument/2006/relationships/notesMaster" Target="/ppt/notesMasters/notesMaster1.xml" Id="R9370bf5657eb42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0.5 minutes.</a:t>
            </a:r>
          </a:p>
          <a:p xmlns:a="http://schemas.openxmlformats.org/drawingml/2006/main">
            <a:r>
              <a:t>A progress talk for a lab group or supervisors, assumed English. Aim for approximately 24 minutes plus 6 minutes discussion. The project asks whether community composition can help identify cultures with higher L-lactate assay signal on crude-glycerol medium. Distinguish intended designs, completed measurements and validated biological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Explain the question before the tools. The endpoint is extracellular L-lactate accumulation. This assay alone does not prove that the product carbon came from glycerol. The community question concerns measured net accumulation, which can reflect production and consumption. Do not claim a demonstrated exchange mechanism.</a:t>
            </a:r>
          </a:p>
          <a:p xmlns:a="http://schemas.openxmlformats.org/drawingml/2006/main">
            <a:r>
              <a:t/>
            </a:r>
          </a:p>
          <a:p xmlns:a="http://schemas.openxmlformats.org/drawingml/2006/main">
            <a:r>
              <a:t>Sources, relative to glycerol_lactate_community/: docs/PROJECT_BRIEF.md; protocols/SOP — Community Assembly and Crude-Glycerol Fermentation Screen.md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384 genome records form the screening cohort. Counts of genomes with different enzyme classes overlap. These are sequence-derived calls, not fermentation measurements. The broad annotation screen and the dedicated LDH adjudication are distinct analyses.</a:t>
            </a:r>
          </a:p>
          <a:p xmlns:a="http://schemas.openxmlformats.org/drawingml/2006/main">
            <a:r>
              <a:t/>
            </a:r>
          </a:p>
          <a:p xmlns:a="http://schemas.openxmlformats.org/drawingml/2006/main">
            <a:r>
              <a:t>Sources, relative to glycerol_lactate_community/: results/screening/genome_scores.tsv; results/screening/ldh_adjudication.tsv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Keep the methodological depth concise. Explain why a generic lactate dehydrogenase annotation cannot alone establish L-lactate production. The project separates enzyme classes using fold compatibility, target and decoy comparisons and reciprocal best-hit evidence. These remain sequence priors. Omit the separate pathogen-screening work.</a:t>
            </a:r>
          </a:p>
          <a:p xmlns:a="http://schemas.openxmlformats.org/drawingml/2006/main">
            <a:r>
              <a:t/>
            </a:r>
          </a:p>
          <a:p xmlns:a="http://schemas.openxmlformats.org/drawingml/2006/main">
            <a:r>
              <a:t>Sources, relative to glycerol_lactate_community/: results/screening/genome_scores.tsv; results/screening/ldh_adjudication.tsv; screening/README.md; results/pool_v5/LDH_ADJUDICATION.md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The curated panel contains fourteen intended producers plus two held strains. These are project labels, not proof of production. One of the fourteen has no resolved physical mapping, leaving thirteen resolved strains. Strain 296 had zero OD in rounds two and three, leaving twelve active species. Keep this distinction explicit instead of pretending all panels are identical.</a:t>
            </a:r>
          </a:p>
          <a:p xmlns:a="http://schemas.openxmlformats.org/drawingml/2006/main">
            <a:r>
              <a:t/>
            </a:r>
          </a:p>
          <a:p xmlns:a="http://schemas.openxmlformats.org/drawingml/2006/main">
            <a:r>
              <a:t>Sources, relative to glycerol_lactate_community/: panel/pool_v5_panel.yaml; protocols/Strain Identity and Lab Mapping.md; protocols/echo/experiment_setup.ipynb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About two minutes on methods, without reagent-shopping detail. 384-well plates, 306 culture wells and technical triplicates. Edge wells do not receive bacterial transfers. Target 0.100 OD600 microlitre per species, with measured source OD and 25 nL rounding. Media prefill is 50 microlitres. Therefore starting total biomass increases with richness. Assay uses LDH with NAD and an INT color readout, according to the project SOP. Reader export does not independently record wavelength or executed method details.</a:t>
            </a:r>
          </a:p>
          <a:p xmlns:a="http://schemas.openxmlformats.org/drawingml/2006/main">
            <a:r>
              <a:t/>
            </a:r>
          </a:p>
          <a:p xmlns:a="http://schemas.openxmlformats.org/drawingml/2006/main">
            <a:r>
              <a:t>Sources, relative to glycerol_lactate_community/: protocols/SOP — Colorimetric L-Lactate Assay for Bacterial Supernatants.md; protocols/echo/experiment_setup.ipynb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Across nine plate designs there are 918 run/composition observations and 2754 assigned culture wells. There are 864 distinct intended compositions: 456 across the first two rounds, plus 408 new in the latest round. Do not describe all as successfully assembled. The latest warnings prevent that claim. Dates refer to reader measurements rather than setup date.</a:t>
            </a:r>
          </a:p>
          <a:p xmlns:a="http://schemas.openxmlformats.org/drawingml/2006/main">
            <a:r>
              <a:t/>
            </a:r>
          </a:p>
          <a:p xmlns:a="http://schemas.openxmlformats.org/drawingml/2006/main">
            <a:r>
              <a:t>Sources, relative to glycerol_lactate_community/: protocols/echo/experiment_setup_output; current analysis source hashes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
            </a:r>
          </a:p>
          <a:p xmlns:a="http://schemas.openxmlformats.org/drawingml/2006/main">
            <a:r>
              <a:t>This is the strongest concise candidate example from the earlier ordinary reads. Each of the three community readings exceeds every reading of each constituent monoculture on the same plate. Pairwise sample labels do not imply matched independent biological replicates. Show all points as grouped columns to avoid hiding variability in a mean.</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 original plate-2 ordinary CSV and community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Be direct about what makes the candidate useful and what remains unproven. Same-plate comparison avoids a between-plate offset. More species means more starting total biomass under the chosen dosing protocol. No independent repeat or carbon-source attribution is demonstrated. These limitations lead to a focused validation experiment, not abandonment of the project.</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 docs/PROJECT_BRIEF.md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Explain EI as expected improvement, which combines a predicted response and model uncertainty. Posterior mean chooses high predicted response without that uncertainty bonus. Random and max diversity serve different baselines. These are independent training paths but not independent plate-level experiments: one plate per path. Deduplication priority can displace candidates, so the realized batches differ from unconstrained policies.</a:t>
            </a:r>
          </a:p>
          <a:p xmlns:a="http://schemas.openxmlformats.org/drawingml/2006/main">
            <a:r>
              <a:t/>
            </a:r>
          </a:p>
          <a:p xmlns:a="http://schemas.openxmlformats.org/drawingml/2006/main">
            <a:r>
              <a:t>Sources, relative to glycerol_lactate_community/: protocols/echo/acquisition_round_20260909.py; snapshot 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 two models share both max-diversity histories. EI additionally sees only its own previous acquisitions. The posterior-mean model additionally sees only its previous acquisitions. Random outcomes do not train either model. Run-level measurements remain stored; repeats enter model fitting as a median response per composition. Each model has 306 run-level observations covering 252 unique compositions. Median-centering removes each plate typical signal and is not a calibration.</a:t>
            </a:r>
          </a:p>
          <a:p xmlns:a="http://schemas.openxmlformats.org/drawingml/2006/main">
            <a:r>
              <a:t/>
            </a:r>
          </a:p>
          <a:p xmlns:a="http://schemas.openxmlformats.org/drawingml/2006/main">
            <a:r>
              <a:t>Sources, relative to glycerol_lactate_community/: protocols/echo/acquisition_round_20260909.py; snapshot training lineage and model_summary.csv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Use the archived prospective evaluation rather than presenting conditional leave-one-out scores as predictive validation. The correlations use the September 2 stored predictions and September 4 ordinary responses, within each new batch. Restricted score ranges and selection affect these within-batch values. They do not establish that modeling is futile. One plate per path prevents a clean method comparison.</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These are raw culture-well and edge medians for the latest ordinary reads. Exclude all column-1 wells because standards were added there. The user confirmed a 12 mM starting standard in A1, halving down each row. Blank identities and standard/sample assay dilution equivalence remain unconfirmed. The edge reference is descriptive until contents are confirmed. The visual difference is small, but single-well peaks occur. Those peaks alone do not establish candidates.</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ICC is the between-community signal relative to within-community variability in the triplicates. Values near zero mean that community identity explains little of the observed variance in this measurement. September 11 values range 0.016 to 0.073. The rounds contain different compositions, so this is a descriptive reliability comparison, not a matched biological test. A few isolated peaks can distort correlations. Do not attribute the decline to a single cause without logs.</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protocols/echo/readout/04-09/analysis_20260908/findings.md; ordinary reader CSVs in protocols/echo/readout/04-09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
            </a:r>
          </a:p>
          <a:p xmlns:a="http://schemas.openxmlformats.org/drawingml/2006/main">
            <a:r>
              <a:t>The user confirmed one 50 microlitre source fill with no refills. The prior planning check incorrectly assumed a fresh fill before every plate. Seven sources require more than 50 microlitres across the four picklists and nine exceed the old 35-microlitre usable budget. This is a planning-assumption mismatch, not evidence of inaccurate pipetting. Source depletion explains why the complete planned run could not fit the actual loading. The exact failed transfers still require survey and exception reports. Other assay or instrument effects can coexist.</a:t>
            </a:r>
          </a:p>
          <a:p xmlns:a="http://schemas.openxmlformats.org/drawingml/2006/main">
            <a:r>
              <a:t/>
            </a:r>
          </a:p>
          <a:p xmlns:a="http://schemas.openxmlformats.org/drawingml/2006/main">
            <a:r>
              <a:t>Sources, relative to glycerol_lactate_community/: protocols/echo/experiment_setup_output/20260909_paths/20260909T220918_350704Z/12strains/source_demand.csv; user confirmation: no refills and too-little-volume warnings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 minutes.</a:t>
            </a:r>
          </a:p>
          <a:p xmlns:a="http://schemas.openxmlformats.org/drawingml/2006/main">
            <a:r>
              <a:t/>
            </a:r>
          </a:p>
          <a:p xmlns:a="http://schemas.openxmlformats.org/drawingml/2006/main">
            <a:r>
              <a:t>Allow about six minutes. Invite discussion around what will best separate assembly reliability, assay behavior and community function. Do not use the failed round as a low-value label by default. An independent validation of the earlier four-member candidate and constituent monocultures is more interpretable than immediately adding another uncertain acquisition plate. Present this as a proposed priority, not an executed experiment.</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protocols/echo/readout/04-09/analysis_20260908/findings.md; ordinary reader CSVs in protocols/echo/readout/04-09; docs/PROJECT_BRIEF.md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minutes.</a:t>
            </a:r>
          </a:p>
          <a:p xmlns:a="http://schemas.openxmlformats.org/drawingml/2006/main">
            <a:r>
              <a:t/>
            </a:r>
          </a:p>
          <a:p xmlns:a="http://schemas.openxmlformats.org/drawingml/2006/main">
            <a:r>
              <a:t>User-confirmed standards start at 12 mM in A1 and halve in every successive row. Show the first eight levels, equally spaced by dilution step rather than by linear concentration. Lower levels approach the background and can be affected by row position. These standards show assay response, but do not identify failed communities. No zero standard or sample-dilution equivalence has been specified, so concentrations for cultures are not reported.</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user-confirmed standard concentrations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minutes.</a:t>
            </a:r>
          </a:p>
          <a:p xmlns:a="http://schemas.openxmlformats.org/drawingml/2006/main">
            <a:r>
              <a:t/>
            </a:r>
          </a:p>
          <a:p xmlns:a="http://schemas.openxmlformats.org/drawingml/2006/main">
            <a:r>
              <a:t>This table preserves the source order used at the bench. The remaining-volume column assumes a new 50 microlitre fill before every plate. The cumulative demand column assumes executing all four commanded picklists, whether or not the instrument actually completed them. Do not interpret negative theoretical remainder as an observed physical volume.</a:t>
            </a:r>
          </a:p>
          <a:p xmlns:a="http://schemas.openxmlformats.org/drawingml/2006/main">
            <a:r>
              <a:t/>
            </a:r>
          </a:p>
          <a:p xmlns:a="http://schemas.openxmlformats.org/drawingml/2006/main">
            <a:r>
              <a:t>Sources, relative to glycerol_lactate_community/: protocols/echo/experiment_setup_output/20260909_paths/20260909T220918_350704Z/12strains/source_demand.csv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a655f66db340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6fe2d59c4948dc" /><Relationship Type="http://schemas.openxmlformats.org/officeDocument/2006/relationships/slideLayout" Target="/ppt/slideLayouts/slideLayout1.xml" Id="R82b05cfc0d6044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b05cfc0d6044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7a73f15eba44e5" /><Relationship Type="http://schemas.openxmlformats.org/officeDocument/2006/relationships/notesSlide" Target="/ppt/notesSlides/notesSlide1.xml" Id="Radc462d9911d4d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ffd1e19ac44ad3" /><Relationship Type="http://schemas.openxmlformats.org/officeDocument/2006/relationships/notesSlide" Target="/ppt/notesSlides/notesSlide2.xml" Id="R30c17b22fc6245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35c40bfe7c431e" /><Relationship Type="http://schemas.openxmlformats.org/officeDocument/2006/relationships/chart" Target="/ppt/slides/charts/chart1.xml" Id="Rf77cec6666b44cbb" /><Relationship Type="http://schemas.openxmlformats.org/officeDocument/2006/relationships/notesSlide" Target="/ppt/notesSlides/notesSlide3.xml" Id="Re16e2566593044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762b3073e94ebd" /><Relationship Type="http://schemas.openxmlformats.org/officeDocument/2006/relationships/notesSlide" Target="/ppt/notesSlides/notesSlide4.xml" Id="R18020195eaf841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e807efaa3c42b4" /><Relationship Type="http://schemas.openxmlformats.org/officeDocument/2006/relationships/notesSlide" Target="/ppt/notesSlides/notesSlide5.xml" Id="Rc08004a58a9b4d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8d5ca52598476a" /><Relationship Type="http://schemas.openxmlformats.org/officeDocument/2006/relationships/notesSlide" Target="/ppt/notesSlides/notesSlide6.xml" Id="Rc09257e8996241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8ad6cf21e84693" /><Relationship Type="http://schemas.openxmlformats.org/officeDocument/2006/relationships/notesSlide" Target="/ppt/notesSlides/notesSlide7.xml" Id="Rab1ae25677c842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816b75d34e47a2" /><Relationship Type="http://schemas.openxmlformats.org/officeDocument/2006/relationships/chart" Target="/ppt/slides/charts/chart2.xml" Id="Racfe12b840bb47a5" /><Relationship Type="http://schemas.openxmlformats.org/officeDocument/2006/relationships/notesSlide" Target="/ppt/notesSlides/notesSlide8.xml" Id="R9e6fc64ea9594a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174b5399c3409b" /><Relationship Type="http://schemas.openxmlformats.org/officeDocument/2006/relationships/notesSlide" Target="/ppt/notesSlides/notesSlide9.xml" Id="Rfbc5b615446b48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734cb91fdd94071" /><Relationship Type="http://schemas.openxmlformats.org/officeDocument/2006/relationships/notesSlide" Target="/ppt/notesSlides/notesSlide10.xml" Id="R31184dc843954c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d0af38ec12a4204" /><Relationship Type="http://schemas.openxmlformats.org/officeDocument/2006/relationships/notesSlide" Target="/ppt/notesSlides/notesSlide11.xml" Id="R65cbb10c78aa46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696c35bea246cd" /><Relationship Type="http://schemas.openxmlformats.org/officeDocument/2006/relationships/chart" Target="/ppt/slides/charts/chart3.xml" Id="R423e7a54b2124125" /><Relationship Type="http://schemas.openxmlformats.org/officeDocument/2006/relationships/notesSlide" Target="/ppt/notesSlides/notesSlide12.xml" Id="R32934f5ffae34a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c83c3cb988f40c3" /><Relationship Type="http://schemas.openxmlformats.org/officeDocument/2006/relationships/chart" Target="/ppt/slides/charts/chart4.xml" Id="R90b119351c4c4a2f" /><Relationship Type="http://schemas.openxmlformats.org/officeDocument/2006/relationships/notesSlide" Target="/ppt/notesSlides/notesSlide13.xml" Id="Rac13aa29f10e4f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ec74d3960254047" /><Relationship Type="http://schemas.openxmlformats.org/officeDocument/2006/relationships/chart" Target="/ppt/slides/charts/chart5.xml" Id="R60d26ead3e26466d" /><Relationship Type="http://schemas.openxmlformats.org/officeDocument/2006/relationships/notesSlide" Target="/ppt/notesSlides/notesSlide14.xml" Id="R7555fef158d640a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147d348264e4a53" /><Relationship Type="http://schemas.openxmlformats.org/officeDocument/2006/relationships/chart" Target="/ppt/slides/charts/chart6.xml" Id="R73bfa4912d23418c" /><Relationship Type="http://schemas.openxmlformats.org/officeDocument/2006/relationships/notesSlide" Target="/ppt/notesSlides/notesSlide15.xml" Id="R4509ce424119429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9e1dbbdbe7a4426" /><Relationship Type="http://schemas.openxmlformats.org/officeDocument/2006/relationships/notesSlide" Target="/ppt/notesSlides/notesSlide16.xml" Id="Re1cfae134e5546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fbee24567a64792" /><Relationship Type="http://schemas.openxmlformats.org/officeDocument/2006/relationships/chart" Target="/ppt/slides/charts/chart7.xml" Id="R4ce0e5100ddb4b8c" /><Relationship Type="http://schemas.openxmlformats.org/officeDocument/2006/relationships/notesSlide" Target="/ppt/notesSlides/notesSlide17.xml" Id="R74bdf2c06eb9451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6be6dfa84b443c3" /><Relationship Type="http://schemas.openxmlformats.org/officeDocument/2006/relationships/notesSlide" Target="/ppt/notesSlides/notesSlide18.xml" Id="R615d4ba1f5d343f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Genomes with a sequence call</c:v>
          </c:tx>
          <c:spPr>
            <a:solidFill xmlns:a="http://schemas.openxmlformats.org/drawingml/2006/main">
              <a:srgbClr val="266B9B"/>
            </a:solidFill>
          </c:spPr>
          <c:cat>
            <c:strRef>
              <c:f>'Chart Data'!$A$2:$A$4</c:f>
              <c:strCache>
                <c:ptCount val="3"/>
                <c:pt idx="0">
                  <c:v>L-LDH candidate</c:v>
                </c:pt>
                <c:pt idx="1">
                  <c:v>D-LDH candidate</c:v>
                </c:pt>
                <c:pt idx="2">
                  <c:v>Lactate oxidation
LLDD class</c:v>
                </c:pt>
              </c:strCache>
            </c:strRef>
          </c:cat>
          <c:val>
            <c:numRef>
              <c:f>'Chart Data'!$B$2:$B$4</c:f>
              <c:numCache>
                <c:formatCode>0</c:formatCode>
                <c:ptCount val="3"/>
                <c:pt idx="0">
                  <c:v>147</c:v>
                </c:pt>
                <c:pt idx="1">
                  <c:v>206</c:v>
                </c:pt>
                <c:pt idx="2">
                  <c:v>352</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400"/>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Genomes, out of 384</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Technical well 1</c:v>
          </c:tx>
          <c:spPr>
            <a:solidFill xmlns:a="http://schemas.openxmlformats.org/drawingml/2006/main">
              <a:srgbClr val="266B9B"/>
            </a:solidFill>
          </c:spPr>
          <c:cat>
            <c:strRef>
              <c:f>'Chart Data'!$A$2:$A$6</c:f>
              <c:strCache>
                <c:ptCount val="5"/>
                <c:pt idx="0">
                  <c:v>294</c:v>
                </c:pt>
                <c:pt idx="1">
                  <c:v>196</c:v>
                </c:pt>
                <c:pt idx="2">
                  <c:v>291</c:v>
                </c:pt>
                <c:pt idx="3">
                  <c:v>264</c:v>
                </c:pt>
                <c:pt idx="4">
                  <c:v>4-member
community</c:v>
                </c:pt>
              </c:strCache>
            </c:strRef>
          </c:cat>
          <c:val>
            <c:numRef>
              <c:f>'Chart Data'!$B$2:$B$6</c:f>
              <c:numCache>
                <c:formatCode>0.00</c:formatCode>
                <c:ptCount val="5"/>
                <c:pt idx="0">
                  <c:v>0.196</c:v>
                </c:pt>
                <c:pt idx="1">
                  <c:v>0.09</c:v>
                </c:pt>
                <c:pt idx="2">
                  <c:v>0.088</c:v>
                </c:pt>
                <c:pt idx="3">
                  <c:v>0.099</c:v>
                </c:pt>
                <c:pt idx="4">
                  <c:v>0.529</c:v>
                </c:pt>
              </c:numCache>
            </c:numRef>
          </c:val>
        </c:ser>
        <c:ser>
          <c:idx val="1"/>
          <c:order val="1"/>
          <c:tx>
            <c:v>Technical well 2</c:v>
          </c:tx>
          <c:spPr>
            <a:solidFill xmlns:a="http://schemas.openxmlformats.org/drawingml/2006/main">
              <a:srgbClr val="398271"/>
            </a:solidFill>
          </c:spPr>
          <c:cat>
            <c:strRef>
              <c:f>'Chart Data'!$C$2:$C$6</c:f>
              <c:strCache>
                <c:ptCount val="5"/>
                <c:pt idx="0">
                  <c:v>294</c:v>
                </c:pt>
                <c:pt idx="1">
                  <c:v>196</c:v>
                </c:pt>
                <c:pt idx="2">
                  <c:v>291</c:v>
                </c:pt>
                <c:pt idx="3">
                  <c:v>264</c:v>
                </c:pt>
                <c:pt idx="4">
                  <c:v>4-member
community</c:v>
                </c:pt>
              </c:strCache>
            </c:strRef>
          </c:cat>
          <c:val>
            <c:numRef>
              <c:f>'Chart Data'!$D$2:$D$6</c:f>
              <c:numCache>
                <c:formatCode>0.00</c:formatCode>
                <c:ptCount val="5"/>
                <c:pt idx="0">
                  <c:v>0.133</c:v>
                </c:pt>
                <c:pt idx="1">
                  <c:v>0.09</c:v>
                </c:pt>
                <c:pt idx="2">
                  <c:v>0.102</c:v>
                </c:pt>
                <c:pt idx="3">
                  <c:v>0.144</c:v>
                </c:pt>
                <c:pt idx="4">
                  <c:v>0.573</c:v>
                </c:pt>
              </c:numCache>
            </c:numRef>
          </c:val>
        </c:ser>
        <c:ser>
          <c:idx val="2"/>
          <c:order val="2"/>
          <c:tx>
            <c:v>Technical well 3</c:v>
          </c:tx>
          <c:spPr>
            <a:solidFill xmlns:a="http://schemas.openxmlformats.org/drawingml/2006/main">
              <a:srgbClr val="B77B28"/>
            </a:solidFill>
          </c:spPr>
          <c:cat>
            <c:strRef>
              <c:f>'Chart Data'!$E$2:$E$6</c:f>
              <c:strCache>
                <c:ptCount val="5"/>
                <c:pt idx="0">
                  <c:v>294</c:v>
                </c:pt>
                <c:pt idx="1">
                  <c:v>196</c:v>
                </c:pt>
                <c:pt idx="2">
                  <c:v>291</c:v>
                </c:pt>
                <c:pt idx="3">
                  <c:v>264</c:v>
                </c:pt>
                <c:pt idx="4">
                  <c:v>4-member
community</c:v>
                </c:pt>
              </c:strCache>
            </c:strRef>
          </c:cat>
          <c:val>
            <c:numRef>
              <c:f>'Chart Data'!$F$2:$F$6</c:f>
              <c:numCache>
                <c:formatCode>0.00</c:formatCode>
                <c:ptCount val="5"/>
                <c:pt idx="0">
                  <c:v>0.258</c:v>
                </c:pt>
                <c:pt idx="1">
                  <c:v>0.096</c:v>
                </c:pt>
                <c:pt idx="2">
                  <c:v>0.099</c:v>
                </c:pt>
                <c:pt idx="3">
                  <c:v>0.19</c:v>
                </c:pt>
                <c:pt idx="4">
                  <c:v>0.777</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8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Prospective Spearman correlation</c:v>
          </c:tx>
          <c:spPr>
            <a:solidFill xmlns:a="http://schemas.openxmlformats.org/drawingml/2006/main">
              <a:srgbClr val="266B9B"/>
            </a:solidFill>
          </c:spPr>
          <c:invertIfNegative val="0"/>
          <c:cat>
            <c:strRef>
              <c:f>'Chart Data'!$A$2:$A$4</c:f>
              <c:strCache>
                <c:ptCount val="3"/>
                <c:pt idx="0">
                  <c:v>EI batch</c:v>
                </c:pt>
                <c:pt idx="1">
                  <c:v>Posterior-mean batch</c:v>
                </c:pt>
                <c:pt idx="2">
                  <c:v>Random batch</c:v>
                </c:pt>
              </c:strCache>
            </c:strRef>
          </c:cat>
          <c:val>
            <c:numRef>
              <c:f>'Chart Data'!$B$2:$B$4</c:f>
              <c:numCache>
                <c:formatCode>0.00</c:formatCode>
                <c:ptCount val="3"/>
                <c:pt idx="0">
                  <c:v>-0.131</c:v>
                </c:pt>
                <c:pt idx="1">
                  <c:v>-0.13</c:v>
                </c:pt>
                <c:pt idx="2">
                  <c:v>0.146</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2"/>
          <c:min val="-0.2"/>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Prediction versus observed rank</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Culture wells</c:v>
          </c:tx>
          <c:spPr>
            <a:solidFill xmlns:a="http://schemas.openxmlformats.org/drawingml/2006/main">
              <a:srgbClr val="266B9B"/>
            </a:solidFill>
          </c:spPr>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0.107</c:v>
                </c:pt>
                <c:pt idx="1">
                  <c:v>0.101</c:v>
                </c:pt>
                <c:pt idx="2">
                  <c:v>0.098</c:v>
                </c:pt>
                <c:pt idx="3">
                  <c:v>0.094</c:v>
                </c:pt>
              </c:numCache>
            </c:numRef>
          </c:val>
        </c:ser>
        <c:ser>
          <c:idx val="1"/>
          <c:order val="1"/>
          <c:tx>
            <c:v>Edge reference, excluding column 1</c:v>
          </c:tx>
          <c:spPr>
            <a:solidFill xmlns:a="http://schemas.openxmlformats.org/drawingml/2006/main">
              <a:srgbClr val="A3AFB7"/>
            </a:solidFill>
          </c:spPr>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0.107</c:v>
                </c:pt>
                <c:pt idx="1">
                  <c:v>0.1005</c:v>
                </c:pt>
                <c:pt idx="2">
                  <c:v>0.097</c:v>
                </c:pt>
                <c:pt idx="3">
                  <c:v>0.0985</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1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Median 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4 September</c:v>
          </c:tx>
          <c:spPr>
            <a:solidFill xmlns:a="http://schemas.openxmlformats.org/drawingml/2006/main">
              <a:srgbClr val="266B9B"/>
            </a:solidFill>
          </c:spPr>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0.041965</c:v>
                </c:pt>
                <c:pt idx="1">
                  <c:v>0.408438</c:v>
                </c:pt>
                <c:pt idx="2">
                  <c:v>0.359174</c:v>
                </c:pt>
                <c:pt idx="3">
                  <c:v>0.081067</c:v>
                </c:pt>
              </c:numCache>
            </c:numRef>
          </c:val>
        </c:ser>
        <c:ser>
          <c:idx val="1"/>
          <c:order val="1"/>
          <c:tx>
            <c:v>11 September</c:v>
          </c:tx>
          <c:spPr>
            <a:solidFill xmlns:a="http://schemas.openxmlformats.org/drawingml/2006/main">
              <a:srgbClr val="B77B28"/>
            </a:solidFill>
          </c:spPr>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0.015601</c:v>
                </c:pt>
                <c:pt idx="1">
                  <c:v>0.073463</c:v>
                </c:pt>
                <c:pt idx="2">
                  <c:v>0.036827</c:v>
                </c:pt>
                <c:pt idx="3">
                  <c:v>0.039939</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Triplicate ICC(1,1)</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Commanded demand across all four plates</c:v>
          </c:tx>
          <c:spPr>
            <a:solidFill xmlns:a="http://schemas.openxmlformats.org/drawingml/2006/main">
              <a:srgbClr val="266B9B"/>
            </a:solidFill>
          </c:spPr>
          <c:cat>
            <c:numRef>
              <c:f>'Chart Data'!$A$2:$A$13</c:f>
              <c:numCache>
                <c:formatCode>General</c:formatCode>
                <c:ptCount val="12"/>
                <c:pt idx="0">
                  <c:v>256</c:v>
                </c:pt>
                <c:pt idx="1">
                  <c:v>75</c:v>
                </c:pt>
                <c:pt idx="2">
                  <c:v>269</c:v>
                </c:pt>
                <c:pt idx="3">
                  <c:v>294</c:v>
                </c:pt>
                <c:pt idx="4">
                  <c:v>275</c:v>
                </c:pt>
                <c:pt idx="5">
                  <c:v>41</c:v>
                </c:pt>
                <c:pt idx="6">
                  <c:v>158</c:v>
                </c:pt>
                <c:pt idx="7">
                  <c:v>145</c:v>
                </c:pt>
                <c:pt idx="8">
                  <c:v>200</c:v>
                </c:pt>
                <c:pt idx="9">
                  <c:v>196</c:v>
                </c:pt>
                <c:pt idx="10">
                  <c:v>291</c:v>
                </c:pt>
                <c:pt idx="11">
                  <c:v>264</c:v>
                </c:pt>
              </c:numCache>
            </c:numRef>
          </c:cat>
          <c:val>
            <c:numRef>
              <c:f>'Chart Data'!$B$2:$B$13</c:f>
              <c:numCache>
                <c:formatCode>0.00</c:formatCode>
                <c:ptCount val="12"/>
                <c:pt idx="0">
                  <c:v>55.125</c:v>
                </c:pt>
                <c:pt idx="1">
                  <c:v>28.575</c:v>
                </c:pt>
                <c:pt idx="2">
                  <c:v>55.125</c:v>
                </c:pt>
                <c:pt idx="3">
                  <c:v>56.475</c:v>
                </c:pt>
                <c:pt idx="4">
                  <c:v>45.9</c:v>
                </c:pt>
                <c:pt idx="5">
                  <c:v>26.325</c:v>
                </c:pt>
                <c:pt idx="6">
                  <c:v>31.275</c:v>
                </c:pt>
                <c:pt idx="7">
                  <c:v>38.475</c:v>
                </c:pt>
                <c:pt idx="8">
                  <c:v>56.025</c:v>
                </c:pt>
                <c:pt idx="9">
                  <c:v>70.8</c:v>
                </c:pt>
                <c:pt idx="10">
                  <c:v>56.1</c:v>
                </c:pt>
                <c:pt idx="11">
                  <c:v>61.875</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80"/>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Total commanded transfer, µL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Plate 1</c:v>
          </c:tx>
          <c:spPr>
            <a:ln xmlns:a="http://schemas.openxmlformats.org/drawingml/2006/main" w="28575">
              <a:solidFill>
                <a:srgbClr val="266B9B"/>
              </a:solidFill>
            </a:ln>
          </c:spPr>
          <c:marker>
            <c:symbol val="circle"/>
            <c:size val="5"/>
            <c:spPr>
              <a:solidFill xmlns:a="http://schemas.openxmlformats.org/drawingml/2006/main">
                <a:srgbClr val="266B9B"/>
              </a:solidFill>
            </c:spPr>
          </c:marker>
          <c:cat>
            <c:numRef>
              <c:f>'Chart Data'!$A$2:$A$9</c:f>
              <c:numCache>
                <c:formatCode>General</c:formatCode>
                <c:ptCount val="8"/>
                <c:pt idx="0">
                  <c:v>12</c:v>
                </c:pt>
                <c:pt idx="1">
                  <c:v>6</c:v>
                </c:pt>
                <c:pt idx="2">
                  <c:v>3</c:v>
                </c:pt>
                <c:pt idx="3">
                  <c:v>1.5</c:v>
                </c:pt>
                <c:pt idx="4">
                  <c:v>0.75</c:v>
                </c:pt>
                <c:pt idx="5">
                  <c:v>0.375</c:v>
                </c:pt>
                <c:pt idx="6">
                  <c:v>0.1875</c:v>
                </c:pt>
                <c:pt idx="7">
                  <c:v>0.09375</c:v>
                </c:pt>
              </c:numCache>
            </c:numRef>
          </c:cat>
          <c:val>
            <c:numRef>
              <c:f>'Chart Data'!$B$2:$B$9</c:f>
              <c:numCache>
                <c:formatCode>0.00</c:formatCode>
                <c:ptCount val="8"/>
                <c:pt idx="0">
                  <c:v>0.176</c:v>
                </c:pt>
                <c:pt idx="1">
                  <c:v>0.137</c:v>
                </c:pt>
                <c:pt idx="2">
                  <c:v>0.113</c:v>
                </c:pt>
                <c:pt idx="3">
                  <c:v>0.098</c:v>
                </c:pt>
                <c:pt idx="4">
                  <c:v>0.099</c:v>
                </c:pt>
                <c:pt idx="5">
                  <c:v>0.096</c:v>
                </c:pt>
                <c:pt idx="6">
                  <c:v>0.097</c:v>
                </c:pt>
                <c:pt idx="7">
                  <c:v>0.096</c:v>
                </c:pt>
              </c:numCache>
            </c:numRef>
          </c:val>
          <c:smooth val="0"/>
        </c:ser>
        <c:ser>
          <c:idx val="1"/>
          <c:order val="1"/>
          <c:tx>
            <c:v>Plate 2</c:v>
          </c:tx>
          <c:spPr>
            <a:ln xmlns:a="http://schemas.openxmlformats.org/drawingml/2006/main" w="28575">
              <a:solidFill>
                <a:srgbClr val="B77B28"/>
              </a:solidFill>
            </a:ln>
          </c:spPr>
          <c:marker>
            <c:symbol val="circle"/>
            <c:size val="5"/>
            <c:spPr>
              <a:solidFill xmlns:a="http://schemas.openxmlformats.org/drawingml/2006/main">
                <a:srgbClr val="B77B28"/>
              </a:solidFill>
            </c:spPr>
          </c:marker>
          <c:cat>
            <c:numRef>
              <c:f>'Chart Data'!$C$2:$C$9</c:f>
              <c:numCache>
                <c:formatCode>General</c:formatCode>
                <c:ptCount val="8"/>
                <c:pt idx="0">
                  <c:v>12</c:v>
                </c:pt>
                <c:pt idx="1">
                  <c:v>6</c:v>
                </c:pt>
                <c:pt idx="2">
                  <c:v>3</c:v>
                </c:pt>
                <c:pt idx="3">
                  <c:v>1.5</c:v>
                </c:pt>
                <c:pt idx="4">
                  <c:v>0.75</c:v>
                </c:pt>
                <c:pt idx="5">
                  <c:v>0.375</c:v>
                </c:pt>
                <c:pt idx="6">
                  <c:v>0.1875</c:v>
                </c:pt>
                <c:pt idx="7">
                  <c:v>0.09375</c:v>
                </c:pt>
              </c:numCache>
            </c:numRef>
          </c:cat>
          <c:val>
            <c:numRef>
              <c:f>'Chart Data'!$D$2:$D$9</c:f>
              <c:numCache>
                <c:formatCode>0.00</c:formatCode>
                <c:ptCount val="8"/>
                <c:pt idx="0">
                  <c:v>0.141</c:v>
                </c:pt>
                <c:pt idx="1">
                  <c:v>0.138</c:v>
                </c:pt>
                <c:pt idx="2">
                  <c:v>0.108</c:v>
                </c:pt>
                <c:pt idx="3">
                  <c:v>0.104</c:v>
                </c:pt>
                <c:pt idx="4">
                  <c:v>0.099</c:v>
                </c:pt>
                <c:pt idx="5">
                  <c:v>0.092</c:v>
                </c:pt>
                <c:pt idx="6">
                  <c:v>0.086</c:v>
                </c:pt>
                <c:pt idx="7">
                  <c:v>0.092</c:v>
                </c:pt>
              </c:numCache>
            </c:numRef>
          </c:val>
          <c:smooth val="0"/>
        </c:ser>
        <c:ser>
          <c:idx val="2"/>
          <c:order val="2"/>
          <c:tx>
            <c:v>Plate 3</c:v>
          </c:tx>
          <c:spPr>
            <a:ln xmlns:a="http://schemas.openxmlformats.org/drawingml/2006/main" w="28575">
              <a:solidFill>
                <a:srgbClr val="8063A9"/>
              </a:solidFill>
            </a:ln>
          </c:spPr>
          <c:marker>
            <c:symbol val="circle"/>
            <c:size val="5"/>
            <c:spPr>
              <a:solidFill xmlns:a="http://schemas.openxmlformats.org/drawingml/2006/main">
                <a:srgbClr val="8063A9"/>
              </a:solidFill>
            </c:spPr>
          </c:marker>
          <c:cat>
            <c:numRef>
              <c:f>'Chart Data'!$E$2:$E$9</c:f>
              <c:numCache>
                <c:formatCode>General</c:formatCode>
                <c:ptCount val="8"/>
                <c:pt idx="0">
                  <c:v>12</c:v>
                </c:pt>
                <c:pt idx="1">
                  <c:v>6</c:v>
                </c:pt>
                <c:pt idx="2">
                  <c:v>3</c:v>
                </c:pt>
                <c:pt idx="3">
                  <c:v>1.5</c:v>
                </c:pt>
                <c:pt idx="4">
                  <c:v>0.75</c:v>
                </c:pt>
                <c:pt idx="5">
                  <c:v>0.375</c:v>
                </c:pt>
                <c:pt idx="6">
                  <c:v>0.1875</c:v>
                </c:pt>
                <c:pt idx="7">
                  <c:v>0.09375</c:v>
                </c:pt>
              </c:numCache>
            </c:numRef>
          </c:cat>
          <c:val>
            <c:numRef>
              <c:f>'Chart Data'!$F$2:$F$9</c:f>
              <c:numCache>
                <c:formatCode>0.00</c:formatCode>
                <c:ptCount val="8"/>
                <c:pt idx="0">
                  <c:v>0.147</c:v>
                </c:pt>
                <c:pt idx="1">
                  <c:v>0.133</c:v>
                </c:pt>
                <c:pt idx="2">
                  <c:v>0.103</c:v>
                </c:pt>
                <c:pt idx="3">
                  <c:v>0.1</c:v>
                </c:pt>
                <c:pt idx="4">
                  <c:v>0.092</c:v>
                </c:pt>
                <c:pt idx="5">
                  <c:v>0.083</c:v>
                </c:pt>
                <c:pt idx="6">
                  <c:v>0.085</c:v>
                </c:pt>
                <c:pt idx="7">
                  <c:v>0.118</c:v>
                </c:pt>
              </c:numCache>
            </c:numRef>
          </c:val>
          <c:smooth val="0"/>
        </c:ser>
        <c:ser>
          <c:idx val="3"/>
          <c:order val="3"/>
          <c:tx>
            <c:v>Plate 4</c:v>
          </c:tx>
          <c:spPr>
            <a:ln xmlns:a="http://schemas.openxmlformats.org/drawingml/2006/main" w="28575">
              <a:solidFill>
                <a:srgbClr val="398271"/>
              </a:solidFill>
            </a:ln>
          </c:spPr>
          <c:marker>
            <c:symbol val="circle"/>
            <c:size val="5"/>
            <c:spPr>
              <a:solidFill xmlns:a="http://schemas.openxmlformats.org/drawingml/2006/main">
                <a:srgbClr val="398271"/>
              </a:solidFill>
            </c:spPr>
          </c:marker>
          <c:cat>
            <c:numRef>
              <c:f>'Chart Data'!$G$2:$G$9</c:f>
              <c:numCache>
                <c:formatCode>General</c:formatCode>
                <c:ptCount val="8"/>
                <c:pt idx="0">
                  <c:v>12</c:v>
                </c:pt>
                <c:pt idx="1">
                  <c:v>6</c:v>
                </c:pt>
                <c:pt idx="2">
                  <c:v>3</c:v>
                </c:pt>
                <c:pt idx="3">
                  <c:v>1.5</c:v>
                </c:pt>
                <c:pt idx="4">
                  <c:v>0.75</c:v>
                </c:pt>
                <c:pt idx="5">
                  <c:v>0.375</c:v>
                </c:pt>
                <c:pt idx="6">
                  <c:v>0.1875</c:v>
                </c:pt>
                <c:pt idx="7">
                  <c:v>0.09375</c:v>
                </c:pt>
              </c:numCache>
            </c:numRef>
          </c:cat>
          <c:val>
            <c:numRef>
              <c:f>'Chart Data'!$H$2:$H$9</c:f>
              <c:numCache>
                <c:formatCode>0.00</c:formatCode>
                <c:ptCount val="8"/>
                <c:pt idx="0">
                  <c:v>0.142</c:v>
                </c:pt>
                <c:pt idx="1">
                  <c:v>0.12</c:v>
                </c:pt>
                <c:pt idx="2">
                  <c:v>0.1</c:v>
                </c:pt>
                <c:pt idx="3">
                  <c:v>0.089</c:v>
                </c:pt>
                <c:pt idx="4">
                  <c:v>0.089</c:v>
                </c:pt>
                <c:pt idx="5">
                  <c:v>0.08</c:v>
                </c:pt>
                <c:pt idx="6">
                  <c:v>0.082</c:v>
                </c:pt>
                <c:pt idx="7">
                  <c:v>0.086</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2"/>
          <c:min val="0.05"/>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964F1B9-313F-4FED-8043-81856479A43F}"/>
              </a:ext>
            </a:extLst>
          </p:cNvPr>
          <p:cNvSpPr>
            <a:spLocks xmlns:a="http://schemas.openxmlformats.org/drawingml/2006/main" noGrp="1"/>
          </p:cNvSpPr>
          <p:nvPr/>
        </p:nvSpPr>
        <p:spPr>
          <a:xfrm xmlns:a="http://schemas.openxmlformats.org/drawingml/2006/main">
            <a:off x="685800" y="1381125"/>
            <a:ext cx="10715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Learning microbial community</a:t>
            </a:r>
          </a:p>
          <a:p xmlns:a="http://schemas.openxmlformats.org/drawingml/2006/main">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function on crude glycerol</a:t>
            </a:r>
          </a:p>
        </p:txBody>
      </p:sp>
      <p:sp>
        <p:nvSpPr>
          <p:cNvPr id="2" name="">
            <a:extLst xmlns:a="http://schemas.openxmlformats.org/drawingml/2006/main">
              <a:ext uri="{FF2B5EF4-FFF2-40B4-BE49-F238E27FC236}">
                <a16:creationId xmlns:a16="http://schemas.microsoft.com/office/drawing/2014/main" id="{DAB44F1F-4970-4F55-BDAC-4A664F7D4301}"/>
              </a:ext>
            </a:extLst>
          </p:cNvPr>
          <p:cNvSpPr>
            <a:spLocks xmlns:a="http://schemas.openxmlformats.org/drawingml/2006/main" noGrp="1"/>
          </p:cNvSpPr>
          <p:nvPr/>
        </p:nvSpPr>
        <p:spPr>
          <a:xfrm xmlns:a="http://schemas.openxmlformats.org/drawingml/2006/main">
            <a:off x="723900" y="33432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6574"/>
                </a:solidFill>
                <a:latin typeface="Helvetica Neue"/>
                <a:ea typeface="Helvetica Neue"/>
                <a:cs typeface="Helvetica Neue"/>
              </a:defRPr>
            </a:pPr>
            <a:r>
              <a:rPr sz="2250" b="0">
                <a:solidFill>
                  <a:srgbClr val="506574"/>
                </a:solidFill>
                <a:latin typeface="Helvetica Neue"/>
                <a:ea typeface="Helvetica Neue"/>
                <a:cs typeface="Helvetica Neue"/>
              </a:rPr>
              <a:t>Genome-guided strain selection and adaptive L-lactate screening</a:t>
            </a:r>
          </a:p>
        </p:txBody>
      </p:sp>
      <p:sp>
        <p:nvSpPr>
          <p:cNvPr id="3" name="">
            <a:extLst xmlns:a="http://schemas.openxmlformats.org/drawingml/2006/main">
              <a:ext uri="{FF2B5EF4-FFF2-40B4-BE49-F238E27FC236}">
                <a16:creationId xmlns:a16="http://schemas.microsoft.com/office/drawing/2014/main" id="{478061CA-E865-447F-BEFD-2DCB5E1C4AEC}"/>
              </a:ext>
            </a:extLst>
          </p:cNvPr>
          <p:cNvSpPr>
            <a:spLocks xmlns:a="http://schemas.openxmlformats.org/drawingml/2006/main" noGrp="1"/>
          </p:cNvSpPr>
          <p:nvPr/>
        </p:nvSpPr>
        <p:spPr>
          <a:xfrm xmlns:a="http://schemas.openxmlformats.org/drawingml/2006/main">
            <a:off x="723900" y="4857750"/>
            <a:ext cx="904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Magnus Ohle</a:t>
            </a:r>
          </a:p>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Master’s research update</a:t>
            </a:r>
          </a:p>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13 September 2026</a:t>
            </a:r>
          </a:p>
        </p:txBody>
      </p:sp>
    </p:spTree>
    <p:extLst>
      <p:ext uri="{BB962C8B-B14F-4D97-AF65-F5344CB8AC3E}">
        <p14:creationId xmlns:p14="http://schemas.microsoft.com/office/powerpoint/2010/main" val="14133957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113B0B-7A66-4234-81B9-170B02D5D25B}"/>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Research question</a:t>
            </a:r>
          </a:p>
        </p:txBody>
      </p:sp>
      <p:sp>
        <p:nvSpPr>
          <p:cNvPr id="2" name="">
            <a:extLst xmlns:a="http://schemas.openxmlformats.org/drawingml/2006/main">
              <a:ext uri="{FF2B5EF4-FFF2-40B4-BE49-F238E27FC236}">
                <a16:creationId xmlns:a16="http://schemas.microsoft.com/office/drawing/2014/main" id="{943F66BB-6242-4445-8C44-069E6CBAD1A0}"/>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2</a:t>
            </a:r>
          </a:p>
        </p:txBody>
      </p:sp>
      <p:sp>
        <p:nvSpPr>
          <p:cNvPr id="3" name="">
            <a:extLst xmlns:a="http://schemas.openxmlformats.org/drawingml/2006/main">
              <a:ext uri="{FF2B5EF4-FFF2-40B4-BE49-F238E27FC236}">
                <a16:creationId xmlns:a16="http://schemas.microsoft.com/office/drawing/2014/main" id="{0524910E-AAA6-475D-A775-4BAF4E7830F4}"/>
              </a:ext>
            </a:extLst>
          </p:cNvPr>
          <p:cNvSpPr>
            <a:spLocks xmlns:a="http://schemas.openxmlformats.org/drawingml/2006/main" noGrp="1"/>
          </p:cNvSpPr>
          <p:nvPr/>
        </p:nvSpPr>
        <p:spPr>
          <a:xfrm xmlns:a="http://schemas.openxmlformats.org/drawingml/2006/main">
            <a:off x="704850" y="1743075"/>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Can community composition improve</a:t>
            </a:r>
          </a:p>
          <a:p xmlns:a="http://schemas.openxmlformats.org/drawingml/2006/main">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L-lactate accumulation on crude-glycerol medium?</a:t>
            </a:r>
          </a:p>
        </p:txBody>
      </p:sp>
      <p:sp>
        <p:nvSpPr>
          <p:cNvPr id="4" name="">
            <a:extLst xmlns:a="http://schemas.openxmlformats.org/drawingml/2006/main">
              <a:ext uri="{FF2B5EF4-FFF2-40B4-BE49-F238E27FC236}">
                <a16:creationId xmlns:a16="http://schemas.microsoft.com/office/drawing/2014/main" id="{633A61BF-01E5-4750-AD27-3CC2EB58A806}"/>
              </a:ext>
            </a:extLst>
          </p:cNvPr>
          <p:cNvSpPr>
            <a:spLocks xmlns:a="http://schemas.openxmlformats.org/drawingml/2006/main" noGrp="1"/>
          </p:cNvSpPr>
          <p:nvPr/>
        </p:nvSpPr>
        <p:spPr>
          <a:xfrm xmlns:a="http://schemas.openxmlformats.org/drawingml/2006/main">
            <a:off x="704850" y="33909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Biological question</a:t>
            </a:r>
          </a:p>
        </p:txBody>
      </p:sp>
      <p:sp>
        <p:nvSpPr>
          <p:cNvPr id="5" name="">
            <a:extLst xmlns:a="http://schemas.openxmlformats.org/drawingml/2006/main">
              <a:ext uri="{FF2B5EF4-FFF2-40B4-BE49-F238E27FC236}">
                <a16:creationId xmlns:a16="http://schemas.microsoft.com/office/drawing/2014/main" id="{140C92D5-2DDC-4E81-82B2-91DAF607658D}"/>
              </a:ext>
            </a:extLst>
          </p:cNvPr>
          <p:cNvSpPr>
            <a:spLocks xmlns:a="http://schemas.openxmlformats.org/drawingml/2006/main" noGrp="1"/>
          </p:cNvSpPr>
          <p:nvPr/>
        </p:nvSpPr>
        <p:spPr>
          <a:xfrm xmlns:a="http://schemas.openxmlformats.org/drawingml/2006/main">
            <a:off x="704850" y="38766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Which mixtures outperform their constituent monocultures?</a:t>
            </a:r>
          </a:p>
        </p:txBody>
      </p:sp>
      <p:sp>
        <p:nvSpPr>
          <p:cNvPr id="6" name="">
            <a:extLst xmlns:a="http://schemas.openxmlformats.org/drawingml/2006/main">
              <a:ext uri="{FF2B5EF4-FFF2-40B4-BE49-F238E27FC236}">
                <a16:creationId xmlns:a16="http://schemas.microsoft.com/office/drawing/2014/main" id="{FB2F1B8C-6BEB-4C84-B450-9FDF2941CD56}"/>
              </a:ext>
            </a:extLst>
          </p:cNvPr>
          <p:cNvSpPr>
            <a:spLocks xmlns:a="http://schemas.openxmlformats.org/drawingml/2006/main" noGrp="1"/>
          </p:cNvSpPr>
          <p:nvPr/>
        </p:nvSpPr>
        <p:spPr>
          <a:xfrm xmlns:a="http://schemas.openxmlformats.org/drawingml/2006/main">
            <a:off x="704850" y="47434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Experimental-design question</a:t>
            </a:r>
          </a:p>
        </p:txBody>
      </p:sp>
      <p:sp>
        <p:nvSpPr>
          <p:cNvPr id="7" name="">
            <a:extLst xmlns:a="http://schemas.openxmlformats.org/drawingml/2006/main">
              <a:ext uri="{FF2B5EF4-FFF2-40B4-BE49-F238E27FC236}">
                <a16:creationId xmlns:a16="http://schemas.microsoft.com/office/drawing/2014/main" id="{F78EBBC7-4BB9-4A5A-87B8-2138674D7FE0}"/>
              </a:ext>
            </a:extLst>
          </p:cNvPr>
          <p:cNvSpPr>
            <a:spLocks xmlns:a="http://schemas.openxmlformats.org/drawingml/2006/main" noGrp="1"/>
          </p:cNvSpPr>
          <p:nvPr/>
        </p:nvSpPr>
        <p:spPr>
          <a:xfrm xmlns:a="http://schemas.openxmlformats.org/drawingml/2006/main">
            <a:off x="704850" y="52292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Can model-guided selection find useful mixtures with fewer tests?</a:t>
            </a:r>
          </a:p>
        </p:txBody>
      </p:sp>
    </p:spTree>
    <p:extLst>
      <p:ext uri="{BB962C8B-B14F-4D97-AF65-F5344CB8AC3E}">
        <p14:creationId xmlns:p14="http://schemas.microsoft.com/office/powerpoint/2010/main" val="14447566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B3E9EC-5426-4CE9-A25B-C726334DFC16}"/>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Genome screening defined a tractable strain panel</a:t>
            </a:r>
          </a:p>
        </p:txBody>
      </p:sp>
      <p:sp>
        <p:nvSpPr>
          <p:cNvPr id="2" name="">
            <a:extLst xmlns:a="http://schemas.openxmlformats.org/drawingml/2006/main">
              <a:ext uri="{FF2B5EF4-FFF2-40B4-BE49-F238E27FC236}">
                <a16:creationId xmlns:a16="http://schemas.microsoft.com/office/drawing/2014/main" id="{F700B4C4-8D82-4885-995C-2B0B9B443336}"/>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3</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f77cec6666b44cbb"/>
          </a:graphicData>
        </a:graphic>
      </p:graphicFrame>
      <p:sp>
        <p:nvSpPr>
          <p:cNvPr id="4" name="">
            <a:extLst xmlns:a="http://schemas.openxmlformats.org/drawingml/2006/main">
              <a:ext uri="{FF2B5EF4-FFF2-40B4-BE49-F238E27FC236}">
                <a16:creationId xmlns:a16="http://schemas.microsoft.com/office/drawing/2014/main" id="{25E584F7-1184-4E15-8784-BE880BC7ABD9}"/>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384 genomes screened. The LDH adjudication table contains 1,457 protein records. Categories overlap.</a:t>
            </a:r>
          </a:p>
        </p:txBody>
      </p:sp>
    </p:spTree>
    <p:extLst>
      <p:ext uri="{BB962C8B-B14F-4D97-AF65-F5344CB8AC3E}">
        <p14:creationId xmlns:p14="http://schemas.microsoft.com/office/powerpoint/2010/main" val="14806975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BCCA99-0929-4FC9-9A6E-63D89BE19C5A}"/>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Lactate enzyme identity required sequence review</a:t>
            </a:r>
          </a:p>
        </p:txBody>
      </p:sp>
      <p:sp>
        <p:nvSpPr>
          <p:cNvPr id="2" name="">
            <a:extLst xmlns:a="http://schemas.openxmlformats.org/drawingml/2006/main">
              <a:ext uri="{FF2B5EF4-FFF2-40B4-BE49-F238E27FC236}">
                <a16:creationId xmlns:a16="http://schemas.microsoft.com/office/drawing/2014/main" id="{89B2A7AE-748D-4259-B343-AFAD2E158955}"/>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4</a:t>
            </a:r>
          </a:p>
        </p:txBody>
      </p:sp>
      <p:graphicFrame>
        <p:nvGraphicFramePr>
          <p:cNvPr id="7" name=""/>
          <p:cNvGraphicFramePr/>
          <p:nvPr/>
        </p:nvGraphicFramePr>
        <p:xfrm>
          <a:off xmlns:a="http://schemas.openxmlformats.org/drawingml/2006/main" x="666750" y="1638300"/>
          <a:ext xmlns:a="http://schemas.openxmlformats.org/drawingml/2006/main" cx="10858500" cy="3667125"/>
        </p:xfrm>
        <a:graphic xmlns:a="http://schemas.openxmlformats.org/drawingml/2006/main">
          <a:graphicData uri="http://schemas.openxmlformats.org/drawingml/2006/table">
            <a:tbl>
              <a:tblPr/>
              <a:tblGrid>
                <a:gridCol w="4095750"/>
                <a:gridCol w="6762750"/>
              </a:tblGrid>
              <a:tr h="733425">
                <a:tc>
                  <a:txBody>
                    <a:bodyPr/>
                    <a:lstStyle/>
                    <a:p>
                      <a:r>
                        <a:rPr sz="1875" b="1">
                          <a:solidFill>
                            <a:srgbClr val="FFFFFF"/>
                          </a:solidFill>
                          <a:latin typeface="Helvetica Neue"/>
                          <a:ea typeface="Helvetica Neue"/>
                          <a:cs typeface="Helvetica Neue"/>
                        </a:rPr>
                        <a:t>Evidence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Question it addresses</a:t>
                      </a:r>
                    </a:p>
                  </a:txBody>
                  <a:tcPr marL="91440" marR="91440" marT="45720" marB="45720">
                    <a:solidFill>
                      <a:srgbClr val="172D3C"/>
                    </a:solidFill>
                  </a:tcPr>
                </a:tc>
              </a:tr>
              <a:tr h="733425">
                <a:tc>
                  <a:txBody>
                    <a:bodyPr/>
                    <a:lstStyle/>
                    <a:p>
                      <a:r>
                        <a:rPr sz="1875" b="0">
                          <a:solidFill>
                            <a:srgbClr val="172D3C"/>
                          </a:solidFill>
                          <a:latin typeface="Helvetica Neue"/>
                          <a:ea typeface="Helvetica Neue"/>
                          <a:cs typeface="Helvetica Neue"/>
                        </a:rPr>
                        <a:t>L-LDH versus D-LDH assignment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Which product stereochemistry is plausible?</a:t>
                      </a:r>
                    </a:p>
                  </a:txBody>
                  <a:tcPr marL="91440" marR="91440" marT="45720" marB="45720">
                    <a:solidFill>
                      <a:srgbClr val="F1F4F6"/>
                    </a:solidFill>
                  </a:tcPr>
                </a:tc>
              </a:tr>
              <a:tr h="733425">
                <a:tc>
                  <a:txBody>
                    <a:bodyPr/>
                    <a:lstStyle/>
                    <a:p>
                      <a:r>
                        <a:rPr sz="1875" b="0">
                          <a:solidFill>
                            <a:srgbClr val="172D3C"/>
                          </a:solidFill>
                          <a:latin typeface="Helvetica Neue"/>
                          <a:ea typeface="Helvetica Neue"/>
                          <a:cs typeface="Helvetica Neue"/>
                        </a:rPr>
                        <a:t>Fold and target/decoy comparison</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Does a similar enzyme family explain the hit?</a:t>
                      </a:r>
                    </a:p>
                  </a:txBody>
                  <a:tcPr marL="91440" marR="91440" marT="45720" marB="45720">
                    <a:solidFill>
                      <a:srgbClr val="FFFFFF"/>
                    </a:solidFill>
                  </a:tcPr>
                </a:tc>
              </a:tr>
              <a:tr h="733425">
                <a:tc>
                  <a:txBody>
                    <a:bodyPr/>
                    <a:lstStyle/>
                    <a:p>
                      <a:r>
                        <a:rPr sz="1875" b="0">
                          <a:solidFill>
                            <a:srgbClr val="172D3C"/>
                          </a:solidFill>
                          <a:latin typeface="Helvetica Neue"/>
                          <a:ea typeface="Helvetica Neue"/>
                          <a:cs typeface="Helvetica Neue"/>
                        </a:rPr>
                        <a:t>Lactate-oxidation classes</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Could the strain also remove lactate?</a:t>
                      </a:r>
                    </a:p>
                  </a:txBody>
                  <a:tcPr marL="91440" marR="91440" marT="45720" marB="45720">
                    <a:solidFill>
                      <a:srgbClr val="F1F4F6"/>
                    </a:solidFill>
                  </a:tcPr>
                </a:tc>
              </a:tr>
              <a:tr h="733425">
                <a:tc>
                  <a:txBody>
                    <a:bodyPr/>
                    <a:lstStyle/>
                    <a:p>
                      <a:r>
                        <a:rPr sz="1875" b="0">
                          <a:solidFill>
                            <a:srgbClr val="172D3C"/>
                          </a:solidFill>
                          <a:latin typeface="Helvetica Neue"/>
                          <a:ea typeface="Helvetica Neue"/>
                          <a:cs typeface="Helvetica Neue"/>
                        </a:rPr>
                        <a:t>Racemase-system review</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Does sequence evidence leave a purity uncertainty?</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F38587C-8003-4811-BEE8-A3580957DE41}"/>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Sequence evidence supports candidate selection. It does not establish secretion, yield or optical purity.</a:t>
            </a:r>
          </a:p>
        </p:txBody>
      </p:sp>
    </p:spTree>
    <p:extLst>
      <p:ext uri="{BB962C8B-B14F-4D97-AF65-F5344CB8AC3E}">
        <p14:creationId xmlns:p14="http://schemas.microsoft.com/office/powerpoint/2010/main" val="12694201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91F057-596E-47D4-97C3-66956C9C4D88}"/>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bench panel reflects availability as well as sequence evidence</a:t>
            </a:r>
          </a:p>
        </p:txBody>
      </p:sp>
      <p:sp>
        <p:nvSpPr>
          <p:cNvPr id="2" name="">
            <a:extLst xmlns:a="http://schemas.openxmlformats.org/drawingml/2006/main">
              <a:ext uri="{FF2B5EF4-FFF2-40B4-BE49-F238E27FC236}">
                <a16:creationId xmlns:a16="http://schemas.microsoft.com/office/drawing/2014/main" id="{72D457E5-485F-496C-87BA-3EEAEB168DE2}"/>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5</a:t>
            </a:r>
          </a:p>
        </p:txBody>
      </p:sp>
      <p:graphicFrame>
        <p:nvGraphicFramePr>
          <p:cNvPr id="7" name=""/>
          <p:cNvGraphicFramePr/>
          <p:nvPr/>
        </p:nvGraphicFramePr>
        <p:xfrm>
          <a:off xmlns:a="http://schemas.openxmlformats.org/drawingml/2006/main" x="666750" y="1676400"/>
          <a:ext xmlns:a="http://schemas.openxmlformats.org/drawingml/2006/main" cx="10858500" cy="3524250"/>
        </p:xfrm>
        <a:graphic xmlns:a="http://schemas.openxmlformats.org/drawingml/2006/main">
          <a:graphicData uri="http://schemas.openxmlformats.org/drawingml/2006/table">
            <a:tbl>
              <a:tblPr/>
              <a:tblGrid>
                <a:gridCol w="4572000"/>
                <a:gridCol w="1143000"/>
                <a:gridCol w="5143500"/>
              </a:tblGrid>
              <a:tr h="704850">
                <a:tc>
                  <a:txBody>
                    <a:bodyPr/>
                    <a:lstStyle/>
                    <a:p>
                      <a:r>
                        <a:rPr sz="1875" b="1">
                          <a:solidFill>
                            <a:srgbClr val="FFFFFF"/>
                          </a:solidFill>
                          <a:latin typeface="Helvetica Neue"/>
                          <a:ea typeface="Helvetica Neue"/>
                          <a:cs typeface="Helvetica Neue"/>
                        </a:rPr>
                        <a:t>Stage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Strains</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Reason for the difference</a:t>
                      </a:r>
                    </a:p>
                  </a:txBody>
                  <a:tcPr marL="91440" marR="91440" marT="45720" marB="45720">
                    <a:solidFill>
                      <a:srgbClr val="172D3C"/>
                    </a:solidFill>
                  </a:tcPr>
                </a:tc>
              </a:tr>
              <a:tr h="704850">
                <a:tc>
                  <a:txBody>
                    <a:bodyPr/>
                    <a:lstStyle/>
                    <a:p>
                      <a:r>
                        <a:rPr sz="1875" b="0">
                          <a:solidFill>
                            <a:srgbClr val="172D3C"/>
                          </a:solidFill>
                          <a:latin typeface="Helvetica Neue"/>
                          <a:ea typeface="Helvetica Neue"/>
                          <a:cs typeface="Helvetica Neue"/>
                        </a:rPr>
                        <a:t>Curated candidate panel</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14</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Genomic evidence and manual selection</a:t>
                      </a:r>
                    </a:p>
                  </a:txBody>
                  <a:tcPr marL="91440" marR="91440" marT="45720" marB="45720">
                    <a:solidFill>
                      <a:srgbClr val="F1F4F6"/>
                    </a:solidFill>
                  </a:tcPr>
                </a:tc>
              </a:tr>
              <a:tr h="704850">
                <a:tc>
                  <a:txBody>
                    <a:bodyPr/>
                    <a:lstStyle/>
                    <a:p>
                      <a:r>
                        <a:rPr sz="1875" b="0">
                          <a:solidFill>
                            <a:srgbClr val="172D3C"/>
                          </a:solidFill>
                          <a:latin typeface="Helvetica Neue"/>
                          <a:ea typeface="Helvetica Neue"/>
                          <a:cs typeface="Helvetica Neue"/>
                        </a:rPr>
                        <a:t>Resolved physical stocks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One stock mapping remains unresolved</a:t>
                      </a:r>
                    </a:p>
                  </a:txBody>
                  <a:tcPr marL="91440" marR="91440" marT="45720" marB="45720">
                    <a:solidFill>
                      <a:srgbClr val="FFFFFF"/>
                    </a:solidFill>
                  </a:tcPr>
                </a:tc>
              </a:tr>
              <a:tr h="704850">
                <a:tc>
                  <a:txBody>
                    <a:bodyPr/>
                    <a:lstStyle/>
                    <a:p>
                      <a:r>
                        <a:rPr sz="1875" b="0">
                          <a:solidFill>
                            <a:srgbClr val="172D3C"/>
                          </a:solidFill>
                          <a:latin typeface="Helvetica Neue"/>
                          <a:ea typeface="Helvetica Neue"/>
                          <a:cs typeface="Helvetica Neue"/>
                        </a:rPr>
                        <a:t>First community round</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All resolved strains included</a:t>
                      </a:r>
                    </a:p>
                  </a:txBody>
                  <a:tcPr marL="91440" marR="91440" marT="45720" marB="45720">
                    <a:solidFill>
                      <a:srgbClr val="F1F4F6"/>
                    </a:solidFill>
                  </a:tcPr>
                </a:tc>
              </a:tr>
              <a:tr h="704850">
                <a:tc>
                  <a:txBody>
                    <a:bodyPr/>
                    <a:lstStyle/>
                    <a:p>
                      <a:r>
                        <a:rPr sz="1875" b="0">
                          <a:solidFill>
                            <a:srgbClr val="172D3C"/>
                          </a:solidFill>
                          <a:latin typeface="Helvetica Neue"/>
                          <a:ea typeface="Helvetica Neue"/>
                          <a:cs typeface="Helvetica Neue"/>
                        </a:rPr>
                        <a:t>Latest two rounds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296 unavailable after no growth</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3FB53B2-90C0-4058-B6F0-2250B39A4FF3}"/>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The same lab identifiers connect genome evidence, source wells, picklists and readouts.</a:t>
            </a:r>
          </a:p>
        </p:txBody>
      </p:sp>
    </p:spTree>
    <p:extLst>
      <p:ext uri="{BB962C8B-B14F-4D97-AF65-F5344CB8AC3E}">
        <p14:creationId xmlns:p14="http://schemas.microsoft.com/office/powerpoint/2010/main" val="8990106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C867A0-95A5-405C-9DEE-DAA1CAF0B6E5}"/>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Community assembly and measurement</a:t>
            </a:r>
          </a:p>
        </p:txBody>
      </p:sp>
      <p:sp>
        <p:nvSpPr>
          <p:cNvPr id="2" name="">
            <a:extLst xmlns:a="http://schemas.openxmlformats.org/drawingml/2006/main">
              <a:ext uri="{FF2B5EF4-FFF2-40B4-BE49-F238E27FC236}">
                <a16:creationId xmlns:a16="http://schemas.microsoft.com/office/drawing/2014/main" id="{CFE77D08-714C-46F9-A15F-EA66FA779934}"/>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6</a:t>
            </a:r>
          </a:p>
        </p:txBody>
      </p:sp>
      <p:graphicFrame>
        <p:nvGraphicFramePr>
          <p:cNvPr id="7" name=""/>
          <p:cNvGraphicFramePr/>
          <p:nvPr/>
        </p:nvGraphicFramePr>
        <p:xfrm>
          <a:off xmlns:a="http://schemas.openxmlformats.org/drawingml/2006/main" x="666750" y="1600200"/>
          <a:ext xmlns:a="http://schemas.openxmlformats.org/drawingml/2006/main" cx="10858500" cy="3619500"/>
        </p:xfrm>
        <a:graphic xmlns:a="http://schemas.openxmlformats.org/drawingml/2006/main">
          <a:graphicData uri="http://schemas.openxmlformats.org/drawingml/2006/table">
            <a:tbl>
              <a:tblPr/>
              <a:tblGrid>
                <a:gridCol w="3619500"/>
                <a:gridCol w="7239000"/>
              </a:tblGrid>
              <a:tr h="603250">
                <a:tc>
                  <a:txBody>
                    <a:bodyPr/>
                    <a:lstStyle/>
                    <a:p>
                      <a:r>
                        <a:rPr sz="1875" b="1">
                          <a:solidFill>
                            <a:srgbClr val="FFFFFF"/>
                          </a:solidFill>
                          <a:latin typeface="Helvetica Neue"/>
                          <a:ea typeface="Helvetica Neue"/>
                          <a:cs typeface="Helvetica Neue"/>
                        </a:rPr>
                        <a:t>Step</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Implementation</a:t>
                      </a:r>
                    </a:p>
                  </a:txBody>
                  <a:tcPr marL="91440" marR="91440" marT="45720" marB="45720">
                    <a:solidFill>
                      <a:srgbClr val="172D3C"/>
                    </a:solidFill>
                  </a:tcPr>
                </a:tc>
              </a:tr>
              <a:tr h="603250">
                <a:tc>
                  <a:txBody>
                    <a:bodyPr/>
                    <a:lstStyle/>
                    <a:p>
                      <a:r>
                        <a:rPr sz="1875" b="0">
                          <a:solidFill>
                            <a:srgbClr val="172D3C"/>
                          </a:solidFill>
                          <a:latin typeface="Helvetica Neue"/>
                          <a:ea typeface="Helvetica Neue"/>
                          <a:cs typeface="Helvetica Neue"/>
                        </a:rPr>
                        <a:t>Community design</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102 compositions per plate, each in three wells</a:t>
                      </a:r>
                    </a:p>
                  </a:txBody>
                  <a:tcPr marL="91440" marR="91440" marT="45720" marB="45720">
                    <a:solidFill>
                      <a:srgbClr val="F1F4F6"/>
                    </a:solidFill>
                  </a:tcPr>
                </a:tc>
              </a:tr>
              <a:tr h="603250">
                <a:tc>
                  <a:txBody>
                    <a:bodyPr/>
                    <a:lstStyle/>
                    <a:p>
                      <a:r>
                        <a:rPr sz="1875" b="0">
                          <a:solidFill>
                            <a:srgbClr val="172D3C"/>
                          </a:solidFill>
                          <a:latin typeface="Helvetica Neue"/>
                          <a:ea typeface="Helvetica Neue"/>
                          <a:cs typeface="Helvetica Neue"/>
                        </a:rPr>
                        <a:t>Acoustic assembly</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OD-adjusted species doses, rounded to 25 nL</a:t>
                      </a:r>
                    </a:p>
                  </a:txBody>
                  <a:tcPr marL="91440" marR="91440" marT="45720" marB="45720">
                    <a:solidFill>
                      <a:srgbClr val="FFFFFF"/>
                    </a:solidFill>
                  </a:tcPr>
                </a:tc>
              </a:tr>
              <a:tr h="603250">
                <a:tc>
                  <a:txBody>
                    <a:bodyPr/>
                    <a:lstStyle/>
                    <a:p>
                      <a:r>
                        <a:rPr sz="1875" b="0">
                          <a:solidFill>
                            <a:srgbClr val="172D3C"/>
                          </a:solidFill>
                          <a:latin typeface="Helvetica Neue"/>
                          <a:ea typeface="Helvetica Neue"/>
                          <a:cs typeface="Helvetica Neue"/>
                        </a:rPr>
                        <a:t>Starting dose</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0.100 OD600·µL target per species</a:t>
                      </a:r>
                    </a:p>
                  </a:txBody>
                  <a:tcPr marL="91440" marR="91440" marT="45720" marB="45720">
                    <a:solidFill>
                      <a:srgbClr val="F1F4F6"/>
                    </a:solidFill>
                  </a:tcPr>
                </a:tc>
              </a:tr>
              <a:tr h="603250">
                <a:tc>
                  <a:txBody>
                    <a:bodyPr/>
                    <a:lstStyle/>
                    <a:p>
                      <a:r>
                        <a:rPr sz="1875" b="0">
                          <a:solidFill>
                            <a:srgbClr val="172D3C"/>
                          </a:solidFill>
                          <a:latin typeface="Helvetica Neue"/>
                          <a:ea typeface="Helvetica Neue"/>
                          <a:cs typeface="Helvetica Neue"/>
                        </a:rPr>
                        <a:t>Culture volume</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50 µL media plus bacterial inoculum</a:t>
                      </a:r>
                    </a:p>
                  </a:txBody>
                  <a:tcPr marL="91440" marR="91440" marT="45720" marB="45720">
                    <a:solidFill>
                      <a:srgbClr val="FFFFFF"/>
                    </a:solidFill>
                  </a:tcPr>
                </a:tc>
              </a:tr>
              <a:tr h="603250">
                <a:tc>
                  <a:txBody>
                    <a:bodyPr/>
                    <a:lstStyle/>
                    <a:p>
                      <a:r>
                        <a:rPr sz="1875" b="0">
                          <a:solidFill>
                            <a:srgbClr val="172D3C"/>
                          </a:solidFill>
                          <a:latin typeface="Helvetica Neue"/>
                          <a:ea typeface="Helvetica Neue"/>
                          <a:cs typeface="Helvetica Neue"/>
                        </a:rPr>
                        <a:t>Readout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Colorimetric L-lactate assay on supernatant</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719FC1E2-90AB-4C44-B383-19ACF598FF95}"/>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Technical triplicates measure repeatability. They do not replace independent culture preparations.</a:t>
            </a:r>
          </a:p>
        </p:txBody>
      </p:sp>
    </p:spTree>
    <p:extLst>
      <p:ext uri="{BB962C8B-B14F-4D97-AF65-F5344CB8AC3E}">
        <p14:creationId xmlns:p14="http://schemas.microsoft.com/office/powerpoint/2010/main" val="10668980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575C08-91FC-4AC4-8CC8-52A333974022}"/>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Three rounds expanded the intended community space</a:t>
            </a:r>
          </a:p>
        </p:txBody>
      </p:sp>
      <p:sp>
        <p:nvSpPr>
          <p:cNvPr id="2" name="">
            <a:extLst xmlns:a="http://schemas.openxmlformats.org/drawingml/2006/main">
              <a:ext uri="{FF2B5EF4-FFF2-40B4-BE49-F238E27FC236}">
                <a16:creationId xmlns:a16="http://schemas.microsoft.com/office/drawing/2014/main" id="{B0E1B36B-82CC-411B-A01D-83E04C747E22}"/>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7</a:t>
            </a:r>
          </a:p>
        </p:txBody>
      </p:sp>
      <p:graphicFrame>
        <p:nvGraphicFramePr>
          <p:cNvPr id="8" name=""/>
          <p:cNvGraphicFramePr/>
          <p:nvPr/>
        </p:nvGraphicFramePr>
        <p:xfrm>
          <a:off xmlns:a="http://schemas.openxmlformats.org/drawingml/2006/main" x="666750" y="1838325"/>
          <a:ext xmlns:a="http://schemas.openxmlformats.org/drawingml/2006/main" cx="10858500" cy="2743200"/>
        </p:xfrm>
        <a:graphic xmlns:a="http://schemas.openxmlformats.org/drawingml/2006/main">
          <a:graphicData uri="http://schemas.openxmlformats.org/drawingml/2006/table">
            <a:tbl>
              <a:tblPr/>
              <a:tblGrid>
                <a:gridCol w="2333625"/>
                <a:gridCol w="1190625"/>
                <a:gridCol w="5810250"/>
                <a:gridCol w="1524000"/>
              </a:tblGrid>
              <a:tr h="685800">
                <a:tc>
                  <a:txBody>
                    <a:bodyPr/>
                    <a:lstStyle/>
                    <a:p>
                      <a:r>
                        <a:rPr sz="1875" b="1">
                          <a:solidFill>
                            <a:srgbClr val="FFFFFF"/>
                          </a:solidFill>
                          <a:latin typeface="Helvetica Neue"/>
                          <a:ea typeface="Helvetica Neue"/>
                          <a:cs typeface="Helvetica Neue"/>
                        </a:rPr>
                        <a:t>Readout date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Plates</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Compositions in the round</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Active species</a:t>
                      </a:r>
                    </a:p>
                  </a:txBody>
                  <a:tcPr marL="91440" marR="91440" marT="45720" marB="45720">
                    <a:solidFill>
                      <a:srgbClr val="172D3C"/>
                    </a:solidFill>
                  </a:tcPr>
                </a:tc>
              </a:tr>
              <a:tr h="685800">
                <a:tc>
                  <a:txBody>
                    <a:bodyPr/>
                    <a:lstStyle/>
                    <a:p>
                      <a:r>
                        <a:rPr sz="1875" b="0">
                          <a:solidFill>
                            <a:srgbClr val="172D3C"/>
                          </a:solidFill>
                          <a:latin typeface="Helvetica Neue"/>
                          <a:ea typeface="Helvetica Neue"/>
                          <a:cs typeface="Helvetica Neue"/>
                        </a:rPr>
                        <a:t>30 August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102</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1F4F6"/>
                    </a:solidFill>
                  </a:tcPr>
                </a:tc>
              </a:tr>
              <a:tr h="685800">
                <a:tc>
                  <a:txBody>
                    <a:bodyPr/>
                    <a:lstStyle/>
                    <a:p>
                      <a:r>
                        <a:rPr sz="1875" b="0">
                          <a:solidFill>
                            <a:srgbClr val="172D3C"/>
                          </a:solidFill>
                          <a:latin typeface="Helvetica Neue"/>
                          <a:ea typeface="Helvetica Neue"/>
                          <a:cs typeface="Helvetica Neue"/>
                        </a:rPr>
                        <a:t>4 September</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4</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408, including 54 repeats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FFFFF"/>
                    </a:solidFill>
                  </a:tcPr>
                </a:tc>
              </a:tr>
              <a:tr h="685800">
                <a:tc>
                  <a:txBody>
                    <a:bodyPr/>
                    <a:lstStyle/>
                    <a:p>
                      <a:r>
                        <a:rPr sz="1875" b="0">
                          <a:solidFill>
                            <a:srgbClr val="172D3C"/>
                          </a:solidFill>
                          <a:latin typeface="Helvetica Neue"/>
                          <a:ea typeface="Helvetica Neue"/>
                          <a:cs typeface="Helvetica Neue"/>
                        </a:rPr>
                        <a:t>11 September</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4</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408 new intended compositions</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FF3EAFBC-3EF1-486F-ACAD-55452770CC0C}"/>
              </a:ext>
            </a:extLst>
          </p:cNvPr>
          <p:cNvSpPr>
            <a:spLocks xmlns:a="http://schemas.openxmlformats.org/drawingml/2006/main" noGrp="1"/>
          </p:cNvSpPr>
          <p:nvPr/>
        </p:nvSpPr>
        <p:spPr>
          <a:xfrm xmlns:a="http://schemas.openxmlformats.org/drawingml/2006/main">
            <a:off x="723900" y="49720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66B9B"/>
                </a:solidFill>
                <a:latin typeface="Helvetica Neue"/>
                <a:ea typeface="Helvetica Neue"/>
                <a:cs typeface="Helvetica Neue"/>
              </a:defRPr>
            </a:pPr>
            <a:r>
              <a:rPr sz="2700" b="1">
                <a:solidFill>
                  <a:srgbClr val="266B9B"/>
                </a:solidFill>
                <a:latin typeface="Helvetica Neue"/>
                <a:ea typeface="Helvetica Neue"/>
                <a:cs typeface="Helvetica Neue"/>
              </a:rPr>
              <a:t>864 distinct intended compositions</a:t>
            </a:r>
          </a:p>
        </p:txBody>
      </p:sp>
      <p:sp>
        <p:nvSpPr>
          <p:cNvPr id="5" name="">
            <a:extLst xmlns:a="http://schemas.openxmlformats.org/drawingml/2006/main">
              <a:ext uri="{FF2B5EF4-FFF2-40B4-BE49-F238E27FC236}">
                <a16:creationId xmlns:a16="http://schemas.microsoft.com/office/drawing/2014/main" id="{0ABBE9C6-07B2-488D-8395-4EF539BFF47D}"/>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Latest-round assembly is not yet verified. Plate designs and reader measurements are traceable.</a:t>
            </a:r>
          </a:p>
        </p:txBody>
      </p:sp>
    </p:spTree>
    <p:extLst>
      <p:ext uri="{BB962C8B-B14F-4D97-AF65-F5344CB8AC3E}">
        <p14:creationId xmlns:p14="http://schemas.microsoft.com/office/powerpoint/2010/main" val="2493007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C1C5C7-563A-4538-B05B-1EEBF1349D59}"/>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September 4 produced candidates supported by all three wells</a:t>
            </a:r>
          </a:p>
        </p:txBody>
      </p:sp>
      <p:sp>
        <p:nvSpPr>
          <p:cNvPr id="2" name="">
            <a:extLst xmlns:a="http://schemas.openxmlformats.org/drawingml/2006/main">
              <a:ext uri="{FF2B5EF4-FFF2-40B4-BE49-F238E27FC236}">
                <a16:creationId xmlns:a16="http://schemas.microsoft.com/office/drawing/2014/main" id="{8C08383A-8998-4FB0-91F9-9B73ED621EAB}"/>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8</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acfe12b840bb47a5"/>
          </a:graphicData>
        </a:graphic>
      </p:graphicFrame>
      <p:sp>
        <p:nvSpPr>
          <p:cNvPr id="4" name="">
            <a:extLst xmlns:a="http://schemas.openxmlformats.org/drawingml/2006/main">
              <a:ext uri="{FF2B5EF4-FFF2-40B4-BE49-F238E27FC236}">
                <a16:creationId xmlns:a16="http://schemas.microsoft.com/office/drawing/2014/main" id="{9A34EF33-2849-472A-BF74-E1F8C1890D8D}"/>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294 + 196 + 291 + 264: lowest community reading 0.529. Highest constituent-monoculture reading 0.258.</a:t>
            </a:r>
          </a:p>
        </p:txBody>
      </p:sp>
    </p:spTree>
    <p:extLst>
      <p:ext uri="{BB962C8B-B14F-4D97-AF65-F5344CB8AC3E}">
        <p14:creationId xmlns:p14="http://schemas.microsoft.com/office/powerpoint/2010/main" val="1867559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1D1992-1934-4F07-9E43-31ABE7008A57}"/>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candidate evidence still needs biological validation</a:t>
            </a:r>
          </a:p>
        </p:txBody>
      </p:sp>
      <p:sp>
        <p:nvSpPr>
          <p:cNvPr id="2" name="">
            <a:extLst xmlns:a="http://schemas.openxmlformats.org/drawingml/2006/main">
              <a:ext uri="{FF2B5EF4-FFF2-40B4-BE49-F238E27FC236}">
                <a16:creationId xmlns:a16="http://schemas.microsoft.com/office/drawing/2014/main" id="{5E085068-E14D-4DD7-ABC1-D03DE7077643}"/>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9</a:t>
            </a:r>
          </a:p>
        </p:txBody>
      </p:sp>
      <p:sp>
        <p:nvSpPr>
          <p:cNvPr id="3" name="">
            <a:extLst xmlns:a="http://schemas.openxmlformats.org/drawingml/2006/main">
              <a:ext uri="{FF2B5EF4-FFF2-40B4-BE49-F238E27FC236}">
                <a16:creationId xmlns:a16="http://schemas.microsoft.com/office/drawing/2014/main" id="{6521EE6A-509E-4BD0-90D5-1C98F4E96C42}"/>
              </a:ext>
            </a:extLst>
          </p:cNvPr>
          <p:cNvSpPr>
            <a:spLocks xmlns:a="http://schemas.openxmlformats.org/drawingml/2006/main" noGrp="1"/>
          </p:cNvSpPr>
          <p:nvPr/>
        </p:nvSpPr>
        <p:spPr>
          <a:xfrm xmlns:a="http://schemas.openxmlformats.org/drawingml/2006/main">
            <a:off x="704850" y="1714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Supported observation</a:t>
            </a:r>
          </a:p>
        </p:txBody>
      </p:sp>
      <p:sp>
        <p:nvSpPr>
          <p:cNvPr id="4" name="">
            <a:extLst xmlns:a="http://schemas.openxmlformats.org/drawingml/2006/main">
              <a:ext uri="{FF2B5EF4-FFF2-40B4-BE49-F238E27FC236}">
                <a16:creationId xmlns:a16="http://schemas.microsoft.com/office/drawing/2014/main" id="{926DE27F-6F11-431F-9B95-D73200ECA0C6}"/>
              </a:ext>
            </a:extLst>
          </p:cNvPr>
          <p:cNvSpPr>
            <a:spLocks xmlns:a="http://schemas.openxmlformats.org/drawingml/2006/main" noGrp="1"/>
          </p:cNvSpPr>
          <p:nvPr/>
        </p:nvSpPr>
        <p:spPr>
          <a:xfrm xmlns:a="http://schemas.openxmlformats.org/drawingml/2006/main">
            <a:off x="704850" y="22002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A four-member mixture exceeded its constituent monocultures in this assay.</a:t>
            </a:r>
          </a:p>
        </p:txBody>
      </p:sp>
      <p:sp>
        <p:nvSpPr>
          <p:cNvPr id="5" name="">
            <a:extLst xmlns:a="http://schemas.openxmlformats.org/drawingml/2006/main">
              <a:ext uri="{FF2B5EF4-FFF2-40B4-BE49-F238E27FC236}">
                <a16:creationId xmlns:a16="http://schemas.microsoft.com/office/drawing/2014/main" id="{0EEBD5CF-32CB-4AB4-8C95-177235904C57}"/>
              </a:ext>
            </a:extLst>
          </p:cNvPr>
          <p:cNvSpPr>
            <a:spLocks xmlns:a="http://schemas.openxmlformats.org/drawingml/2006/main" noGrp="1"/>
          </p:cNvSpPr>
          <p:nvPr/>
        </p:nvSpPr>
        <p:spPr>
          <a:xfrm xmlns:a="http://schemas.openxmlformats.org/drawingml/2006/main">
            <a:off x="704850" y="3124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Unresolved explanation</a:t>
            </a:r>
          </a:p>
        </p:txBody>
      </p:sp>
      <p:sp>
        <p:nvSpPr>
          <p:cNvPr id="6" name="">
            <a:extLst xmlns:a="http://schemas.openxmlformats.org/drawingml/2006/main">
              <a:ext uri="{FF2B5EF4-FFF2-40B4-BE49-F238E27FC236}">
                <a16:creationId xmlns:a16="http://schemas.microsoft.com/office/drawing/2014/main" id="{51E0B996-E8E5-49EC-B537-121D5713B64B}"/>
              </a:ext>
            </a:extLst>
          </p:cNvPr>
          <p:cNvSpPr>
            <a:spLocks xmlns:a="http://schemas.openxmlformats.org/drawingml/2006/main" noGrp="1"/>
          </p:cNvSpPr>
          <p:nvPr/>
        </p:nvSpPr>
        <p:spPr>
          <a:xfrm xmlns:a="http://schemas.openxmlformats.org/drawingml/2006/main">
            <a:off x="704850" y="36099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Higher total inoculum and community effects remain confounded.</a:t>
            </a:r>
          </a:p>
        </p:txBody>
      </p:sp>
      <p:sp>
        <p:nvSpPr>
          <p:cNvPr id="7" name="">
            <a:extLst xmlns:a="http://schemas.openxmlformats.org/drawingml/2006/main">
              <a:ext uri="{FF2B5EF4-FFF2-40B4-BE49-F238E27FC236}">
                <a16:creationId xmlns:a16="http://schemas.microsoft.com/office/drawing/2014/main" id="{C5660EE1-9358-4A8A-85F9-2B7468E9FA6A}"/>
              </a:ext>
            </a:extLst>
          </p:cNvPr>
          <p:cNvSpPr>
            <a:spLocks xmlns:a="http://schemas.openxmlformats.org/drawingml/2006/main" noGrp="1"/>
          </p:cNvSpPr>
          <p:nvPr/>
        </p:nvSpPr>
        <p:spPr>
          <a:xfrm xmlns:a="http://schemas.openxmlformats.org/drawingml/2006/main">
            <a:off x="704850" y="45339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Validation target</a:t>
            </a:r>
          </a:p>
        </p:txBody>
      </p:sp>
      <p:sp>
        <p:nvSpPr>
          <p:cNvPr id="8" name="">
            <a:extLst xmlns:a="http://schemas.openxmlformats.org/drawingml/2006/main">
              <a:ext uri="{FF2B5EF4-FFF2-40B4-BE49-F238E27FC236}">
                <a16:creationId xmlns:a16="http://schemas.microsoft.com/office/drawing/2014/main" id="{D81797D1-7A4E-481C-8C76-B29379C34503}"/>
              </a:ext>
            </a:extLst>
          </p:cNvPr>
          <p:cNvSpPr>
            <a:spLocks xmlns:a="http://schemas.openxmlformats.org/drawingml/2006/main" noGrp="1"/>
          </p:cNvSpPr>
          <p:nvPr/>
        </p:nvSpPr>
        <p:spPr>
          <a:xfrm xmlns:a="http://schemas.openxmlformats.org/drawingml/2006/main">
            <a:off x="704850" y="50196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Independent reassembly, a matched-biomass comparison and an orthogonal product measurement.</a:t>
            </a:r>
          </a:p>
        </p:txBody>
      </p:sp>
    </p:spTree>
    <p:extLst>
      <p:ext uri="{BB962C8B-B14F-4D97-AF65-F5344CB8AC3E}">
        <p14:creationId xmlns:p14="http://schemas.microsoft.com/office/powerpoint/2010/main" val="3478479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3F27FC-6503-40C0-8D08-EF93834A78C4}"/>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Four acquisition paths test different selection rules</a:t>
            </a:r>
          </a:p>
        </p:txBody>
      </p:sp>
      <p:sp>
        <p:nvSpPr>
          <p:cNvPr id="2" name="">
            <a:extLst xmlns:a="http://schemas.openxmlformats.org/drawingml/2006/main">
              <a:ext uri="{FF2B5EF4-FFF2-40B4-BE49-F238E27FC236}">
                <a16:creationId xmlns:a16="http://schemas.microsoft.com/office/drawing/2014/main" id="{DA0238C9-22A9-4A36-A3D6-6C1FE7B424B8}"/>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10</a:t>
            </a:r>
          </a:p>
        </p:txBody>
      </p:sp>
      <p:graphicFrame>
        <p:nvGraphicFramePr>
          <p:cNvPr id="7" name=""/>
          <p:cNvGraphicFramePr/>
          <p:nvPr/>
        </p:nvGraphicFramePr>
        <p:xfrm>
          <a:off xmlns:a="http://schemas.openxmlformats.org/drawingml/2006/main" x="666750" y="1657350"/>
          <a:ext xmlns:a="http://schemas.openxmlformats.org/drawingml/2006/main" cx="10858500" cy="3638550"/>
        </p:xfrm>
        <a:graphic xmlns:a="http://schemas.openxmlformats.org/drawingml/2006/main">
          <a:graphicData uri="http://schemas.openxmlformats.org/drawingml/2006/table">
            <a:tbl>
              <a:tblPr/>
              <a:tblGrid>
                <a:gridCol w="952500"/>
                <a:gridCol w="3143250"/>
                <a:gridCol w="6762750"/>
              </a:tblGrid>
              <a:tr h="727710">
                <a:tc>
                  <a:txBody>
                    <a:bodyPr/>
                    <a:lstStyle/>
                    <a:p>
                      <a:r>
                        <a:rPr sz="1800" b="1">
                          <a:solidFill>
                            <a:srgbClr val="FFFFFF"/>
                          </a:solidFill>
                          <a:latin typeface="Helvetica Neue"/>
                          <a:ea typeface="Helvetica Neue"/>
                          <a:cs typeface="Helvetica Neue"/>
                        </a:rPr>
                        <a:t>Plate</a:t>
                      </a:r>
                    </a:p>
                  </a:txBody>
                  <a:tcPr marL="91440" marR="91440" marT="45720" marB="45720">
                    <a:solidFill>
                      <a:srgbClr val="172D3C"/>
                    </a:solidFill>
                  </a:tcPr>
                </a:tc>
                <a:tc>
                  <a:txBody>
                    <a:bodyPr/>
                    <a:lstStyle/>
                    <a:p>
                      <a:r>
                        <a:rPr sz="1800" b="1">
                          <a:solidFill>
                            <a:srgbClr val="FFFFFF"/>
                          </a:solidFill>
                          <a:latin typeface="Helvetica Neue"/>
                          <a:ea typeface="Helvetica Neue"/>
                          <a:cs typeface="Helvetica Neue"/>
                        </a:rPr>
                        <a:t>Path</a:t>
                      </a:r>
                    </a:p>
                  </a:txBody>
                  <a:tcPr marL="91440" marR="91440" marT="45720" marB="45720">
                    <a:solidFill>
                      <a:srgbClr val="172D3C"/>
                    </a:solidFill>
                  </a:tcPr>
                </a:tc>
                <a:tc>
                  <a:txBody>
                    <a:bodyPr/>
                    <a:lstStyle/>
                    <a:p>
                      <a:r>
                        <a:rPr sz="1800" b="1">
                          <a:solidFill>
                            <a:srgbClr val="FFFFFF"/>
                          </a:solidFill>
                          <a:latin typeface="Helvetica Neue"/>
                          <a:ea typeface="Helvetica Neue"/>
                          <a:cs typeface="Helvetica Neue"/>
                        </a:rPr>
                        <a:t>Selection criterion</a:t>
                      </a:r>
                    </a:p>
                  </a:txBody>
                  <a:tcPr marL="91440" marR="91440" marT="45720" marB="45720">
                    <a:solidFill>
                      <a:srgbClr val="172D3C"/>
                    </a:solidFill>
                  </a:tcPr>
                </a:tc>
              </a:tr>
              <a:tr h="727710">
                <a:tc>
                  <a:txBody>
                    <a:bodyPr/>
                    <a:lstStyle/>
                    <a:p>
                      <a:r>
                        <a:rPr sz="1800" b="0">
                          <a:solidFill>
                            <a:srgbClr val="172D3C"/>
                          </a:solidFill>
                          <a:latin typeface="Helvetica Neue"/>
                          <a:ea typeface="Helvetica Neue"/>
                          <a:cs typeface="Helvetica Neue"/>
                        </a:rPr>
                        <a:t>1</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Expected improvement</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Predicted improvement, accounting for uncertainty</a:t>
                      </a:r>
                    </a:p>
                  </a:txBody>
                  <a:tcPr marL="91440" marR="91440" marT="45720" marB="45720">
                    <a:solidFill>
                      <a:srgbClr val="F1F4F6"/>
                    </a:solidFill>
                  </a:tcPr>
                </a:tc>
              </a:tr>
              <a:tr h="727710">
                <a:tc>
                  <a:txBody>
                    <a:bodyPr/>
                    <a:lstStyle/>
                    <a:p>
                      <a:r>
                        <a:rPr sz="1800" b="0">
                          <a:solidFill>
                            <a:srgbClr val="172D3C"/>
                          </a:solidFill>
                          <a:latin typeface="Helvetica Neue"/>
                          <a:ea typeface="Helvetica Neue"/>
                          <a:cs typeface="Helvetica Neue"/>
                        </a:rPr>
                        <a:t>2</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Continued max diversity</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Spread across compositions and richness</a:t>
                      </a:r>
                    </a:p>
                  </a:txBody>
                  <a:tcPr marL="91440" marR="91440" marT="45720" marB="45720">
                    <a:solidFill>
                      <a:srgbClr val="FFFFFF"/>
                    </a:solidFill>
                  </a:tcPr>
                </a:tc>
              </a:tr>
              <a:tr h="727710">
                <a:tc>
                  <a:txBody>
                    <a:bodyPr/>
                    <a:lstStyle/>
                    <a:p>
                      <a:r>
                        <a:rPr sz="1800" b="0">
                          <a:solidFill>
                            <a:srgbClr val="172D3C"/>
                          </a:solidFill>
                          <a:latin typeface="Helvetica Neue"/>
                          <a:ea typeface="Helvetica Neue"/>
                          <a:cs typeface="Helvetica Neue"/>
                        </a:rPr>
                        <a:t>3</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Posterior mean</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Highest predicted response</a:t>
                      </a:r>
                    </a:p>
                  </a:txBody>
                  <a:tcPr marL="91440" marR="91440" marT="45720" marB="45720">
                    <a:solidFill>
                      <a:srgbClr val="F1F4F6"/>
                    </a:solidFill>
                  </a:tcPr>
                </a:tc>
              </a:tr>
              <a:tr h="727710">
                <a:tc>
                  <a:txBody>
                    <a:bodyPr/>
                    <a:lstStyle/>
                    <a:p>
                      <a:r>
                        <a:rPr sz="1800" b="0">
                          <a:solidFill>
                            <a:srgbClr val="172D3C"/>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Random</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Uniform sample from remaining unseen compositions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C3D5BD8-432C-4E99-93CC-19B43C971551}"/>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Each path gets 102 compositions in triplicate. Deduplication priority: max diversity, EI, posterior mean, random.</a:t>
            </a:r>
          </a:p>
        </p:txBody>
      </p:sp>
    </p:spTree>
    <p:extLst>
      <p:ext uri="{BB962C8B-B14F-4D97-AF65-F5344CB8AC3E}">
        <p14:creationId xmlns:p14="http://schemas.microsoft.com/office/powerpoint/2010/main" val="8071732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3BB94F-4901-4023-81F6-B758421B4EE6}"/>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latest models have separate acquisition histories</a:t>
            </a:r>
          </a:p>
        </p:txBody>
      </p:sp>
      <p:sp>
        <p:nvSpPr>
          <p:cNvPr id="2" name="">
            <a:extLst xmlns:a="http://schemas.openxmlformats.org/drawingml/2006/main">
              <a:ext uri="{FF2B5EF4-FFF2-40B4-BE49-F238E27FC236}">
                <a16:creationId xmlns:a16="http://schemas.microsoft.com/office/drawing/2014/main" id="{5F5A9C7C-97C2-48BE-9059-62D23D9D3D3B}"/>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11</a:t>
            </a:r>
          </a:p>
        </p:txBody>
      </p:sp>
      <p:graphicFrame>
        <p:nvGraphicFramePr>
          <p:cNvPr id="7" name=""/>
          <p:cNvGraphicFramePr/>
          <p:nvPr/>
        </p:nvGraphicFramePr>
        <p:xfrm>
          <a:off xmlns:a="http://schemas.openxmlformats.org/drawingml/2006/main" x="666750" y="1847850"/>
          <a:ext xmlns:a="http://schemas.openxmlformats.org/drawingml/2006/main" cx="10858500" cy="2886075"/>
        </p:xfrm>
        <a:graphic xmlns:a="http://schemas.openxmlformats.org/drawingml/2006/main">
          <a:graphicData uri="http://schemas.openxmlformats.org/drawingml/2006/table">
            <a:tbl>
              <a:tblPr/>
              <a:tblGrid>
                <a:gridCol w="6191250"/>
                <a:gridCol w="2333625"/>
                <a:gridCol w="2333625"/>
              </a:tblGrid>
              <a:tr h="721519">
                <a:tc>
                  <a:txBody>
                    <a:bodyPr/>
                    <a:lstStyle/>
                    <a:p>
                      <a:r>
                        <a:rPr sz="1950" b="1">
                          <a:solidFill>
                            <a:srgbClr val="FFFFFF"/>
                          </a:solidFill>
                          <a:latin typeface="Helvetica Neue"/>
                          <a:ea typeface="Helvetica Neue"/>
                          <a:cs typeface="Helvetica Neue"/>
                        </a:rPr>
                        <a:t>Training data</a:t>
                      </a:r>
                    </a:p>
                  </a:txBody>
                  <a:tcPr marL="91440" marR="91440" marT="45720" marB="45720">
                    <a:solidFill>
                      <a:srgbClr val="172D3C"/>
                    </a:solidFill>
                  </a:tcPr>
                </a:tc>
                <a:tc>
                  <a:txBody>
                    <a:bodyPr/>
                    <a:lstStyle/>
                    <a:p>
                      <a:r>
                        <a:rPr sz="1950" b="1">
                          <a:solidFill>
                            <a:srgbClr val="FFFFFF"/>
                          </a:solidFill>
                          <a:latin typeface="Helvetica Neue"/>
                          <a:ea typeface="Helvetica Neue"/>
                          <a:cs typeface="Helvetica Neue"/>
                        </a:rPr>
                        <a:t>EI model</a:t>
                      </a:r>
                    </a:p>
                  </a:txBody>
                  <a:tcPr marL="91440" marR="91440" marT="45720" marB="45720">
                    <a:solidFill>
                      <a:srgbClr val="172D3C"/>
                    </a:solidFill>
                  </a:tcPr>
                </a:tc>
                <a:tc>
                  <a:txBody>
                    <a:bodyPr/>
                    <a:lstStyle/>
                    <a:p>
                      <a:r>
                        <a:rPr sz="1950" b="1">
                          <a:solidFill>
                            <a:srgbClr val="FFFFFF"/>
                          </a:solidFill>
                          <a:latin typeface="Helvetica Neue"/>
                          <a:ea typeface="Helvetica Neue"/>
                          <a:cs typeface="Helvetica Neue"/>
                        </a:rPr>
                        <a:t>Posterior-mean model</a:t>
                      </a:r>
                    </a:p>
                  </a:txBody>
                  <a:tcPr marL="91440" marR="91440" marT="45720" marB="45720">
                    <a:solidFill>
                      <a:srgbClr val="172D3C"/>
                    </a:solidFill>
                  </a:tcPr>
                </a:tc>
              </a:tr>
              <a:tr h="721519">
                <a:tc>
                  <a:txBody>
                    <a:bodyPr/>
                    <a:lstStyle/>
                    <a:p>
                      <a:r>
                        <a:rPr sz="1950" b="0">
                          <a:solidFill>
                            <a:srgbClr val="172D3C"/>
                          </a:solidFill>
                          <a:latin typeface="Helvetica Neue"/>
                          <a:ea typeface="Helvetica Neue"/>
                          <a:cs typeface="Helvetica Neue"/>
                        </a:rPr>
                        <a:t>Shared max-diversity observations</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204</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204</a:t>
                      </a:r>
                    </a:p>
                  </a:txBody>
                  <a:tcPr marL="91440" marR="91440" marT="45720" marB="45720">
                    <a:solidFill>
                      <a:srgbClr val="F1F4F6"/>
                    </a:solidFill>
                  </a:tcPr>
                </a:tc>
              </a:tr>
              <a:tr h="721519">
                <a:tc>
                  <a:txBody>
                    <a:bodyPr/>
                    <a:lstStyle/>
                    <a:p>
                      <a:r>
                        <a:rPr sz="1950" b="0">
                          <a:solidFill>
                            <a:srgbClr val="172D3C"/>
                          </a:solidFill>
                          <a:latin typeface="Helvetica Neue"/>
                          <a:ea typeface="Helvetica Neue"/>
                          <a:cs typeface="Helvetica Neue"/>
                        </a:rPr>
                        <a:t>Own-path acquired observations</a:t>
                      </a:r>
                    </a:p>
                  </a:txBody>
                  <a:tcPr marL="91440" marR="91440" marT="45720" marB="45720">
                    <a:solidFill>
                      <a:srgbClr val="FFFFFF"/>
                    </a:solidFill>
                  </a:tcPr>
                </a:tc>
                <a:tc>
                  <a:txBody>
                    <a:bodyPr/>
                    <a:lstStyle/>
                    <a:p>
                      <a:r>
                        <a:rPr sz="1950" b="0">
                          <a:solidFill>
                            <a:srgbClr val="172D3C"/>
                          </a:solidFill>
                          <a:latin typeface="Helvetica Neue"/>
                          <a:ea typeface="Helvetica Neue"/>
                          <a:cs typeface="Helvetica Neue"/>
                        </a:rPr>
                        <a:t>102 EI</a:t>
                      </a:r>
                    </a:p>
                  </a:txBody>
                  <a:tcPr marL="91440" marR="91440" marT="45720" marB="45720">
                    <a:solidFill>
                      <a:srgbClr val="FFFFFF"/>
                    </a:solidFill>
                  </a:tcPr>
                </a:tc>
                <a:tc>
                  <a:txBody>
                    <a:bodyPr/>
                    <a:lstStyle/>
                    <a:p>
                      <a:r>
                        <a:rPr sz="1950" b="0">
                          <a:solidFill>
                            <a:srgbClr val="172D3C"/>
                          </a:solidFill>
                          <a:latin typeface="Helvetica Neue"/>
                          <a:ea typeface="Helvetica Neue"/>
                          <a:cs typeface="Helvetica Neue"/>
                        </a:rPr>
                        <a:t>102 posterior mean</a:t>
                      </a:r>
                    </a:p>
                  </a:txBody>
                  <a:tcPr marL="91440" marR="91440" marT="45720" marB="45720">
                    <a:solidFill>
                      <a:srgbClr val="FFFFFF"/>
                    </a:solidFill>
                  </a:tcPr>
                </a:tc>
              </a:tr>
              <a:tr h="721519">
                <a:tc>
                  <a:txBody>
                    <a:bodyPr/>
                    <a:lstStyle/>
                    <a:p>
                      <a:r>
                        <a:rPr sz="1950" b="0">
                          <a:solidFill>
                            <a:srgbClr val="172D3C"/>
                          </a:solidFill>
                          <a:latin typeface="Helvetica Neue"/>
                          <a:ea typeface="Helvetica Neue"/>
                          <a:cs typeface="Helvetica Neue"/>
                        </a:rPr>
                        <a:t>Unique training compositions</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252</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252</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B4D47D09-BEA4-48DE-BDB5-FB7C5787111D}"/>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Response: triplicate median minus the plate median, then median across repeated observations of a composition.</a:t>
            </a:r>
          </a:p>
        </p:txBody>
      </p:sp>
    </p:spTree>
    <p:extLst>
      <p:ext uri="{BB962C8B-B14F-4D97-AF65-F5344CB8AC3E}">
        <p14:creationId xmlns:p14="http://schemas.microsoft.com/office/powerpoint/2010/main" val="21671176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1B5B97-9C6D-4D4D-A9F8-3721331AD909}"/>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Earlier prospective prediction was weak</a:t>
            </a:r>
          </a:p>
        </p:txBody>
      </p:sp>
      <p:sp>
        <p:nvSpPr>
          <p:cNvPr id="2" name="">
            <a:extLst xmlns:a="http://schemas.openxmlformats.org/drawingml/2006/main">
              <a:ext uri="{FF2B5EF4-FFF2-40B4-BE49-F238E27FC236}">
                <a16:creationId xmlns:a16="http://schemas.microsoft.com/office/drawing/2014/main" id="{61369063-71AB-4900-B4EA-DD10DA5EF2A1}"/>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12</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423e7a54b2124125"/>
          </a:graphicData>
        </a:graphic>
      </p:graphicFrame>
      <p:sp>
        <p:nvSpPr>
          <p:cNvPr id="4" name="">
            <a:extLst xmlns:a="http://schemas.openxmlformats.org/drawingml/2006/main">
              <a:ext uri="{FF2B5EF4-FFF2-40B4-BE49-F238E27FC236}">
                <a16:creationId xmlns:a16="http://schemas.microsoft.com/office/drawing/2014/main" id="{74BD9014-3357-40C2-A0A6-C622C624F421}"/>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Within-batch ranking did not transfer strongly. Higher average assay signal alone does not prove an acquisition advantage.</a:t>
            </a:r>
          </a:p>
        </p:txBody>
      </p:sp>
    </p:spTree>
    <p:extLst>
      <p:ext uri="{BB962C8B-B14F-4D97-AF65-F5344CB8AC3E}">
        <p14:creationId xmlns:p14="http://schemas.microsoft.com/office/powerpoint/2010/main" val="720940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C772AB-C5FF-4F17-9DA6-1F78399139A0}"/>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September 11 signal is close to the edge reference</a:t>
            </a:r>
          </a:p>
        </p:txBody>
      </p:sp>
      <p:sp>
        <p:nvSpPr>
          <p:cNvPr id="2" name="">
            <a:extLst xmlns:a="http://schemas.openxmlformats.org/drawingml/2006/main">
              <a:ext uri="{FF2B5EF4-FFF2-40B4-BE49-F238E27FC236}">
                <a16:creationId xmlns:a16="http://schemas.microsoft.com/office/drawing/2014/main" id="{83FC1FFD-8C38-492B-8A82-7343BCDFA059}"/>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13</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90b119351c4c4a2f"/>
          </a:graphicData>
        </a:graphic>
      </p:graphicFrame>
      <p:sp>
        <p:nvSpPr>
          <p:cNvPr id="4" name="">
            <a:extLst xmlns:a="http://schemas.openxmlformats.org/drawingml/2006/main">
              <a:ext uri="{FF2B5EF4-FFF2-40B4-BE49-F238E27FC236}">
                <a16:creationId xmlns:a16="http://schemas.microsoft.com/office/drawing/2014/main" id="{A9609D8D-9D64-40CC-8EE1-1C0821852742}"/>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Medians across 306 culture wells and 60 edge-reference wells per plate. No concentration conversion.</a:t>
            </a:r>
          </a:p>
        </p:txBody>
      </p:sp>
    </p:spTree>
    <p:extLst>
      <p:ext uri="{BB962C8B-B14F-4D97-AF65-F5344CB8AC3E}">
        <p14:creationId xmlns:p14="http://schemas.microsoft.com/office/powerpoint/2010/main" val="185777607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9C3A7D-A99A-4A05-B1E3-DF8D8DA0C2E6}"/>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Technical repeatability declined in the latest round</a:t>
            </a:r>
          </a:p>
        </p:txBody>
      </p:sp>
      <p:sp>
        <p:nvSpPr>
          <p:cNvPr id="2" name="">
            <a:extLst xmlns:a="http://schemas.openxmlformats.org/drawingml/2006/main">
              <a:ext uri="{FF2B5EF4-FFF2-40B4-BE49-F238E27FC236}">
                <a16:creationId xmlns:a16="http://schemas.microsoft.com/office/drawing/2014/main" id="{F047B07D-126D-4A87-A958-B95923A78DBC}"/>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14</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60d26ead3e26466d"/>
          </a:graphicData>
        </a:graphic>
      </p:graphicFrame>
      <p:sp>
        <p:nvSpPr>
          <p:cNvPr id="4" name="">
            <a:extLst xmlns:a="http://schemas.openxmlformats.org/drawingml/2006/main">
              <a:ext uri="{FF2B5EF4-FFF2-40B4-BE49-F238E27FC236}">
                <a16:creationId xmlns:a16="http://schemas.microsoft.com/office/drawing/2014/main" id="{D2C4A8E2-B466-48FA-80EA-DEC001EE83A8}"/>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Low repeatability plus reported assembly warnings makes this round unsuitable for an unqualified model update.</a:t>
            </a:r>
          </a:p>
        </p:txBody>
      </p:sp>
    </p:spTree>
    <p:extLst>
      <p:ext uri="{BB962C8B-B14F-4D97-AF65-F5344CB8AC3E}">
        <p14:creationId xmlns:p14="http://schemas.microsoft.com/office/powerpoint/2010/main" val="182454477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16E139-DD74-4175-AE7A-00FCA4EA0432}"/>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four-plate plan exceeded the single source fill</a:t>
            </a:r>
          </a:p>
        </p:txBody>
      </p:sp>
      <p:sp>
        <p:nvSpPr>
          <p:cNvPr id="2" name="">
            <a:extLst xmlns:a="http://schemas.openxmlformats.org/drawingml/2006/main">
              <a:ext uri="{FF2B5EF4-FFF2-40B4-BE49-F238E27FC236}">
                <a16:creationId xmlns:a16="http://schemas.microsoft.com/office/drawing/2014/main" id="{AB9B3BA7-3487-4B47-9BBA-19B9D03A2668}"/>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15</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73bfa4912d23418c"/>
          </a:graphicData>
        </a:graphic>
      </p:graphicFrame>
      <p:sp>
        <p:nvSpPr>
          <p:cNvPr id="4" name="">
            <a:extLst xmlns:a="http://schemas.openxmlformats.org/drawingml/2006/main">
              <a:ext uri="{FF2B5EF4-FFF2-40B4-BE49-F238E27FC236}">
                <a16:creationId xmlns:a16="http://schemas.microsoft.com/office/drawing/2014/main" id="{C494E89C-AAA2-4A89-BDA1-A38B81D698C9}"/>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One 50 µL fill, no refills. Seven sources exceed it. The planning check assumed a fresh fill for every plate.</a:t>
            </a:r>
          </a:p>
        </p:txBody>
      </p:sp>
    </p:spTree>
    <p:extLst>
      <p:ext uri="{BB962C8B-B14F-4D97-AF65-F5344CB8AC3E}">
        <p14:creationId xmlns:p14="http://schemas.microsoft.com/office/powerpoint/2010/main" val="42201323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333C47D-3F00-4A8A-B3B4-95EC6D4D1B27}"/>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Next experiment and discussion</a:t>
            </a:r>
          </a:p>
        </p:txBody>
      </p:sp>
      <p:sp>
        <p:nvSpPr>
          <p:cNvPr id="2" name="">
            <a:extLst xmlns:a="http://schemas.openxmlformats.org/drawingml/2006/main">
              <a:ext uri="{FF2B5EF4-FFF2-40B4-BE49-F238E27FC236}">
                <a16:creationId xmlns:a16="http://schemas.microsoft.com/office/drawing/2014/main" id="{D7461AE6-9B03-461C-A984-C2F7F961001A}"/>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7BF8E54E-7714-400B-BCB9-CD9BC530D60B}"/>
              </a:ext>
            </a:extLst>
          </p:cNvPr>
          <p:cNvSpPr>
            <a:spLocks xmlns:a="http://schemas.openxmlformats.org/drawingml/2006/main" noGrp="1"/>
          </p:cNvSpPr>
          <p:nvPr/>
        </p:nvSpPr>
        <p:spPr>
          <a:xfrm xmlns:a="http://schemas.openxmlformats.org/drawingml/2006/main">
            <a:off x="704850" y="16859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Immediate priority</a:t>
            </a:r>
          </a:p>
        </p:txBody>
      </p:sp>
      <p:sp>
        <p:nvSpPr>
          <p:cNvPr id="4" name="">
            <a:extLst xmlns:a="http://schemas.openxmlformats.org/drawingml/2006/main">
              <a:ext uri="{FF2B5EF4-FFF2-40B4-BE49-F238E27FC236}">
                <a16:creationId xmlns:a16="http://schemas.microsoft.com/office/drawing/2014/main" id="{A41648DD-ABA6-4341-9D26-85F6C3CC9AF0}"/>
              </a:ext>
            </a:extLst>
          </p:cNvPr>
          <p:cNvSpPr>
            <a:spLocks xmlns:a="http://schemas.openxmlformats.org/drawingml/2006/main" noGrp="1"/>
          </p:cNvSpPr>
          <p:nvPr/>
        </p:nvSpPr>
        <p:spPr>
          <a:xfrm xmlns:a="http://schemas.openxmlformats.org/drawingml/2006/main">
            <a:off x="704850" y="2171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Reconcile Echo exceptions and budget source demand across the complete run.</a:t>
            </a:r>
          </a:p>
        </p:txBody>
      </p:sp>
      <p:sp>
        <p:nvSpPr>
          <p:cNvPr id="5" name="">
            <a:extLst xmlns:a="http://schemas.openxmlformats.org/drawingml/2006/main">
              <a:ext uri="{FF2B5EF4-FFF2-40B4-BE49-F238E27FC236}">
                <a16:creationId xmlns:a16="http://schemas.microsoft.com/office/drawing/2014/main" id="{BABE6DBB-0BB4-42FC-9735-BDDD73B68ECF}"/>
              </a:ext>
            </a:extLst>
          </p:cNvPr>
          <p:cNvSpPr>
            <a:spLocks xmlns:a="http://schemas.openxmlformats.org/drawingml/2006/main" noGrp="1"/>
          </p:cNvSpPr>
          <p:nvPr/>
        </p:nvSpPr>
        <p:spPr>
          <a:xfrm xmlns:a="http://schemas.openxmlformats.org/drawingml/2006/main">
            <a:off x="704850" y="3124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Focused biological test</a:t>
            </a:r>
          </a:p>
        </p:txBody>
      </p:sp>
      <p:sp>
        <p:nvSpPr>
          <p:cNvPr id="6" name="">
            <a:extLst xmlns:a="http://schemas.openxmlformats.org/drawingml/2006/main">
              <a:ext uri="{FF2B5EF4-FFF2-40B4-BE49-F238E27FC236}">
                <a16:creationId xmlns:a16="http://schemas.microsoft.com/office/drawing/2014/main" id="{F6D4D198-800F-4B76-8FD2-3A910C1BEEBF}"/>
              </a:ext>
            </a:extLst>
          </p:cNvPr>
          <p:cNvSpPr>
            <a:spLocks xmlns:a="http://schemas.openxmlformats.org/drawingml/2006/main" noGrp="1"/>
          </p:cNvSpPr>
          <p:nvPr/>
        </p:nvSpPr>
        <p:spPr>
          <a:xfrm xmlns:a="http://schemas.openxmlformats.org/drawingml/2006/main">
            <a:off x="704850" y="36099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Independently repeat the four-member candidate and its constituent monocultures.</a:t>
            </a:r>
          </a:p>
        </p:txBody>
      </p:sp>
      <p:sp>
        <p:nvSpPr>
          <p:cNvPr id="7" name="">
            <a:extLst xmlns:a="http://schemas.openxmlformats.org/drawingml/2006/main">
              <a:ext uri="{FF2B5EF4-FFF2-40B4-BE49-F238E27FC236}">
                <a16:creationId xmlns:a16="http://schemas.microsoft.com/office/drawing/2014/main" id="{C0EA0786-4C0A-4DEB-9D01-4B3171BC6F70}"/>
              </a:ext>
            </a:extLst>
          </p:cNvPr>
          <p:cNvSpPr>
            <a:spLocks xmlns:a="http://schemas.openxmlformats.org/drawingml/2006/main" noGrp="1"/>
          </p:cNvSpPr>
          <p:nvPr/>
        </p:nvSpPr>
        <p:spPr>
          <a:xfrm xmlns:a="http://schemas.openxmlformats.org/drawingml/2006/main">
            <a:off x="704850" y="45624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Decision for the group</a:t>
            </a:r>
          </a:p>
        </p:txBody>
      </p:sp>
      <p:sp>
        <p:nvSpPr>
          <p:cNvPr id="8" name="">
            <a:extLst xmlns:a="http://schemas.openxmlformats.org/drawingml/2006/main">
              <a:ext uri="{FF2B5EF4-FFF2-40B4-BE49-F238E27FC236}">
                <a16:creationId xmlns:a16="http://schemas.microsoft.com/office/drawing/2014/main" id="{57D0D679-57BB-419A-A3D1-AA39CB200E2D}"/>
              </a:ext>
            </a:extLst>
          </p:cNvPr>
          <p:cNvSpPr>
            <a:spLocks xmlns:a="http://schemas.openxmlformats.org/drawingml/2006/main" noGrp="1"/>
          </p:cNvSpPr>
          <p:nvPr/>
        </p:nvSpPr>
        <p:spPr>
          <a:xfrm xmlns:a="http://schemas.openxmlformats.org/drawingml/2006/main">
            <a:off x="704850" y="5048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What evidence should trigger the next acquisition round?</a:t>
            </a:r>
          </a:p>
        </p:txBody>
      </p:sp>
    </p:spTree>
    <p:extLst>
      <p:ext uri="{BB962C8B-B14F-4D97-AF65-F5344CB8AC3E}">
        <p14:creationId xmlns:p14="http://schemas.microsoft.com/office/powerpoint/2010/main" val="9322086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505242-0243-4BD1-AF25-E3C7A0734DB6}"/>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Appendix: the top standards respond on all four plates</a:t>
            </a:r>
          </a:p>
        </p:txBody>
      </p:sp>
      <p:sp>
        <p:nvSpPr>
          <p:cNvPr id="2" name="">
            <a:extLst xmlns:a="http://schemas.openxmlformats.org/drawingml/2006/main">
              <a:ext uri="{FF2B5EF4-FFF2-40B4-BE49-F238E27FC236}">
                <a16:creationId xmlns:a16="http://schemas.microsoft.com/office/drawing/2014/main" id="{819C6E7D-7983-4E1E-9F44-811C08D43488}"/>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17</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4ce0e5100ddb4b8c"/>
          </a:graphicData>
        </a:graphic>
      </p:graphicFrame>
      <p:sp>
        <p:nvSpPr>
          <p:cNvPr id="4" name="">
            <a:extLst xmlns:a="http://schemas.openxmlformats.org/drawingml/2006/main">
              <a:ext uri="{FF2B5EF4-FFF2-40B4-BE49-F238E27FC236}">
                <a16:creationId xmlns:a16="http://schemas.microsoft.com/office/drawing/2014/main" id="{2E956000-0621-4F91-8865-148DCE3267D6}"/>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Standard concentration, mM. Equal spacing represents halving steps, not a linear concentration axis.</a:t>
            </a:r>
          </a:p>
        </p:txBody>
      </p:sp>
    </p:spTree>
    <p:extLst>
      <p:ext uri="{BB962C8B-B14F-4D97-AF65-F5344CB8AC3E}">
        <p14:creationId xmlns:p14="http://schemas.microsoft.com/office/powerpoint/2010/main" val="3286658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795660-8B1C-4018-94D0-3E2B14E2D2EF}"/>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Appendix: per-plate remainder and cumulative demand</a:t>
            </a:r>
          </a:p>
        </p:txBody>
      </p:sp>
      <p:sp>
        <p:nvSpPr>
          <p:cNvPr id="2" name="">
            <a:extLst xmlns:a="http://schemas.openxmlformats.org/drawingml/2006/main">
              <a:ext uri="{FF2B5EF4-FFF2-40B4-BE49-F238E27FC236}">
                <a16:creationId xmlns:a16="http://schemas.microsoft.com/office/drawing/2014/main" id="{C271BD0E-FF97-4DC2-85A3-24C5102B4AAA}"/>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18</a:t>
            </a:r>
          </a:p>
        </p:txBody>
      </p:sp>
      <p:graphicFrame>
        <p:nvGraphicFramePr>
          <p:cNvPr id="7" name=""/>
          <p:cNvGraphicFramePr/>
          <p:nvPr/>
        </p:nvGraphicFramePr>
        <p:xfrm>
          <a:off xmlns:a="http://schemas.openxmlformats.org/drawingml/2006/main" x="666750" y="1457325"/>
          <a:ext xmlns:a="http://schemas.openxmlformats.org/drawingml/2006/main" cx="10858500" cy="4095750"/>
        </p:xfrm>
        <a:graphic xmlns:a="http://schemas.openxmlformats.org/drawingml/2006/main">
          <a:graphicData uri="http://schemas.openxmlformats.org/drawingml/2006/table">
            <a:tbl>
              <a:tblPr/>
              <a:tblGrid>
                <a:gridCol w="2952750"/>
                <a:gridCol w="4191000"/>
                <a:gridCol w="3714750"/>
              </a:tblGrid>
              <a:tr h="315058">
                <a:tc>
                  <a:txBody>
                    <a:bodyPr/>
                    <a:lstStyle/>
                    <a:p>
                      <a:r>
                        <a:rPr sz="1575" b="1">
                          <a:solidFill>
                            <a:srgbClr val="FFFFFF"/>
                          </a:solidFill>
                          <a:latin typeface="Helvetica Neue"/>
                          <a:ea typeface="Helvetica Neue"/>
                          <a:cs typeface="Helvetica Neue"/>
                        </a:rPr>
                        <a:t>Source / species</a:t>
                      </a:r>
                    </a:p>
                  </a:txBody>
                  <a:tcPr marL="91440" marR="91440" marT="45720" marB="45720">
                    <a:solidFill>
                      <a:srgbClr val="172D3C"/>
                    </a:solidFill>
                  </a:tcPr>
                </a:tc>
                <a:tc>
                  <a:txBody>
                    <a:bodyPr/>
                    <a:lstStyle/>
                    <a:p>
                      <a:r>
                        <a:rPr sz="1575" b="1">
                          <a:solidFill>
                            <a:srgbClr val="FFFFFF"/>
                          </a:solidFill>
                          <a:latin typeface="Helvetica Neue"/>
                          <a:ea typeface="Helvetica Neue"/>
                          <a:cs typeface="Helvetica Neue"/>
                        </a:rPr>
                        <a:t>With refills: min. remainder, µL</a:t>
                      </a:r>
                    </a:p>
                  </a:txBody>
                  <a:tcPr marL="91440" marR="91440" marT="45720" marB="45720">
                    <a:solidFill>
                      <a:srgbClr val="172D3C"/>
                    </a:solidFill>
                  </a:tcPr>
                </a:tc>
                <a:tc>
                  <a:txBody>
                    <a:bodyPr/>
                    <a:lstStyle/>
                    <a:p>
                      <a:r>
                        <a:rPr sz="1575" b="1">
                          <a:solidFill>
                            <a:srgbClr val="FFFFFF"/>
                          </a:solidFill>
                          <a:latin typeface="Helvetica Neue"/>
                          <a:ea typeface="Helvetica Neue"/>
                          <a:cs typeface="Helvetica Neue"/>
                        </a:rPr>
                        <a:t>Demand across all four, µL</a:t>
                      </a:r>
                    </a:p>
                  </a:txBody>
                  <a:tcPr marL="91440" marR="91440" marT="45720" marB="45720">
                    <a:solidFill>
                      <a:srgbClr val="172D3C"/>
                    </a:solidFill>
                  </a:tcPr>
                </a:tc>
              </a:tr>
              <a:tr h="315058">
                <a:tc>
                  <a:txBody>
                    <a:bodyPr/>
                    <a:lstStyle/>
                    <a:p>
                      <a:r>
                        <a:rPr sz="1575" b="0">
                          <a:solidFill>
                            <a:srgbClr val="172D3C"/>
                          </a:solidFill>
                          <a:latin typeface="Helvetica Neue"/>
                          <a:ea typeface="Helvetica Neue"/>
                          <a:cs typeface="Helvetica Neue"/>
                        </a:rPr>
                        <a:t>A1 / 256</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29.30</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55.13</a:t>
                      </a:r>
                    </a:p>
                  </a:txBody>
                  <a:tcPr marL="91440" marR="91440" marT="45720" marB="45720">
                    <a:solidFill>
                      <a:srgbClr val="F1F4F6"/>
                    </a:solidFill>
                  </a:tcPr>
                </a:tc>
              </a:tr>
              <a:tr h="315058">
                <a:tc>
                  <a:txBody>
                    <a:bodyPr/>
                    <a:lstStyle/>
                    <a:p>
                      <a:r>
                        <a:rPr sz="1575" b="0">
                          <a:solidFill>
                            <a:srgbClr val="172D3C"/>
                          </a:solidFill>
                          <a:latin typeface="Helvetica Neue"/>
                          <a:ea typeface="Helvetica Neue"/>
                          <a:cs typeface="Helvetica Neue"/>
                        </a:rPr>
                        <a:t>A2 / 75</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37.85</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28.58</a:t>
                      </a:r>
                    </a:p>
                  </a:txBody>
                  <a:tcPr marL="91440" marR="91440" marT="45720" marB="45720">
                    <a:solidFill>
                      <a:srgbClr val="FFFFFF"/>
                    </a:solidFill>
                  </a:tcPr>
                </a:tc>
              </a:tr>
              <a:tr h="315058">
                <a:tc>
                  <a:txBody>
                    <a:bodyPr/>
                    <a:lstStyle/>
                    <a:p>
                      <a:r>
                        <a:rPr sz="1575" b="0">
                          <a:solidFill>
                            <a:srgbClr val="172D3C"/>
                          </a:solidFill>
                          <a:latin typeface="Helvetica Neue"/>
                          <a:ea typeface="Helvetica Neue"/>
                          <a:cs typeface="Helvetica Neue"/>
                        </a:rPr>
                        <a:t>A3 / 269</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28.63</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55.13</a:t>
                      </a:r>
                    </a:p>
                  </a:txBody>
                  <a:tcPr marL="91440" marR="91440" marT="45720" marB="45720">
                    <a:solidFill>
                      <a:srgbClr val="F1F4F6"/>
                    </a:solidFill>
                  </a:tcPr>
                </a:tc>
              </a:tr>
              <a:tr h="315058">
                <a:tc>
                  <a:txBody>
                    <a:bodyPr/>
                    <a:lstStyle/>
                    <a:p>
                      <a:r>
                        <a:rPr sz="1575" b="0">
                          <a:solidFill>
                            <a:srgbClr val="172D3C"/>
                          </a:solidFill>
                          <a:latin typeface="Helvetica Neue"/>
                          <a:ea typeface="Helvetica Neue"/>
                          <a:cs typeface="Helvetica Neue"/>
                        </a:rPr>
                        <a:t>A4 / 294</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31.77</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56.48</a:t>
                      </a:r>
                    </a:p>
                  </a:txBody>
                  <a:tcPr marL="91440" marR="91440" marT="45720" marB="45720">
                    <a:solidFill>
                      <a:srgbClr val="FFFFFF"/>
                    </a:solidFill>
                  </a:tcPr>
                </a:tc>
              </a:tr>
              <a:tr h="315058">
                <a:tc>
                  <a:txBody>
                    <a:bodyPr/>
                    <a:lstStyle/>
                    <a:p>
                      <a:r>
                        <a:rPr sz="1575" b="0">
                          <a:solidFill>
                            <a:srgbClr val="172D3C"/>
                          </a:solidFill>
                          <a:latin typeface="Helvetica Neue"/>
                          <a:ea typeface="Helvetica Neue"/>
                          <a:cs typeface="Helvetica Neue"/>
                        </a:rPr>
                        <a:t>A5 / 275</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34.70</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45.90</a:t>
                      </a:r>
                    </a:p>
                  </a:txBody>
                  <a:tcPr marL="91440" marR="91440" marT="45720" marB="45720">
                    <a:solidFill>
                      <a:srgbClr val="F1F4F6"/>
                    </a:solidFill>
                  </a:tcPr>
                </a:tc>
              </a:tr>
              <a:tr h="315058">
                <a:tc>
                  <a:txBody>
                    <a:bodyPr/>
                    <a:lstStyle/>
                    <a:p>
                      <a:r>
                        <a:rPr sz="1575" b="0">
                          <a:solidFill>
                            <a:srgbClr val="172D3C"/>
                          </a:solidFill>
                          <a:latin typeface="Helvetica Neue"/>
                          <a:ea typeface="Helvetica Neue"/>
                          <a:cs typeface="Helvetica Neue"/>
                        </a:rPr>
                        <a:t>A6 / 41</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38.08</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26.33</a:t>
                      </a:r>
                    </a:p>
                  </a:txBody>
                  <a:tcPr marL="91440" marR="91440" marT="45720" marB="45720">
                    <a:solidFill>
                      <a:srgbClr val="FFFFFF"/>
                    </a:solidFill>
                  </a:tcPr>
                </a:tc>
              </a:tr>
              <a:tr h="315058">
                <a:tc>
                  <a:txBody>
                    <a:bodyPr/>
                    <a:lstStyle/>
                    <a:p>
                      <a:r>
                        <a:rPr sz="1575" b="0">
                          <a:solidFill>
                            <a:srgbClr val="172D3C"/>
                          </a:solidFill>
                          <a:latin typeface="Helvetica Neue"/>
                          <a:ea typeface="Helvetica Neue"/>
                          <a:cs typeface="Helvetica Neue"/>
                        </a:rPr>
                        <a:t>A7 / 158</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37.85</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31.27</a:t>
                      </a:r>
                    </a:p>
                  </a:txBody>
                  <a:tcPr marL="91440" marR="91440" marT="45720" marB="45720">
                    <a:solidFill>
                      <a:srgbClr val="F1F4F6"/>
                    </a:solidFill>
                  </a:tcPr>
                </a:tc>
              </a:tr>
              <a:tr h="315058">
                <a:tc>
                  <a:txBody>
                    <a:bodyPr/>
                    <a:lstStyle/>
                    <a:p>
                      <a:r>
                        <a:rPr sz="1575" b="0">
                          <a:solidFill>
                            <a:srgbClr val="172D3C"/>
                          </a:solidFill>
                          <a:latin typeface="Helvetica Neue"/>
                          <a:ea typeface="Helvetica Neue"/>
                          <a:cs typeface="Helvetica Neue"/>
                        </a:rPr>
                        <a:t>A8 / 145</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36.50</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38.48</a:t>
                      </a:r>
                    </a:p>
                  </a:txBody>
                  <a:tcPr marL="91440" marR="91440" marT="45720" marB="45720">
                    <a:solidFill>
                      <a:srgbClr val="FFFFFF"/>
                    </a:solidFill>
                  </a:tcPr>
                </a:tc>
              </a:tr>
              <a:tr h="315058">
                <a:tc>
                  <a:txBody>
                    <a:bodyPr/>
                    <a:lstStyle/>
                    <a:p>
                      <a:r>
                        <a:rPr sz="1575" b="0">
                          <a:solidFill>
                            <a:srgbClr val="172D3C"/>
                          </a:solidFill>
                          <a:latin typeface="Helvetica Neue"/>
                          <a:ea typeface="Helvetica Neue"/>
                          <a:cs typeface="Helvetica Neue"/>
                        </a:rPr>
                        <a:t>A9 / 200</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32.23</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56.02</a:t>
                      </a:r>
                    </a:p>
                  </a:txBody>
                  <a:tcPr marL="91440" marR="91440" marT="45720" marB="45720">
                    <a:solidFill>
                      <a:srgbClr val="F1F4F6"/>
                    </a:solidFill>
                  </a:tcPr>
                </a:tc>
              </a:tr>
              <a:tr h="315058">
                <a:tc>
                  <a:txBody>
                    <a:bodyPr/>
                    <a:lstStyle/>
                    <a:p>
                      <a:r>
                        <a:rPr sz="1575" b="0">
                          <a:solidFill>
                            <a:srgbClr val="172D3C"/>
                          </a:solidFill>
                          <a:latin typeface="Helvetica Neue"/>
                          <a:ea typeface="Helvetica Neue"/>
                          <a:cs typeface="Helvetica Neue"/>
                        </a:rPr>
                        <a:t>A10 / 196</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26.00</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70.80</a:t>
                      </a:r>
                    </a:p>
                  </a:txBody>
                  <a:tcPr marL="91440" marR="91440" marT="45720" marB="45720">
                    <a:solidFill>
                      <a:srgbClr val="FFFFFF"/>
                    </a:solidFill>
                  </a:tcPr>
                </a:tc>
              </a:tr>
              <a:tr h="315058">
                <a:tc>
                  <a:txBody>
                    <a:bodyPr/>
                    <a:lstStyle/>
                    <a:p>
                      <a:r>
                        <a:rPr sz="1575" b="0">
                          <a:solidFill>
                            <a:srgbClr val="172D3C"/>
                          </a:solidFill>
                          <a:latin typeface="Helvetica Neue"/>
                          <a:ea typeface="Helvetica Neue"/>
                          <a:cs typeface="Helvetica Neue"/>
                        </a:rPr>
                        <a:t>A11 / 291</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34.10</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56.10</a:t>
                      </a:r>
                    </a:p>
                  </a:txBody>
                  <a:tcPr marL="91440" marR="91440" marT="45720" marB="45720">
                    <a:solidFill>
                      <a:srgbClr val="F1F4F6"/>
                    </a:solidFill>
                  </a:tcPr>
                </a:tc>
              </a:tr>
              <a:tr h="315058">
                <a:tc>
                  <a:txBody>
                    <a:bodyPr/>
                    <a:lstStyle/>
                    <a:p>
                      <a:r>
                        <a:rPr sz="1575" b="0">
                          <a:solidFill>
                            <a:srgbClr val="172D3C"/>
                          </a:solidFill>
                          <a:latin typeface="Helvetica Neue"/>
                          <a:ea typeface="Helvetica Neue"/>
                          <a:cs typeface="Helvetica Neue"/>
                        </a:rPr>
                        <a:t>A12 / 264</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27.05</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61.88</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0B1F06B-DE95-41E2-9085-DADA6EBF172D}"/>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The refill column is hypothetical. The actual run used one initial 50 µL fill for all four plates.</a:t>
            </a:r>
          </a:p>
        </p:txBody>
      </p:sp>
    </p:spTree>
    <p:extLst>
      <p:ext uri="{BB962C8B-B14F-4D97-AF65-F5344CB8AC3E}">
        <p14:creationId xmlns:p14="http://schemas.microsoft.com/office/powerpoint/2010/main" val="3671302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2026-09-13T08:11:49.4030000Z</dcterms:created>
  <dcterms:modified xsi:type="dcterms:W3CDTF">2026-09-13T08:11:49.4030000Z</dcterms:modified>
</coreProperties>
</file>