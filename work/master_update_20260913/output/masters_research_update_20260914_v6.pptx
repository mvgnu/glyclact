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3" r:id="rId15"/>
    <p:sldId id="269" r:id="rId16"/>
    <p:sldId id="270" r:id="rId17"/>
    <p:sldId id="271" r:id="rId18"/>
    <p:sldId id="272"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5714"/>
  </p:normalViewPr>
  <p:slideViewPr>
    <p:cSldViewPr snapToGrid="0">
      <p:cViewPr varScale="1">
        <p:scale>
          <a:sx n="82" d="100"/>
          <a:sy n="82" d="100"/>
        </p:scale>
        <p:origin x="2240"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Arbeitsblat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Arbeitsblat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Arbeitsblat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Arbeitsblat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Arbeitsblat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Arbeitsblat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Arbeitsblat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Genomes with a sequence call</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L-LDH candidate</c:v>
                </c:pt>
                <c:pt idx="1">
                  <c:v>D-LDH candidate</c:v>
                </c:pt>
                <c:pt idx="2">
                  <c:v>Lactate oxidation
LLDD class</c:v>
                </c:pt>
              </c:strCache>
            </c:strRef>
          </c:cat>
          <c:val>
            <c:numRef>
              <c:f>'Chart Data'!$B$2:$B$4</c:f>
              <c:numCache>
                <c:formatCode>0</c:formatCode>
                <c:ptCount val="3"/>
                <c:pt idx="0">
                  <c:v>147</c:v>
                </c:pt>
                <c:pt idx="1">
                  <c:v>206</c:v>
                </c:pt>
                <c:pt idx="2">
                  <c:v>352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EF2-0444-91B4-6A2078C79B01}"/>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400"/>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Genomes, out of 384</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Technical well 1</c:v>
          </c:tx>
          <c:spPr>
            <a:solidFill>
              <a:srgbClr val="266B9B"/>
            </a:solidFill>
          </c:spPr>
          <c:invertIfNegative val="1"/>
          <c:cat>
            <c:strRef>
              <c:f>'Chart Data'!$A$2:$A$6</c:f>
              <c:strCache>
                <c:ptCount val="5"/>
                <c:pt idx="0">
                  <c:v>294</c:v>
                </c:pt>
                <c:pt idx="1">
                  <c:v>196</c:v>
                </c:pt>
                <c:pt idx="2">
                  <c:v>291</c:v>
                </c:pt>
                <c:pt idx="3">
                  <c:v>264</c:v>
                </c:pt>
                <c:pt idx="4">
                  <c:v>4-member
community</c:v>
                </c:pt>
              </c:strCache>
            </c:strRef>
          </c:cat>
          <c:val>
            <c:numRef>
              <c:f>'Chart Data'!$B$2:$B$6</c:f>
              <c:numCache>
                <c:formatCode>0.00</c:formatCode>
                <c:ptCount val="5"/>
                <c:pt idx="0">
                  <c:v>0.19600000000000001</c:v>
                </c:pt>
                <c:pt idx="1">
                  <c:v>0.09</c:v>
                </c:pt>
                <c:pt idx="2">
                  <c:v>8.7999999999999995E-2</c:v>
                </c:pt>
                <c:pt idx="3">
                  <c:v>9.9000000000000005E-2</c:v>
                </c:pt>
                <c:pt idx="4">
                  <c:v>0.52900000000000003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C2F-4948-AA11-151675205D0D}"/>
            </c:ext>
          </c:extLst>
        </c:ser>
        <c:ser>
          <c:idx val="1"/>
          <c:order val="1"/>
          <c:tx>
            <c:v>Technical well 2</c:v>
          </c:tx>
          <c:spPr>
            <a:solidFill>
              <a:srgbClr val="398271"/>
            </a:solidFill>
          </c:spPr>
          <c:invertIfNegative val="1"/>
          <c:cat>
            <c:strRef>
              <c:f>'Chart Data'!$C$2:$C$6</c:f>
              <c:strCache>
                <c:ptCount val="5"/>
                <c:pt idx="0">
                  <c:v>294</c:v>
                </c:pt>
                <c:pt idx="1">
                  <c:v>196</c:v>
                </c:pt>
                <c:pt idx="2">
                  <c:v>291</c:v>
                </c:pt>
                <c:pt idx="3">
                  <c:v>264</c:v>
                </c:pt>
                <c:pt idx="4">
                  <c:v>4-member
community</c:v>
                </c:pt>
              </c:strCache>
            </c:strRef>
          </c:cat>
          <c:val>
            <c:numRef>
              <c:f>'Chart Data'!$D$2:$D$6</c:f>
              <c:numCache>
                <c:formatCode>0.00</c:formatCode>
                <c:ptCount val="5"/>
                <c:pt idx="0">
                  <c:v>0.13300000000000001</c:v>
                </c:pt>
                <c:pt idx="1">
                  <c:v>0.09</c:v>
                </c:pt>
                <c:pt idx="2">
                  <c:v>0.10199999999999999</c:v>
                </c:pt>
                <c:pt idx="3">
                  <c:v>0.14399999999999999</c:v>
                </c:pt>
                <c:pt idx="4">
                  <c:v>0.57299999999999995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C2F-4948-AA11-151675205D0D}"/>
            </c:ext>
          </c:extLst>
        </c:ser>
        <c:ser>
          <c:idx val="2"/>
          <c:order val="2"/>
          <c:tx>
            <c:v>Technical well 3</c:v>
          </c:tx>
          <c:spPr>
            <a:solidFill>
              <a:srgbClr val="B77B28"/>
            </a:solidFill>
          </c:spPr>
          <c:invertIfNegative val="1"/>
          <c:cat>
            <c:strRef>
              <c:f>'Chart Data'!$E$2:$E$6</c:f>
              <c:strCache>
                <c:ptCount val="5"/>
                <c:pt idx="0">
                  <c:v>294</c:v>
                </c:pt>
                <c:pt idx="1">
                  <c:v>196</c:v>
                </c:pt>
                <c:pt idx="2">
                  <c:v>291</c:v>
                </c:pt>
                <c:pt idx="3">
                  <c:v>264</c:v>
                </c:pt>
                <c:pt idx="4">
                  <c:v>4-member
community</c:v>
                </c:pt>
              </c:strCache>
            </c:strRef>
          </c:cat>
          <c:val>
            <c:numRef>
              <c:f>'Chart Data'!$F$2:$F$6</c:f>
              <c:numCache>
                <c:formatCode>0.00</c:formatCode>
                <c:ptCount val="5"/>
                <c:pt idx="0">
                  <c:v>0.25800000000000001</c:v>
                </c:pt>
                <c:pt idx="1">
                  <c:v>9.6000000000000002E-2</c:v>
                </c:pt>
                <c:pt idx="2">
                  <c:v>9.9000000000000005E-2</c:v>
                </c:pt>
                <c:pt idx="3">
                  <c:v>0.19</c:v>
                </c:pt>
                <c:pt idx="4">
                  <c:v>0.77700000000000002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C2F-4948-AA11-151675205D0D}"/>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85"/>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Spearman rank correlation</c:v>
          </c:tx>
          <c:spPr>
            <a:solidFill>
              <a:srgbClr val="266B9B"/>
            </a:solidFill>
          </c:spPr>
          <c:invertIfNegative val="0"/>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EI batch</c:v>
                </c:pt>
                <c:pt idx="1">
                  <c:v>Posterior-mean batch</c:v>
                </c:pt>
                <c:pt idx="2">
                  <c:v>Random batch</c:v>
                </c:pt>
              </c:strCache>
            </c:strRef>
          </c:cat>
          <c:val>
            <c:numRef>
              <c:f>'Chart Data'!$B$2:$B$4</c:f>
              <c:numCache>
                <c:formatCode>0.00</c:formatCode>
                <c:ptCount val="3"/>
                <c:pt idx="0">
                  <c:v>-0.13100000000000001</c:v>
                </c:pt>
                <c:pt idx="1">
                  <c:v>-0.13</c:v>
                </c:pt>
                <c:pt idx="2">
                  <c:v>0.14599999999999999</c:v>
                </c:pt>
              </c:numCache>
            </c:numRef>
          </c:val>
          <c:extLst>
            <c:ext xmlns:c16="http://schemas.microsoft.com/office/drawing/2014/chart" uri="{C3380CC4-5D6E-409C-BE32-E72D297353CC}">
              <c16:uniqueId val="{00000000-71BB-7449-A296-48855B9D2F39}"/>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1"/>
          <c:min val="-1"/>
        </c:scaling>
        <c:delete val="0"/>
        <c:axPos val="l"/>
        <c:majorGridlines>
          <c:spPr>
            <a:ln w="9525">
              <a:solidFill>
                <a:srgbClr val="E8EDF0"/>
              </a:solidFill>
            </a:ln>
          </c:spPr>
        </c:majorGridlines>
        <c:title>
          <c:tx>
            <c:rich>
              <a:bodyPr/>
              <a:lstStyle/>
              <a:p>
                <a:r>
                  <a:rPr lang="de-DE" dirty="0">
                    <a:latin typeface="Helvetica Neue"/>
                    <a:ea typeface="Helvetica Neue"/>
                    <a:cs typeface="Helvetica Neue"/>
                  </a:rPr>
                  <a:t>Rank </a:t>
                </a:r>
                <a:r>
                  <a:rPr lang="de-DE" dirty="0" err="1">
                    <a:latin typeface="Helvetica Neue"/>
                    <a:ea typeface="Helvetica Neue"/>
                    <a:cs typeface="Helvetica Neue"/>
                  </a:rPr>
                  <a:t>agreement</a:t>
                </a:r>
                <a:r>
                  <a:rPr lang="de-DE" dirty="0">
                    <a:latin typeface="Helvetica Neue"/>
                    <a:ea typeface="Helvetica Neue"/>
                    <a:cs typeface="Helvetica Neue"/>
                  </a:rPr>
                  <a:t> (Spearman)</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Batch median</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EI</c:v>
                </c:pt>
                <c:pt idx="1">
                  <c:v>Max diversity</c:v>
                </c:pt>
                <c:pt idx="2">
                  <c:v>Posterior mean</c:v>
                </c:pt>
                <c:pt idx="3">
                  <c:v>Random</c:v>
                </c:pt>
              </c:strCache>
            </c:strRef>
          </c:cat>
          <c:val>
            <c:numRef>
              <c:f>'Chart Data'!$B$2:$B$5</c:f>
              <c:numCache>
                <c:formatCode>0.000</c:formatCode>
                <c:ptCount val="4"/>
                <c:pt idx="0">
                  <c:v>0.13150000000000001</c:v>
                </c:pt>
                <c:pt idx="1">
                  <c:v>6.7500000000000004E-2</c:v>
                </c:pt>
                <c:pt idx="2">
                  <c:v>8.3500000000000005E-2</c:v>
                </c:pt>
                <c:pt idx="3">
                  <c:v>8.1500000000000003E-2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F87-3F48-AE2E-931C88EAE260}"/>
            </c:ext>
          </c:extLst>
        </c:ser>
        <c:ser>
          <c:idx val="1"/>
          <c:order val="1"/>
          <c:tx>
            <c:v>Best community median</c:v>
          </c:tx>
          <c:spPr>
            <a:solidFill>
              <a:srgbClr val="B77B28"/>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EI</c:v>
                </c:pt>
                <c:pt idx="1">
                  <c:v>Max diversity</c:v>
                </c:pt>
                <c:pt idx="2">
                  <c:v>Posterior mean</c:v>
                </c:pt>
                <c:pt idx="3">
                  <c:v>Random</c:v>
                </c:pt>
              </c:strCache>
            </c:strRef>
          </c:cat>
          <c:val>
            <c:numRef>
              <c:f>'Chart Data'!$D$2:$D$5</c:f>
              <c:numCache>
                <c:formatCode>0.000</c:formatCode>
                <c:ptCount val="4"/>
                <c:pt idx="0">
                  <c:v>0.55549999999999999</c:v>
                </c:pt>
                <c:pt idx="1">
                  <c:v>0.47799999999999998</c:v>
                </c:pt>
                <c:pt idx="2">
                  <c:v>0.59899999999999998</c:v>
                </c:pt>
                <c:pt idx="3">
                  <c:v>0.62350000000000005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F87-3F48-AE2E-931C88EAE260}"/>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Edge-adjusted assay absorbance</a:t>
                </a:r>
              </a:p>
            </c:rich>
          </c:tx>
          <c:overlay val="0"/>
        </c:title>
        <c:numFmt formatCode="0.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majorUnit val="0.1"/>
      </c:valAx>
      <c:spPr>
        <a:solidFill>
          <a:srgbClr val="FFFFFF"/>
        </a:solidFill>
      </c:spPr>
    </c:plotArea>
    <c:legend>
      <c:legendPos val="b"/>
      <c:overlay val="0"/>
      <c:txPr>
        <a:bodyPr anchorCtr="1"/>
        <a:lstStyle/>
        <a:p>
          <a:pPr>
            <a:defRPr sz="1575">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Culture wells</c:v>
          </c:tx>
          <c:spPr>
            <a:solidFill>
              <a:srgbClr val="266B9B"/>
            </a:solidFill>
          </c:spPr>
          <c:invertIfNegative val="1"/>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0.107</c:v>
                </c:pt>
                <c:pt idx="1">
                  <c:v>0.10100000000000001</c:v>
                </c:pt>
                <c:pt idx="2">
                  <c:v>9.8000000000000004E-2</c:v>
                </c:pt>
                <c:pt idx="3">
                  <c:v>9.4E-2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79C-694A-B48C-0F7DC41E2846}"/>
            </c:ext>
          </c:extLst>
        </c:ser>
        <c:ser>
          <c:idx val="1"/>
          <c:order val="1"/>
          <c:tx>
            <c:v>Edge reference, excluding column 1</c:v>
          </c:tx>
          <c:spPr>
            <a:solidFill>
              <a:srgbClr val="A3AFB7"/>
            </a:solidFill>
          </c:spPr>
          <c:invertIfNegative val="1"/>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0.107</c:v>
                </c:pt>
                <c:pt idx="1">
                  <c:v>0.10050000000000001</c:v>
                </c:pt>
                <c:pt idx="2">
                  <c:v>9.7000000000000003E-2</c:v>
                </c:pt>
                <c:pt idx="3">
                  <c:v>9.8500000000000004E-2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79C-694A-B48C-0F7DC41E2846}"/>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15"/>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Median 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4 September</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4.1965000000000002E-2</c:v>
                </c:pt>
                <c:pt idx="1">
                  <c:v>0.40843800000000002</c:v>
                </c:pt>
                <c:pt idx="2">
                  <c:v>0.35917399999999999</c:v>
                </c:pt>
                <c:pt idx="3">
                  <c:v>8.1067E-2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D62-A349-BF23-F1788C6B2A58}"/>
            </c:ext>
          </c:extLst>
        </c:ser>
        <c:ser>
          <c:idx val="1"/>
          <c:order val="1"/>
          <c:tx>
            <c:v>11 September</c:v>
          </c:tx>
          <c:spPr>
            <a:solidFill>
              <a:srgbClr val="B77B28"/>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1.5601E-2</c:v>
                </c:pt>
                <c:pt idx="1">
                  <c:v>7.3463000000000001E-2</c:v>
                </c:pt>
                <c:pt idx="2">
                  <c:v>3.6826999999999999E-2</c:v>
                </c:pt>
                <c:pt idx="3">
                  <c:v>3.9939000000000002E-2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D62-A349-BF23-F1788C6B2A58}"/>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Replicate agreement (ICC, unitless)</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lineChart>
        <c:grouping val="standard"/>
        <c:varyColors val="0"/>
        <c:ser>
          <c:idx val="0"/>
          <c:order val="0"/>
          <c:tx>
            <c:v>Plate 1</c:v>
          </c:tx>
          <c:spPr>
            <a:ln w="28575">
              <a:solidFill>
                <a:srgbClr val="266B9B"/>
              </a:solidFill>
            </a:ln>
          </c:spPr>
          <c:marker>
            <c:symbol val="circle"/>
            <c:size val="5"/>
            <c:spPr>
              <a:solidFill>
                <a:srgbClr val="266B9B"/>
              </a:solidFill>
            </c:spPr>
          </c:marker>
          <c:cat>
            <c:numRef>
              <c:f>'Chart Data'!$A$2:$A$9</c:f>
              <c:numCache>
                <c:formatCode>General</c:formatCode>
                <c:ptCount val="8"/>
                <c:pt idx="0">
                  <c:v>12</c:v>
                </c:pt>
                <c:pt idx="1">
                  <c:v>6</c:v>
                </c:pt>
                <c:pt idx="2">
                  <c:v>3</c:v>
                </c:pt>
                <c:pt idx="3">
                  <c:v>1.5</c:v>
                </c:pt>
                <c:pt idx="4">
                  <c:v>0.75</c:v>
                </c:pt>
                <c:pt idx="5">
                  <c:v>0.375</c:v>
                </c:pt>
                <c:pt idx="6">
                  <c:v>0.1875</c:v>
                </c:pt>
                <c:pt idx="7">
                  <c:v>9.375E-2</c:v>
                </c:pt>
              </c:numCache>
            </c:numRef>
          </c:cat>
          <c:val>
            <c:numRef>
              <c:f>'Chart Data'!$B$2:$B$9</c:f>
              <c:numCache>
                <c:formatCode>0.00</c:formatCode>
                <c:ptCount val="8"/>
                <c:pt idx="0">
                  <c:v>0.17599999999999999</c:v>
                </c:pt>
                <c:pt idx="1">
                  <c:v>0.13700000000000001</c:v>
                </c:pt>
                <c:pt idx="2">
                  <c:v>0.113</c:v>
                </c:pt>
                <c:pt idx="3">
                  <c:v>9.8000000000000004E-2</c:v>
                </c:pt>
                <c:pt idx="4">
                  <c:v>9.9000000000000005E-2</c:v>
                </c:pt>
                <c:pt idx="5">
                  <c:v>9.6000000000000002E-2</c:v>
                </c:pt>
                <c:pt idx="6">
                  <c:v>9.7000000000000003E-2</c:v>
                </c:pt>
                <c:pt idx="7">
                  <c:v>9.6000000000000002E-2</c:v>
                </c:pt>
              </c:numCache>
            </c:numRef>
          </c:val>
          <c:smooth val="0"/>
          <c:extLst>
            <c:ext xmlns:c16="http://schemas.microsoft.com/office/drawing/2014/chart" uri="{C3380CC4-5D6E-409C-BE32-E72D297353CC}">
              <c16:uniqueId val="{00000000-918B-AA47-B91A-5E686AEF2D33}"/>
            </c:ext>
          </c:extLst>
        </c:ser>
        <c:ser>
          <c:idx val="1"/>
          <c:order val="1"/>
          <c:tx>
            <c:v>Plate 2</c:v>
          </c:tx>
          <c:spPr>
            <a:ln w="28575">
              <a:solidFill>
                <a:srgbClr val="B77B28"/>
              </a:solidFill>
            </a:ln>
          </c:spPr>
          <c:marker>
            <c:symbol val="circle"/>
            <c:size val="5"/>
            <c:spPr>
              <a:solidFill>
                <a:srgbClr val="B77B28"/>
              </a:solidFill>
            </c:spPr>
          </c:marker>
          <c:cat>
            <c:numRef>
              <c:f>'Chart Data'!$C$2:$C$9</c:f>
              <c:numCache>
                <c:formatCode>General</c:formatCode>
                <c:ptCount val="8"/>
                <c:pt idx="0">
                  <c:v>12</c:v>
                </c:pt>
                <c:pt idx="1">
                  <c:v>6</c:v>
                </c:pt>
                <c:pt idx="2">
                  <c:v>3</c:v>
                </c:pt>
                <c:pt idx="3">
                  <c:v>1.5</c:v>
                </c:pt>
                <c:pt idx="4">
                  <c:v>0.75</c:v>
                </c:pt>
                <c:pt idx="5">
                  <c:v>0.375</c:v>
                </c:pt>
                <c:pt idx="6">
                  <c:v>0.1875</c:v>
                </c:pt>
                <c:pt idx="7">
                  <c:v>9.375E-2</c:v>
                </c:pt>
              </c:numCache>
            </c:numRef>
          </c:cat>
          <c:val>
            <c:numRef>
              <c:f>'Chart Data'!$D$2:$D$9</c:f>
              <c:numCache>
                <c:formatCode>0.00</c:formatCode>
                <c:ptCount val="8"/>
                <c:pt idx="0">
                  <c:v>0.14099999999999999</c:v>
                </c:pt>
                <c:pt idx="1">
                  <c:v>0.13800000000000001</c:v>
                </c:pt>
                <c:pt idx="2">
                  <c:v>0.108</c:v>
                </c:pt>
                <c:pt idx="3">
                  <c:v>0.104</c:v>
                </c:pt>
                <c:pt idx="4">
                  <c:v>9.9000000000000005E-2</c:v>
                </c:pt>
                <c:pt idx="5">
                  <c:v>9.1999999999999998E-2</c:v>
                </c:pt>
                <c:pt idx="6">
                  <c:v>8.5999999999999993E-2</c:v>
                </c:pt>
                <c:pt idx="7">
                  <c:v>9.1999999999999998E-2</c:v>
                </c:pt>
              </c:numCache>
            </c:numRef>
          </c:val>
          <c:smooth val="0"/>
          <c:extLst>
            <c:ext xmlns:c16="http://schemas.microsoft.com/office/drawing/2014/chart" uri="{C3380CC4-5D6E-409C-BE32-E72D297353CC}">
              <c16:uniqueId val="{00000001-918B-AA47-B91A-5E686AEF2D33}"/>
            </c:ext>
          </c:extLst>
        </c:ser>
        <c:ser>
          <c:idx val="2"/>
          <c:order val="2"/>
          <c:tx>
            <c:v>Plate 3</c:v>
          </c:tx>
          <c:spPr>
            <a:ln w="28575">
              <a:solidFill>
                <a:srgbClr val="8063A9"/>
              </a:solidFill>
            </a:ln>
          </c:spPr>
          <c:marker>
            <c:symbol val="circle"/>
            <c:size val="5"/>
            <c:spPr>
              <a:solidFill>
                <a:srgbClr val="8063A9"/>
              </a:solidFill>
            </c:spPr>
          </c:marker>
          <c:cat>
            <c:numRef>
              <c:f>'Chart Data'!$E$2:$E$9</c:f>
              <c:numCache>
                <c:formatCode>General</c:formatCode>
                <c:ptCount val="8"/>
                <c:pt idx="0">
                  <c:v>12</c:v>
                </c:pt>
                <c:pt idx="1">
                  <c:v>6</c:v>
                </c:pt>
                <c:pt idx="2">
                  <c:v>3</c:v>
                </c:pt>
                <c:pt idx="3">
                  <c:v>1.5</c:v>
                </c:pt>
                <c:pt idx="4">
                  <c:v>0.75</c:v>
                </c:pt>
                <c:pt idx="5">
                  <c:v>0.375</c:v>
                </c:pt>
                <c:pt idx="6">
                  <c:v>0.1875</c:v>
                </c:pt>
                <c:pt idx="7">
                  <c:v>9.375E-2</c:v>
                </c:pt>
              </c:numCache>
            </c:numRef>
          </c:cat>
          <c:val>
            <c:numRef>
              <c:f>'Chart Data'!$F$2:$F$9</c:f>
              <c:numCache>
                <c:formatCode>0.00</c:formatCode>
                <c:ptCount val="8"/>
                <c:pt idx="0">
                  <c:v>0.14699999999999999</c:v>
                </c:pt>
                <c:pt idx="1">
                  <c:v>0.13300000000000001</c:v>
                </c:pt>
                <c:pt idx="2">
                  <c:v>0.10299999999999999</c:v>
                </c:pt>
                <c:pt idx="3">
                  <c:v>0.1</c:v>
                </c:pt>
                <c:pt idx="4">
                  <c:v>9.1999999999999998E-2</c:v>
                </c:pt>
                <c:pt idx="5">
                  <c:v>8.3000000000000004E-2</c:v>
                </c:pt>
                <c:pt idx="6">
                  <c:v>8.5000000000000006E-2</c:v>
                </c:pt>
                <c:pt idx="7">
                  <c:v>0.11799999999999999</c:v>
                </c:pt>
              </c:numCache>
            </c:numRef>
          </c:val>
          <c:smooth val="0"/>
          <c:extLst>
            <c:ext xmlns:c16="http://schemas.microsoft.com/office/drawing/2014/chart" uri="{C3380CC4-5D6E-409C-BE32-E72D297353CC}">
              <c16:uniqueId val="{00000002-918B-AA47-B91A-5E686AEF2D33}"/>
            </c:ext>
          </c:extLst>
        </c:ser>
        <c:ser>
          <c:idx val="3"/>
          <c:order val="3"/>
          <c:tx>
            <c:v>Plate 4</c:v>
          </c:tx>
          <c:spPr>
            <a:ln w="28575">
              <a:solidFill>
                <a:srgbClr val="398271"/>
              </a:solidFill>
            </a:ln>
          </c:spPr>
          <c:marker>
            <c:symbol val="circle"/>
            <c:size val="5"/>
            <c:spPr>
              <a:solidFill>
                <a:srgbClr val="398271"/>
              </a:solidFill>
            </c:spPr>
          </c:marker>
          <c:cat>
            <c:numRef>
              <c:f>'Chart Data'!$G$2:$G$9</c:f>
              <c:numCache>
                <c:formatCode>General</c:formatCode>
                <c:ptCount val="8"/>
                <c:pt idx="0">
                  <c:v>12</c:v>
                </c:pt>
                <c:pt idx="1">
                  <c:v>6</c:v>
                </c:pt>
                <c:pt idx="2">
                  <c:v>3</c:v>
                </c:pt>
                <c:pt idx="3">
                  <c:v>1.5</c:v>
                </c:pt>
                <c:pt idx="4">
                  <c:v>0.75</c:v>
                </c:pt>
                <c:pt idx="5">
                  <c:v>0.375</c:v>
                </c:pt>
                <c:pt idx="6">
                  <c:v>0.1875</c:v>
                </c:pt>
                <c:pt idx="7">
                  <c:v>9.375E-2</c:v>
                </c:pt>
              </c:numCache>
            </c:numRef>
          </c:cat>
          <c:val>
            <c:numRef>
              <c:f>'Chart Data'!$H$2:$H$9</c:f>
              <c:numCache>
                <c:formatCode>0.00</c:formatCode>
                <c:ptCount val="8"/>
                <c:pt idx="0">
                  <c:v>0.14199999999999999</c:v>
                </c:pt>
                <c:pt idx="1">
                  <c:v>0.12</c:v>
                </c:pt>
                <c:pt idx="2">
                  <c:v>0.1</c:v>
                </c:pt>
                <c:pt idx="3">
                  <c:v>8.8999999999999996E-2</c:v>
                </c:pt>
                <c:pt idx="4">
                  <c:v>8.8999999999999996E-2</c:v>
                </c:pt>
                <c:pt idx="5">
                  <c:v>0.08</c:v>
                </c:pt>
                <c:pt idx="6">
                  <c:v>8.2000000000000003E-2</c:v>
                </c:pt>
                <c:pt idx="7">
                  <c:v>8.5999999999999993E-2</c:v>
                </c:pt>
              </c:numCache>
            </c:numRef>
          </c:val>
          <c:smooth val="0"/>
          <c:extLst>
            <c:ext xmlns:c16="http://schemas.microsoft.com/office/drawing/2014/chart" uri="{C3380CC4-5D6E-409C-BE32-E72D297353CC}">
              <c16:uniqueId val="{00000003-918B-AA47-B91A-5E686AEF2D33}"/>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2"/>
          <c:min val="0.05"/>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a:t>
            </a:r>
          </a:p>
          <a:p>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time: 1 minutes.</a:t>
            </a:r>
          </a:p>
          <a:p>
            <a:endParaRPr dirty="0"/>
          </a:p>
          <a:p>
            <a:r>
              <a:rPr dirty="0"/>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a:endParaRPr dirty="0"/>
          </a:p>
          <a:p>
            <a:r>
              <a:rPr dirty="0"/>
              <a:t>Sources, relative to </a:t>
            </a:r>
            <a:r>
              <a:rPr dirty="0" err="1"/>
              <a:t>glycerol_lactate_community</a:t>
            </a:r>
            <a:r>
              <a:rPr dirty="0"/>
              <a:t>/: docs/</a:t>
            </a:r>
            <a:r>
              <a:rPr dirty="0" err="1"/>
              <a:t>PROJECT_BRIEF.md</a:t>
            </a:r>
            <a:r>
              <a:rPr dirty="0"/>
              <a:t>; protocols/SOP — Community Assembly and Crude-Glycerol Fermentation </a:t>
            </a:r>
            <a:r>
              <a:rPr dirty="0" err="1"/>
              <a:t>Screen.md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384 genome records form the screening cohort. Counts of genomes with different enzyme classes overlap. These are sequence-derived calls, not fermentation measurements. The broad annotation screen and the dedicated LDH adjudication are distinct analyses.</a:t>
            </a:r>
          </a:p>
          <a:p>
            <a:endParaRPr/>
          </a:p>
          <a:p>
            <a:r>
              <a:t>Sources, relative to glycerol_lactate_community/: results/screening/genome_scores.tsv; results/screening/ldh_adjudication.tsv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A generic LDH annotation cannot establish L-lactate production. The sequence review distinguishes L-LDH from D-LDH and lactate-consuming enzymes, and considers racemase systems. The current v5 panel does not exclude strains merely for lactate oxidase or modeled lactate consumption. Strain 275 maps to P3_C3, Lactococcus lactis, whose panel rationale explicitly retains a predicted lctO. Strain 294, P3_G8, is also retained despite oxidation-related concerns. These calls indicate potential, not measured activity.</a:t>
            </a:r>
          </a:p>
          <a:p>
            <a:endParaRPr/>
          </a:p>
          <a:p>
            <a:r>
              <a:t>Sources, relative to glycerol_lactate_community/: results/screening/genome_scores.tsv; results/screening/ldh_adjudication.tsv; panel/pool_v5_panel.yaml; protocols/Strain Identity and Lab Mapping.md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a:endParaRPr/>
          </a:p>
          <a:p>
            <a:r>
              <a:t>Sources, relative to glycerol_lactate_community/: panel/pool_v5_panel.yaml; protocols/Strain Identity and Lab Mapping.md; protocols/echo/experiment_setup.ipynb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a:endParaRPr/>
          </a:p>
          <a:p>
            <a:r>
              <a:t>Sources, relative to glycerol_lactate_community/: protocols/SOP — Colorimetric L-Lactate Assay for Bacterial Supernatants.md; protocols/echo/experiment_setup.ipynb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endParaRPr/>
          </a:p>
          <a:p>
            <a:r>
              <a:t>The user describes the experiment as aerobic. This means incubation with oxygen exposure, not a measured dissolved-oxygen setpoint. The SOP specifies sealed 384-well plates and a fixed 48 h endpoint. It leaves shaking to the recorded campaign setting, so no rpm is invented here. Glycerol is more reduced than lactate. In a GlpK/GlpD route, oxygen accepts surplus electrons through respiration while LDH reduces pyruvate to lactate. Mazumdar et al. demonstrate this coupling in engineered E. coli producing D-lactate, a mechanistic precedent rather than evidence for production by this natural L-lactate panel. Excess oxygen can also favor respiration or lactate consumption. The 48 h rationale is to allow slow cultures to develop and include potential stationary-phase accumulation. The current data do not establish when each community reaches stationary phase or when lactate production peaks. The SOP explicitly calls for endpoint validation. Older planning documents assumed low oxygen and later revised timepoint plans. Those assumptions are not measurements of these plates.</a:t>
            </a:r>
          </a:p>
          <a:p>
            <a:endParaRPr/>
          </a:p>
          <a:p>
            <a:r>
              <a:t>Sources, relative to glycerol_lactate_community/: protocols/SOP — Community Assembly and Crude-Glycerol Fermentation Screen.md, section 8; results/lactate_biology/OVERFLOW_TRIGGERS.md, H1; https://doi.org/10.1128/AEM.00664-10; user incubation rationale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a:endParaRPr/>
          </a:p>
          <a:p>
            <a:r>
              <a:t>Sources, relative to glycerol_lactate_community/: protocols/echo/experiment_setup_output; current analysis source hashes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endParaRPr/>
          </a:p>
          <a:p>
            <a:r>
              <a:t>Each of the three community readings exceeds every reading of each constituent monoculture on the same plate. Pairwise sample labels do not imply matched independent biological replicates. Strain identities: 294 is Rhodococcus erythropolis, 196 is Paenibacillus amylolyticus, 291 is Paenibacillus odorifer, and 264 is Pseudomonas sp. These are sequence-derived labels linked to physical stocks through the mapping document.</a:t>
            </a:r>
          </a:p>
          <a:p>
            <a:endParaRPr/>
          </a:p>
          <a:p>
            <a:r>
              <a:t>Sources, relative to glycerol_lactate_community/: protocols/echo/readout/04-09/analysis_20260908/findings.md; ordinary reader CSVs in protocols/echo/readout/04-09; original plate-2 ordinary CSV and community design; protocols/Strain Identity and Lab Mapping.md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a:endParaRPr/>
          </a:p>
          <a:p>
            <a:r>
              <a:t>Sources, relative to glycerol_lactate_community/: protocols/echo/readout/04-09/analysis_20260908/findings.md; ordinary reader CSVs in protocols/echo/readout/04-09;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a:endParaRPr/>
          </a:p>
          <a:p>
            <a:r>
              <a:t>Sources, relative to glycerol_lactate_community/: protocols/echo/acquisition_round_20260909.py; snapshot 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a:endParaRPr/>
          </a:p>
          <a:p>
            <a:r>
              <a:t>Sources, relative to glycerol_lactate_community/: protocols/echo/acquisition_round_20260909.py; snapshot training lineage and model_summary.csv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Prospective means predictions saved before the measurements existed: predictions saved on 2 September, ordinary readout on 4 September. For each batch, sort communities by predicted response and separately by observed response, then compare the rankings with Spearman correlation. Plus one is identical order, zero is no monotonic agreement, minus one is reversed order. The values are -0.131, -0.130 and +0.146. They show little ranking agreement in the selected batches. This is not percent accuracy, a lactate concentration, or a comparison of average batch performance. EI and posterior-mean batches deliberately cover selected parts of the prediction range. These within-batch correlations alone cannot establish model performance over the full community space or whether an acquisition policy beats random sampling. One plate per path also confounds strategy and plate effects.</a:t>
            </a:r>
          </a:p>
          <a:p>
            <a:endParaRPr/>
          </a:p>
          <a:p>
            <a:r>
              <a:t>Sources, relative to glycerol_lactate_community/: protocols/echo/readout/04-09/analysis_20260908/findings.md; ordinary reader CSVs in protocols/echo/readout/04-09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 previous slide tests ranking within selected batches. This slide asks how the batches actually performed. The blue bar is the median of 102 community triplicate medians after subtracting each plate's 76-well edge median. The orange bar is the highest community triplicate median with the same adjustment, not the highest individual well. All values use the ordinary reader mode on 4 September. EI has the highest typical signal: 0.1315 versus max diversity 0.0675, posterior mean 0.0835 and random 0.0815. The highest individual community median belongs to random (0.6235), followed by posterior mean (0.5990), EI (0.5555) and max diversity (0.4780). Random's RANDOM_010 has raw readings 0.859, 0.724 and 0.348. Max diversity's four-member candidate 294 + 196 + 291 + 264 has raw readings 0.529, 0.573 and 0.777, and all three exceed all constituent monoculture readings. Its edge-adjusted median is 0.4780. Distinguish the highest median from support across all three wells. EI also has the highest typical signal in the paired SPR mode, although that mode is not plotted here. This is a descriptive comparison of the four measured batches, with one plate per strategy. Do not infer an independently replicated acquisition-policy advantage. No concentration conversion is used. Do not subtract each plate's own culture median for a batch-performance comparison because that removes its typical response.</a:t>
            </a:r>
          </a:p>
          <a:p>
            <a:endParaRPr/>
          </a:p>
          <a:p>
            <a:r>
              <a:t>Source: glycerol_lactate_community/protocols/echo/readout/04-09/analysis_20260908/findings.md, Four strategies, Strong candidates, and Mapping and processing sections. Source reader CSVs and picklist mapping are listed in that report. Existing analysis only, no model refit.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a:endParaRPr/>
          </a:p>
          <a:p>
            <a:r>
              <a:t>Sources, relative to glycerol_lactate_community/: protocols/echo/readout/11-09, four CSVs. Plate ID from ID1 metadata. Designs from 20260909T220918_350704Z/12strains.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Each community has three intended technical wells. ICC(1,1), a one-way random-effects intraclass correlation for individual wells, compares between-community variance with within-community variance. Zero means no consistent separation by community identity. One means perfect agreement of replicate wells with differences between communities. ICC is dimensionless, not absorbance, concentration, or percent correctly assembled. It can have a negative sample estimate, although all values here are positive. September 11 values are 0.016, 0.073, 0.037 and 0.040. On September 4 the max-diversity and posterior-mean panels show more agreement. Different compositions and signal ranges across rounds limit this comparison. Incomplete assembly due to the source-volume calculation error is a known problem in the latest round. ICC cannot identify failed transfers or establish the sole cause of low agreement.</a:t>
            </a:r>
          </a:p>
          <a:p>
            <a:endParaRPr/>
          </a:p>
          <a:p>
            <a:r>
              <a:t>Sources, relative to glycerol_lactate_community/: protocols/echo/readout/11-09, four CSVs. Plate ID from ID1 metadata. Designs from 20260909T220918_350704Z/12strains.; protocols/echo/readout/04-09/analysis_20260908/findings.md; ordinary reader CSVs in protocols/echo/readout/04-09; work/master_update_20260913/analyze.py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 minutes.</a:t>
            </a:r>
          </a:p>
          <a:p>
            <a:endParaRPr/>
          </a:p>
          <a:p>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a:endParaRPr/>
          </a:p>
          <a:p>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 minutes.</a:t>
            </a:r>
          </a:p>
          <a:p>
            <a:endParaRPr/>
          </a:p>
          <a:p>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a:endParaRPr/>
          </a:p>
          <a:p>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74BDB50-75C6-4EC2-8623-F5A0C7AB2619}"/>
              </a:ext>
            </a:extLst>
          </p:cNvPr>
          <p:cNvSpPr>
            <a:spLocks noGrp="1"/>
          </p:cNvSpPr>
          <p:nvPr/>
        </p:nvSpPr>
        <p:spPr>
          <a:xfrm>
            <a:off x="685800" y="1381125"/>
            <a:ext cx="10715625" cy="1619250"/>
          </a:xfrm>
          <a:prstGeom prst="rect">
            <a:avLst/>
          </a:prstGeom>
          <a:noFill/>
          <a:ln w="0">
            <a:noFill/>
          </a:ln>
        </p:spPr>
        <p:txBody>
          <a:bodyPr>
            <a:noAutofit/>
          </a:bodyPr>
          <a:lstStyle/>
          <a:p>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Rechteck 1">
            <a:extLst>
              <a:ext uri="{FF2B5EF4-FFF2-40B4-BE49-F238E27FC236}">
                <a16:creationId xmlns:a16="http://schemas.microsoft.com/office/drawing/2014/main" id="{587D2B0A-9F68-4333-A297-ABE4CB9BEE50}"/>
              </a:ext>
            </a:extLst>
          </p:cNvPr>
          <p:cNvSpPr>
            <a:spLocks noGrp="1"/>
          </p:cNvSpPr>
          <p:nvPr/>
        </p:nvSpPr>
        <p:spPr>
          <a:xfrm>
            <a:off x="723900" y="3343275"/>
            <a:ext cx="10191750" cy="819150"/>
          </a:xfrm>
          <a:prstGeom prst="rect">
            <a:avLst/>
          </a:prstGeom>
          <a:noFill/>
          <a:ln w="0">
            <a:noFill/>
          </a:ln>
        </p:spPr>
        <p:txBody>
          <a:bodyPr>
            <a:noAutofit/>
          </a:bodyPr>
          <a:lstStyle/>
          <a:p>
            <a:pPr>
              <a:defRPr sz="2250" b="0">
                <a:solidFill>
                  <a:srgbClr val="506574"/>
                </a:solidFill>
                <a:latin typeface="Helvetica Neue"/>
                <a:ea typeface="Helvetica Neue"/>
                <a:cs typeface="Helvetica Neue"/>
              </a:defRPr>
            </a:pPr>
            <a:r>
              <a:rPr sz="2250" b="0" dirty="0">
                <a:solidFill>
                  <a:srgbClr val="506574"/>
                </a:solidFill>
                <a:latin typeface="Helvetica Neue"/>
                <a:ea typeface="Helvetica Neue"/>
                <a:cs typeface="Helvetica Neue"/>
              </a:rPr>
              <a:t>Genome-guided strain selection and L-lactate</a:t>
            </a:r>
            <a:r>
              <a:rPr lang="de-DE" sz="2250" b="0" dirty="0">
                <a:solidFill>
                  <a:srgbClr val="506574"/>
                </a:solidFill>
                <a:latin typeface="Helvetica Neue"/>
                <a:ea typeface="Helvetica Neue"/>
                <a:cs typeface="Helvetica Neue"/>
              </a:rPr>
              <a:t> </a:t>
            </a:r>
            <a:r>
              <a:rPr lang="de-DE" sz="2250" b="0" dirty="0" err="1">
                <a:solidFill>
                  <a:srgbClr val="506574"/>
                </a:solidFill>
                <a:latin typeface="Helvetica Neue"/>
                <a:ea typeface="Helvetica Neue"/>
                <a:cs typeface="Helvetica Neue"/>
              </a:rPr>
              <a:t>community</a:t>
            </a:r>
            <a:r>
              <a:rPr sz="2250" b="0">
                <a:solidFill>
                  <a:srgbClr val="506574"/>
                </a:solidFill>
                <a:latin typeface="Helvetica Neue"/>
                <a:ea typeface="Helvetica Neue"/>
                <a:cs typeface="Helvetica Neue"/>
              </a:rPr>
              <a:t> screen</a:t>
            </a:r>
            <a:endParaRPr sz="2250" b="0" dirty="0">
              <a:solidFill>
                <a:srgbClr val="506574"/>
              </a:solidFill>
              <a:latin typeface="Helvetica Neue"/>
              <a:ea typeface="Helvetica Neue"/>
              <a:cs typeface="Helvetica Neue"/>
            </a:endParaRPr>
          </a:p>
        </p:txBody>
      </p:sp>
      <p:sp>
        <p:nvSpPr>
          <p:cNvPr id="3" name="Rechteck 2">
            <a:extLst>
              <a:ext uri="{FF2B5EF4-FFF2-40B4-BE49-F238E27FC236}">
                <a16:creationId xmlns:a16="http://schemas.microsoft.com/office/drawing/2014/main" id="{1EFF467D-2CA6-40D3-9432-203A02E4E378}"/>
              </a:ext>
            </a:extLst>
          </p:cNvPr>
          <p:cNvSpPr>
            <a:spLocks noGrp="1"/>
          </p:cNvSpPr>
          <p:nvPr/>
        </p:nvSpPr>
        <p:spPr>
          <a:xfrm>
            <a:off x="723900" y="4857750"/>
            <a:ext cx="9048750" cy="1162050"/>
          </a:xfrm>
          <a:prstGeom prst="rect">
            <a:avLst/>
          </a:prstGeom>
          <a:noFill/>
          <a:ln w="0">
            <a:noFill/>
          </a:ln>
        </p:spPr>
        <p:txBody>
          <a:bodyPr>
            <a:noAutofit/>
          </a:bodyPr>
          <a:lstStyle/>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14 September 2026</a:t>
            </a:r>
          </a:p>
        </p:txBody>
      </p:sp>
    </p:spTree>
    <p:extLst>
      <p:ext uri="{BB962C8B-B14F-4D97-AF65-F5344CB8AC3E}">
        <p14:creationId xmlns:p14="http://schemas.microsoft.com/office/powerpoint/2010/main" val="115058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C35D432E-BF55-40AF-A855-4B3D091B8F2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Rechteck 1">
            <a:extLst>
              <a:ext uri="{FF2B5EF4-FFF2-40B4-BE49-F238E27FC236}">
                <a16:creationId xmlns:a16="http://schemas.microsoft.com/office/drawing/2014/main" id="{B6942E05-6325-4678-9448-31D49223AFC5}"/>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Rechteck 2">
            <a:extLst>
              <a:ext uri="{FF2B5EF4-FFF2-40B4-BE49-F238E27FC236}">
                <a16:creationId xmlns:a16="http://schemas.microsoft.com/office/drawing/2014/main" id="{EF58DDF9-A1D2-4473-872D-C6185B93DB32}"/>
              </a:ext>
            </a:extLst>
          </p:cNvPr>
          <p:cNvSpPr>
            <a:spLocks noGrp="1"/>
          </p:cNvSpPr>
          <p:nvPr/>
        </p:nvSpPr>
        <p:spPr>
          <a:xfrm>
            <a:off x="704850" y="1743075"/>
            <a:ext cx="10572750" cy="1266825"/>
          </a:xfrm>
          <a:prstGeom prst="rect">
            <a:avLst/>
          </a:prstGeom>
          <a:noFill/>
          <a:ln w="0">
            <a:noFill/>
          </a:ln>
        </p:spPr>
        <p:txBody>
          <a:bodyPr>
            <a:noAutofit/>
          </a:bodyPr>
          <a:lstStyle/>
          <a:p>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Rechteck 3">
            <a:extLst>
              <a:ext uri="{FF2B5EF4-FFF2-40B4-BE49-F238E27FC236}">
                <a16:creationId xmlns:a16="http://schemas.microsoft.com/office/drawing/2014/main" id="{2C63B389-88FF-4FD6-9E20-A3F3D9B73D39}"/>
              </a:ext>
            </a:extLst>
          </p:cNvPr>
          <p:cNvSpPr>
            <a:spLocks noGrp="1"/>
          </p:cNvSpPr>
          <p:nvPr/>
        </p:nvSpPr>
        <p:spPr>
          <a:xfrm>
            <a:off x="704850" y="33909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Rechteck 4">
            <a:extLst>
              <a:ext uri="{FF2B5EF4-FFF2-40B4-BE49-F238E27FC236}">
                <a16:creationId xmlns:a16="http://schemas.microsoft.com/office/drawing/2014/main" id="{083002E4-14E3-4D74-A32F-2422048B0243}"/>
              </a:ext>
            </a:extLst>
          </p:cNvPr>
          <p:cNvSpPr>
            <a:spLocks noGrp="1"/>
          </p:cNvSpPr>
          <p:nvPr/>
        </p:nvSpPr>
        <p:spPr>
          <a:xfrm>
            <a:off x="704850" y="38766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Rechteck 5">
            <a:extLst>
              <a:ext uri="{FF2B5EF4-FFF2-40B4-BE49-F238E27FC236}">
                <a16:creationId xmlns:a16="http://schemas.microsoft.com/office/drawing/2014/main" id="{ECC9E320-1449-45F6-8E25-CF84ED84CDEF}"/>
              </a:ext>
            </a:extLst>
          </p:cNvPr>
          <p:cNvSpPr>
            <a:spLocks noGrp="1"/>
          </p:cNvSpPr>
          <p:nvPr/>
        </p:nvSpPr>
        <p:spPr>
          <a:xfrm>
            <a:off x="704850" y="474345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Rechteck 6">
            <a:extLst>
              <a:ext uri="{FF2B5EF4-FFF2-40B4-BE49-F238E27FC236}">
                <a16:creationId xmlns:a16="http://schemas.microsoft.com/office/drawing/2014/main" id="{10758860-43B4-4D7E-9D7A-51D6BB3D1186}"/>
              </a:ext>
            </a:extLst>
          </p:cNvPr>
          <p:cNvSpPr>
            <a:spLocks noGrp="1"/>
          </p:cNvSpPr>
          <p:nvPr/>
        </p:nvSpPr>
        <p:spPr>
          <a:xfrm>
            <a:off x="704850" y="522922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Can model-guided selection find useful </a:t>
            </a:r>
            <a:r>
              <a:rPr lang="de-DE" sz="1950" b="0" dirty="0" err="1">
                <a:solidFill>
                  <a:srgbClr val="506574"/>
                </a:solidFill>
                <a:latin typeface="Helvetica Neue"/>
                <a:ea typeface="Helvetica Neue"/>
                <a:cs typeface="Helvetica Neue"/>
              </a:rPr>
              <a:t>compositions</a:t>
            </a:r>
            <a:r>
              <a:rPr sz="1950" b="0" dirty="0">
                <a:solidFill>
                  <a:srgbClr val="506574"/>
                </a:solidFill>
                <a:latin typeface="Helvetica Neue"/>
                <a:ea typeface="Helvetica Neue"/>
                <a:cs typeface="Helvetica Neue"/>
              </a:rPr>
              <a:t> with fewer </a:t>
            </a:r>
            <a:r>
              <a:rPr lang="de-DE" sz="1950" b="0" dirty="0" err="1">
                <a:solidFill>
                  <a:srgbClr val="506574"/>
                </a:solidFill>
                <a:latin typeface="Helvetica Neue"/>
                <a:ea typeface="Helvetica Neue"/>
                <a:cs typeface="Helvetica Neue"/>
              </a:rPr>
              <a:t>measurements</a:t>
            </a:r>
            <a:r>
              <a:rPr sz="1950" b="0" dirty="0">
                <a:solidFill>
                  <a:srgbClr val="506574"/>
                </a:solidFill>
                <a:latin typeface="Helvetica Neue"/>
                <a:ea typeface="Helvetica Neue"/>
                <a:cs typeface="Helvetica Neue"/>
              </a:rPr>
              <a:t>?</a:t>
            </a:r>
          </a:p>
        </p:txBody>
      </p:sp>
    </p:spTree>
    <p:extLst>
      <p:ext uri="{BB962C8B-B14F-4D97-AF65-F5344CB8AC3E}">
        <p14:creationId xmlns:p14="http://schemas.microsoft.com/office/powerpoint/2010/main" val="23000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C5F7139-6A5E-4D8B-BB35-CBAF807B86C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Genome screening defined </a:t>
            </a:r>
            <a:r>
              <a:rPr lang="de-DE" sz="3225" b="1" dirty="0" err="1">
                <a:solidFill>
                  <a:srgbClr val="172D3C"/>
                </a:solidFill>
                <a:latin typeface="Helvetica Neue"/>
                <a:ea typeface="Helvetica Neue"/>
                <a:cs typeface="Helvetica Neue"/>
              </a:rPr>
              <a:t>the</a:t>
            </a:r>
            <a:r>
              <a:rPr lang="de-DE" sz="3225" b="1" dirty="0">
                <a:solidFill>
                  <a:srgbClr val="172D3C"/>
                </a:solidFill>
                <a:latin typeface="Helvetica Neue"/>
                <a:ea typeface="Helvetica Neue"/>
                <a:cs typeface="Helvetica Neue"/>
              </a:rPr>
              <a:t> </a:t>
            </a:r>
            <a:r>
              <a:rPr lang="de-DE" sz="3225" b="1" dirty="0" err="1">
                <a:solidFill>
                  <a:srgbClr val="172D3C"/>
                </a:solidFill>
                <a:latin typeface="Helvetica Neue"/>
                <a:ea typeface="Helvetica Neue"/>
                <a:cs typeface="Helvetica Neue"/>
              </a:rPr>
              <a:t>selected</a:t>
            </a:r>
            <a:r>
              <a:rPr lang="de-DE" sz="3225" b="1" dirty="0">
                <a:solidFill>
                  <a:srgbClr val="172D3C"/>
                </a:solidFill>
                <a:latin typeface="Helvetica Neue"/>
                <a:ea typeface="Helvetica Neue"/>
                <a:cs typeface="Helvetica Neue"/>
              </a:rPr>
              <a:t> </a:t>
            </a:r>
            <a:r>
              <a:rPr sz="3225" b="1" dirty="0">
                <a:solidFill>
                  <a:srgbClr val="172D3C"/>
                </a:solidFill>
                <a:latin typeface="Helvetica Neue"/>
                <a:ea typeface="Helvetica Neue"/>
                <a:cs typeface="Helvetica Neue"/>
              </a:rPr>
              <a:t>strain panel</a:t>
            </a:r>
          </a:p>
        </p:txBody>
      </p:sp>
      <p:sp>
        <p:nvSpPr>
          <p:cNvPr id="2" name="Rechteck 1">
            <a:extLst>
              <a:ext uri="{FF2B5EF4-FFF2-40B4-BE49-F238E27FC236}">
                <a16:creationId xmlns:a16="http://schemas.microsoft.com/office/drawing/2014/main" id="{ECE32A14-EE59-4E1C-8653-088E50A13626}"/>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B4D4EB8A-78E8-4CA3-87E0-E05B591ED4BD}"/>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384 genomes screened. </a:t>
            </a:r>
            <a:r>
              <a:rPr lang="de-DE" sz="1650" b="0" dirty="0" err="1">
                <a:solidFill>
                  <a:srgbClr val="506574"/>
                </a:solidFill>
                <a:latin typeface="Helvetica Neue"/>
                <a:ea typeface="Helvetica Neue"/>
                <a:cs typeface="Helvetica Neue"/>
              </a:rPr>
              <a:t>Categories</a:t>
            </a:r>
            <a:r>
              <a:rPr lang="de-DE" sz="1650" b="0" dirty="0">
                <a:solidFill>
                  <a:srgbClr val="506574"/>
                </a:solidFill>
                <a:latin typeface="Helvetica Neue"/>
                <a:ea typeface="Helvetica Neue"/>
                <a:cs typeface="Helvetica Neue"/>
              </a:rPr>
              <a:t> </a:t>
            </a:r>
            <a:r>
              <a:rPr lang="de-DE" sz="1650" b="0" dirty="0" err="1">
                <a:solidFill>
                  <a:srgbClr val="506574"/>
                </a:solidFill>
                <a:latin typeface="Helvetica Neue"/>
                <a:ea typeface="Helvetica Neue"/>
                <a:cs typeface="Helvetica Neue"/>
              </a:rPr>
              <a:t>overlap</a:t>
            </a:r>
            <a:r>
              <a:rPr lang="de-DE" sz="1650" b="0" dirty="0">
                <a:solidFill>
                  <a:srgbClr val="506574"/>
                </a:solidFill>
                <a:latin typeface="Helvetica Neue"/>
                <a:ea typeface="Helvetica Neue"/>
                <a:cs typeface="Helvetica Neue"/>
              </a:rPr>
              <a:t>.</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66045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E05B690-A24D-4269-9BA4-D9569C771EC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production and consumption in the strain screen</a:t>
            </a:r>
          </a:p>
        </p:txBody>
      </p:sp>
      <p:sp>
        <p:nvSpPr>
          <p:cNvPr id="2" name="Rechteck 1">
            <a:extLst>
              <a:ext uri="{FF2B5EF4-FFF2-40B4-BE49-F238E27FC236}">
                <a16:creationId xmlns:a16="http://schemas.microsoft.com/office/drawing/2014/main" id="{BDC55434-708C-4D32-99D8-A6CE8891B757}"/>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Tabelle 6"/>
          <p:cNvGraphicFramePr/>
          <p:nvPr>
            <p:extLst>
              <p:ext uri="{D42A27DB-BD31-4B8C-83A1-F6EECF244321}">
                <p14:modId xmlns:p14="http://schemas.microsoft.com/office/powerpoint/2010/main" val="2400661035"/>
              </p:ext>
            </p:extLst>
          </p:nvPr>
        </p:nvGraphicFramePr>
        <p:xfrm>
          <a:off x="666750" y="1733550"/>
          <a:ext cx="10858500" cy="3114676"/>
        </p:xfrm>
        <a:graphic>
          <a:graphicData uri="http://schemas.openxmlformats.org/drawingml/2006/table">
            <a:tbl>
              <a:tblPr/>
              <a:tblGrid>
                <a:gridCol w="457200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778669">
                <a:tc>
                  <a:txBody>
                    <a:bodyPr/>
                    <a:lstStyle/>
                    <a:p>
                      <a:r>
                        <a:rPr sz="1875" b="1">
                          <a:solidFill>
                            <a:srgbClr val="FFFFFF"/>
                          </a:solidFill>
                          <a:latin typeface="Helvetica Neue"/>
                          <a:ea typeface="Helvetica Neue"/>
                          <a:cs typeface="Helvetica Neue"/>
                        </a:rPr>
                        <a:t>Sequence evidence</a:t>
                      </a:r>
                    </a:p>
                  </a:txBody>
                  <a:tcPr>
                    <a:solidFill>
                      <a:srgbClr val="172D3C"/>
                    </a:solidFill>
                  </a:tcPr>
                </a:tc>
                <a:tc>
                  <a:txBody>
                    <a:bodyPr/>
                    <a:lstStyle/>
                    <a:p>
                      <a:r>
                        <a:rPr sz="1875" b="1">
                          <a:solidFill>
                            <a:srgbClr val="FFFFFF"/>
                          </a:solidFill>
                          <a:latin typeface="Helvetica Neue"/>
                          <a:ea typeface="Helvetica Neue"/>
                          <a:cs typeface="Helvetica Neue"/>
                        </a:rPr>
                        <a:t>Meaning for selection</a:t>
                      </a:r>
                    </a:p>
                  </a:txBody>
                  <a:tcPr>
                    <a:solidFill>
                      <a:srgbClr val="172D3C"/>
                    </a:solidFill>
                  </a:tcPr>
                </a:tc>
                <a:extLst>
                  <a:ext uri="{0D108BD9-81ED-4DB2-BD59-A6C34878D82A}">
                    <a16:rowId xmlns:a16="http://schemas.microsoft.com/office/drawing/2014/main" val="10000"/>
                  </a:ext>
                </a:extLst>
              </a:tr>
              <a:tr h="778669">
                <a:tc>
                  <a:txBody>
                    <a:bodyPr/>
                    <a:lstStyle/>
                    <a:p>
                      <a:r>
                        <a:rPr sz="1875" b="0">
                          <a:solidFill>
                            <a:srgbClr val="172D3C"/>
                          </a:solidFill>
                          <a:latin typeface="Helvetica Neue"/>
                          <a:ea typeface="Helvetica Neue"/>
                          <a:cs typeface="Helvetica Neue"/>
                        </a:rPr>
                        <a:t>L-LDH versus D-LDH</a:t>
                      </a:r>
                    </a:p>
                  </a:txBody>
                  <a:tcPr>
                    <a:solidFill>
                      <a:srgbClr val="F1F4F6"/>
                    </a:solidFill>
                  </a:tcPr>
                </a:tc>
                <a:tc>
                  <a:txBody>
                    <a:bodyPr/>
                    <a:lstStyle/>
                    <a:p>
                      <a:r>
                        <a:rPr sz="1875" b="0">
                          <a:solidFill>
                            <a:srgbClr val="172D3C"/>
                          </a:solidFill>
                          <a:latin typeface="Helvetica Neue"/>
                          <a:ea typeface="Helvetica Neue"/>
                          <a:cs typeface="Helvetica Neue"/>
                        </a:rPr>
                        <a:t>Candidate production route and stereochemistry</a:t>
                      </a:r>
                    </a:p>
                  </a:txBody>
                  <a:tcPr>
                    <a:solidFill>
                      <a:srgbClr val="F1F4F6"/>
                    </a:solidFill>
                  </a:tcPr>
                </a:tc>
                <a:extLst>
                  <a:ext uri="{0D108BD9-81ED-4DB2-BD59-A6C34878D82A}">
                    <a16:rowId xmlns:a16="http://schemas.microsoft.com/office/drawing/2014/main" val="10001"/>
                  </a:ext>
                </a:extLst>
              </a:tr>
              <a:tr h="778669">
                <a:tc>
                  <a:txBody>
                    <a:bodyPr/>
                    <a:lstStyle/>
                    <a:p>
                      <a:r>
                        <a:rPr sz="1875" b="0">
                          <a:solidFill>
                            <a:srgbClr val="172D3C"/>
                          </a:solidFill>
                          <a:latin typeface="Helvetica Neue"/>
                          <a:ea typeface="Helvetica Neue"/>
                          <a:cs typeface="Helvetica Neue"/>
                        </a:rPr>
                        <a:t>Racemase systems</a:t>
                      </a:r>
                    </a:p>
                  </a:txBody>
                  <a:tcPr>
                    <a:solidFill>
                      <a:srgbClr val="FFFFFF"/>
                    </a:solidFill>
                  </a:tcPr>
                </a:tc>
                <a:tc>
                  <a:txBody>
                    <a:bodyPr/>
                    <a:lstStyle/>
                    <a:p>
                      <a:r>
                        <a:rPr sz="1875" b="0">
                          <a:solidFill>
                            <a:srgbClr val="172D3C"/>
                          </a:solidFill>
                          <a:latin typeface="Helvetica Neue"/>
                          <a:ea typeface="Helvetica Neue"/>
                          <a:cs typeface="Helvetica Neue"/>
                        </a:rPr>
                        <a:t>Potential conversion between L- and D-lactate</a:t>
                      </a:r>
                    </a:p>
                  </a:txBody>
                  <a:tcPr>
                    <a:solidFill>
                      <a:srgbClr val="FFFFFF"/>
                    </a:solidFill>
                  </a:tcPr>
                </a:tc>
                <a:extLst>
                  <a:ext uri="{0D108BD9-81ED-4DB2-BD59-A6C34878D82A}">
                    <a16:rowId xmlns:a16="http://schemas.microsoft.com/office/drawing/2014/main" val="10002"/>
                  </a:ext>
                </a:extLst>
              </a:tr>
              <a:tr h="778669">
                <a:tc>
                  <a:txBody>
                    <a:bodyPr/>
                    <a:lstStyle/>
                    <a:p>
                      <a:r>
                        <a:rPr sz="1875" b="0">
                          <a:solidFill>
                            <a:srgbClr val="172D3C"/>
                          </a:solidFill>
                          <a:latin typeface="Helvetica Neue"/>
                          <a:ea typeface="Helvetica Neue"/>
                          <a:cs typeface="Helvetica Neue"/>
                        </a:rPr>
                        <a:t>Lactate oxidase and other oxidation routes</a:t>
                      </a:r>
                    </a:p>
                  </a:txBody>
                  <a:tcPr>
                    <a:solidFill>
                      <a:srgbClr val="F1F4F6"/>
                    </a:solidFill>
                  </a:tcPr>
                </a:tc>
                <a:tc>
                  <a:txBody>
                    <a:bodyPr/>
                    <a:lstStyle/>
                    <a:p>
                      <a:r>
                        <a:rPr sz="1875" b="0" dirty="0">
                          <a:solidFill>
                            <a:srgbClr val="172D3C"/>
                          </a:solidFill>
                          <a:latin typeface="Helvetica Neue"/>
                          <a:ea typeface="Helvetica Neue"/>
                          <a:cs typeface="Helvetica Neue"/>
                        </a:rPr>
                        <a:t>Allowed in the current panel. </a:t>
                      </a:r>
                      <a:r>
                        <a:rPr lang="de-DE" sz="1875" b="0" dirty="0">
                          <a:solidFill>
                            <a:srgbClr val="172D3C"/>
                          </a:solidFill>
                          <a:latin typeface="Helvetica Neue"/>
                          <a:ea typeface="Helvetica Neue"/>
                          <a:cs typeface="Helvetica Neue"/>
                        </a:rPr>
                        <a:t>Potential</a:t>
                      </a:r>
                      <a:r>
                        <a:rPr sz="1875" b="0" dirty="0">
                          <a:solidFill>
                            <a:srgbClr val="172D3C"/>
                          </a:solidFill>
                          <a:latin typeface="Helvetica Neue"/>
                          <a:ea typeface="Helvetica Neue"/>
                          <a:cs typeface="Helvetica Neue"/>
                        </a:rPr>
                        <a:t> lactate-consumption </a:t>
                      </a:r>
                      <a:r>
                        <a:rPr lang="de-DE" sz="1875" b="0" dirty="0" err="1">
                          <a:solidFill>
                            <a:srgbClr val="172D3C"/>
                          </a:solidFill>
                          <a:latin typeface="Helvetica Neue"/>
                          <a:ea typeface="Helvetica Neue"/>
                          <a:cs typeface="Helvetica Neue"/>
                        </a:rPr>
                        <a:t>during</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incubation</a:t>
                      </a:r>
                      <a:r>
                        <a:rPr sz="1875" b="0" dirty="0">
                          <a:solidFill>
                            <a:srgbClr val="172D3C"/>
                          </a:solidFill>
                          <a:latin typeface="Helvetica Neue"/>
                          <a:ea typeface="Helvetica Neue"/>
                          <a:cs typeface="Helvetica Neue"/>
                        </a:rPr>
                        <a:t>.</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947ED1DD-7EC7-4618-938B-87A2FC9415EE}"/>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Example: strain 275 (Lactococcus lactis) remains in the panel despite its predicted </a:t>
            </a:r>
            <a:r>
              <a:rPr sz="1650" b="0" dirty="0" err="1">
                <a:solidFill>
                  <a:srgbClr val="506574"/>
                </a:solidFill>
                <a:latin typeface="Helvetica Neue"/>
                <a:ea typeface="Helvetica Neue"/>
                <a:cs typeface="Helvetica Neue"/>
              </a:rPr>
              <a:t>lctO</a:t>
            </a:r>
            <a:r>
              <a:rPr sz="1650" b="0" dirty="0">
                <a:solidFill>
                  <a:srgbClr val="506574"/>
                </a:solidFill>
                <a:latin typeface="Helvetica Neue"/>
                <a:ea typeface="Helvetica Neue"/>
                <a:cs typeface="Helvetica Neue"/>
              </a:rPr>
              <a:t> gene.</a:t>
            </a:r>
            <a:endParaRPr lang="de-DE" sz="1650" b="0" dirty="0">
              <a:solidFill>
                <a:srgbClr val="506574"/>
              </a:solidFill>
              <a:latin typeface="Helvetica Neue"/>
              <a:ea typeface="Helvetica Neue"/>
              <a:cs typeface="Helvetica Neue"/>
            </a:endParaRPr>
          </a:p>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Chosen </a:t>
            </a:r>
            <a:r>
              <a:rPr lang="de-DE" sz="1650" b="0" dirty="0" err="1">
                <a:solidFill>
                  <a:srgbClr val="506574"/>
                </a:solidFill>
                <a:latin typeface="Helvetica Neue"/>
                <a:ea typeface="Helvetica Neue"/>
                <a:cs typeface="Helvetica Neue"/>
              </a:rPr>
              <a:t>for</a:t>
            </a:r>
            <a:r>
              <a:rPr lang="de-DE" sz="1650" b="0" dirty="0">
                <a:solidFill>
                  <a:srgbClr val="506574"/>
                </a:solidFill>
                <a:latin typeface="Helvetica Neue"/>
                <a:ea typeface="Helvetica Neue"/>
                <a:cs typeface="Helvetica Neue"/>
              </a:rPr>
              <a:t> Panel: </a:t>
            </a:r>
            <a:r>
              <a:rPr lang="de-DE" sz="1650" b="0" dirty="0" err="1">
                <a:solidFill>
                  <a:srgbClr val="506574"/>
                </a:solidFill>
                <a:latin typeface="Helvetica Neue"/>
                <a:ea typeface="Helvetica Neue"/>
                <a:cs typeface="Helvetica Neue"/>
              </a:rPr>
              <a:t>Predicted</a:t>
            </a:r>
            <a:r>
              <a:rPr lang="de-DE" sz="1650" b="0" dirty="0">
                <a:solidFill>
                  <a:srgbClr val="506574"/>
                </a:solidFill>
                <a:latin typeface="Helvetica Neue"/>
                <a:ea typeface="Helvetica Neue"/>
                <a:cs typeface="Helvetica Neue"/>
              </a:rPr>
              <a:t> „</a:t>
            </a:r>
            <a:r>
              <a:rPr lang="de-DE" sz="1650" dirty="0">
                <a:solidFill>
                  <a:srgbClr val="506574"/>
                </a:solidFill>
                <a:latin typeface="Helvetica Neue"/>
                <a:ea typeface="Helvetica Neue"/>
                <a:cs typeface="Helvetica Neue"/>
              </a:rPr>
              <a:t>pure“ L-</a:t>
            </a:r>
            <a:r>
              <a:rPr lang="de-DE" sz="1650" dirty="0" err="1">
                <a:solidFill>
                  <a:srgbClr val="506574"/>
                </a:solidFill>
                <a:latin typeface="Helvetica Neue"/>
                <a:ea typeface="Helvetica Neue"/>
                <a:cs typeface="Helvetica Neue"/>
              </a:rPr>
              <a:t>lactate</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producers</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with</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no</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racemase</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system</a:t>
            </a:r>
            <a:r>
              <a:rPr lang="de-DE" sz="1650" dirty="0">
                <a:solidFill>
                  <a:srgbClr val="506574"/>
                </a:solidFill>
                <a:latin typeface="Helvetica Neue"/>
                <a:ea typeface="Helvetica Neue"/>
                <a:cs typeface="Helvetica Neue"/>
              </a:rPr>
              <a:t> and </a:t>
            </a:r>
            <a:r>
              <a:rPr lang="de-DE" sz="1650" dirty="0" err="1">
                <a:solidFill>
                  <a:srgbClr val="506574"/>
                </a:solidFill>
                <a:latin typeface="Helvetica Neue"/>
                <a:ea typeface="Helvetica Neue"/>
                <a:cs typeface="Helvetica Neue"/>
              </a:rPr>
              <a:t>no</a:t>
            </a:r>
            <a:r>
              <a:rPr lang="de-DE" sz="1650" dirty="0">
                <a:solidFill>
                  <a:srgbClr val="506574"/>
                </a:solidFill>
                <a:latin typeface="Helvetica Neue"/>
                <a:ea typeface="Helvetica Neue"/>
                <a:cs typeface="Helvetica Neue"/>
              </a:rPr>
              <a:t> D-LDH</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255269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BB4B75E-AAE7-444E-8E1F-8155BB865740}"/>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The </a:t>
            </a:r>
            <a:r>
              <a:rPr lang="de-DE" sz="3225" b="1" dirty="0" err="1">
                <a:solidFill>
                  <a:srgbClr val="172D3C"/>
                </a:solidFill>
                <a:latin typeface="Helvetica Neue"/>
                <a:ea typeface="Helvetica Neue"/>
                <a:cs typeface="Helvetica Neue"/>
              </a:rPr>
              <a:t>species</a:t>
            </a:r>
            <a:r>
              <a:rPr sz="3225" b="1" dirty="0">
                <a:solidFill>
                  <a:srgbClr val="172D3C"/>
                </a:solidFill>
                <a:latin typeface="Helvetica Neue"/>
                <a:ea typeface="Helvetica Neue"/>
                <a:cs typeface="Helvetica Neue"/>
              </a:rPr>
              <a:t> panel</a:t>
            </a:r>
          </a:p>
        </p:txBody>
      </p:sp>
      <p:sp>
        <p:nvSpPr>
          <p:cNvPr id="2" name="Rechteck 1">
            <a:extLst>
              <a:ext uri="{FF2B5EF4-FFF2-40B4-BE49-F238E27FC236}">
                <a16:creationId xmlns:a16="http://schemas.microsoft.com/office/drawing/2014/main" id="{8E53FA2B-E975-4DEA-A7C5-7682F51C3B7E}"/>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Tabelle 6"/>
          <p:cNvGraphicFramePr/>
          <p:nvPr>
            <p:extLst>
              <p:ext uri="{D42A27DB-BD31-4B8C-83A1-F6EECF244321}">
                <p14:modId xmlns:p14="http://schemas.microsoft.com/office/powerpoint/2010/main" val="3501495941"/>
              </p:ext>
            </p:extLst>
          </p:nvPr>
        </p:nvGraphicFramePr>
        <p:xfrm>
          <a:off x="666750" y="1676400"/>
          <a:ext cx="108585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704850">
                <a:tc>
                  <a:txBody>
                    <a:bodyPr/>
                    <a:lstStyle/>
                    <a:p>
                      <a:r>
                        <a:rPr sz="1875" b="1">
                          <a:solidFill>
                            <a:srgbClr val="FFFFFF"/>
                          </a:solidFill>
                          <a:latin typeface="Helvetica Neue"/>
                          <a:ea typeface="Helvetica Neue"/>
                          <a:cs typeface="Helvetica Neue"/>
                        </a:rPr>
                        <a:t>Stage</a:t>
                      </a:r>
                    </a:p>
                  </a:txBody>
                  <a:tcPr>
                    <a:solidFill>
                      <a:srgbClr val="172D3C"/>
                    </a:solidFill>
                  </a:tcPr>
                </a:tc>
                <a:tc>
                  <a:txBody>
                    <a:bodyPr/>
                    <a:lstStyle/>
                    <a:p>
                      <a:r>
                        <a:rPr sz="1875" b="1">
                          <a:solidFill>
                            <a:srgbClr val="FFFFFF"/>
                          </a:solidFill>
                          <a:latin typeface="Helvetica Neue"/>
                          <a:ea typeface="Helvetica Neue"/>
                          <a:cs typeface="Helvetica Neue"/>
                        </a:rPr>
                        <a:t>Strains</a:t>
                      </a:r>
                    </a:p>
                  </a:txBody>
                  <a:tcPr>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a:solidFill>
                      <a:srgbClr val="172D3C"/>
                    </a:solidFill>
                  </a:tcPr>
                </a:tc>
                <a:extLst>
                  <a:ext uri="{0D108BD9-81ED-4DB2-BD59-A6C34878D82A}">
                    <a16:rowId xmlns:a16="http://schemas.microsoft.com/office/drawing/2014/main" val="10000"/>
                  </a:ext>
                </a:extLst>
              </a:tr>
              <a:tr h="704850">
                <a:tc>
                  <a:txBody>
                    <a:bodyPr/>
                    <a:lstStyle/>
                    <a:p>
                      <a:r>
                        <a:rPr lang="de-DE" sz="1875" b="0" dirty="0" err="1">
                          <a:solidFill>
                            <a:srgbClr val="172D3C"/>
                          </a:solidFill>
                          <a:latin typeface="Helvetica Neue"/>
                          <a:ea typeface="Helvetica Neue"/>
                          <a:cs typeface="Helvetica Neue"/>
                        </a:rPr>
                        <a:t>From</a:t>
                      </a:r>
                      <a:r>
                        <a:rPr lang="de-DE" sz="1875" b="0" dirty="0">
                          <a:solidFill>
                            <a:srgbClr val="172D3C"/>
                          </a:solidFill>
                          <a:latin typeface="Helvetica Neue"/>
                          <a:ea typeface="Helvetica Neue"/>
                          <a:cs typeface="Helvetica Neue"/>
                        </a:rPr>
                        <a:t> c</a:t>
                      </a:r>
                      <a:r>
                        <a:rPr sz="1875" b="0" dirty="0" err="1">
                          <a:solidFill>
                            <a:srgbClr val="172D3C"/>
                          </a:solidFill>
                          <a:latin typeface="Helvetica Neue"/>
                          <a:ea typeface="Helvetica Neue"/>
                          <a:cs typeface="Helvetica Neue"/>
                        </a:rPr>
                        <a:t>andidate</a:t>
                      </a:r>
                      <a:r>
                        <a:rPr sz="1875" b="0" dirty="0">
                          <a:solidFill>
                            <a:srgbClr val="172D3C"/>
                          </a:solidFill>
                          <a:latin typeface="Helvetica Neue"/>
                          <a:ea typeface="Helvetica Neue"/>
                          <a:cs typeface="Helvetica Neue"/>
                        </a:rPr>
                        <a:t> panel</a:t>
                      </a:r>
                    </a:p>
                  </a:txBody>
                  <a:tcPr>
                    <a:solidFill>
                      <a:srgbClr val="F1F4F6"/>
                    </a:solidFill>
                  </a:tcPr>
                </a:tc>
                <a:tc>
                  <a:txBody>
                    <a:bodyPr/>
                    <a:lstStyle/>
                    <a:p>
                      <a:r>
                        <a:rPr sz="1875" b="0">
                          <a:solidFill>
                            <a:srgbClr val="172D3C"/>
                          </a:solidFill>
                          <a:latin typeface="Helvetica Neue"/>
                          <a:ea typeface="Helvetica Neue"/>
                          <a:cs typeface="Helvetica Neue"/>
                        </a:rPr>
                        <a:t>14</a:t>
                      </a:r>
                    </a:p>
                  </a:txBody>
                  <a:tcPr>
                    <a:solidFill>
                      <a:srgbClr val="F1F4F6"/>
                    </a:solidFill>
                  </a:tcPr>
                </a:tc>
                <a:tc>
                  <a:txBody>
                    <a:bodyPr/>
                    <a:lstStyle/>
                    <a:p>
                      <a:r>
                        <a:rPr sz="1875" b="0" dirty="0">
                          <a:solidFill>
                            <a:srgbClr val="172D3C"/>
                          </a:solidFill>
                          <a:latin typeface="Helvetica Neue"/>
                          <a:ea typeface="Helvetica Neue"/>
                          <a:cs typeface="Helvetica Neue"/>
                        </a:rPr>
                        <a:t>Genomic evidence</a:t>
                      </a:r>
                    </a:p>
                  </a:txBody>
                  <a:tcPr>
                    <a:solidFill>
                      <a:srgbClr val="F1F4F6"/>
                    </a:solidFill>
                  </a:tcPr>
                </a:tc>
                <a:extLst>
                  <a:ext uri="{0D108BD9-81ED-4DB2-BD59-A6C34878D82A}">
                    <a16:rowId xmlns:a16="http://schemas.microsoft.com/office/drawing/2014/main" val="10001"/>
                  </a:ext>
                </a:extLst>
              </a:tr>
              <a:tr h="704850">
                <a:tc>
                  <a:txBody>
                    <a:bodyPr/>
                    <a:lstStyle/>
                    <a:p>
                      <a:r>
                        <a:rPr lang="de-DE" sz="1875" b="0" dirty="0">
                          <a:solidFill>
                            <a:srgbClr val="172D3C"/>
                          </a:solidFill>
                          <a:latin typeface="Helvetica Neue"/>
                          <a:ea typeface="Helvetica Neue"/>
                          <a:cs typeface="Helvetica Neue"/>
                        </a:rPr>
                        <a:t>P</a:t>
                      </a:r>
                      <a:r>
                        <a:rPr sz="1875" b="0" dirty="0" err="1">
                          <a:solidFill>
                            <a:srgbClr val="172D3C"/>
                          </a:solidFill>
                          <a:latin typeface="Helvetica Neue"/>
                          <a:ea typeface="Helvetica Neue"/>
                          <a:cs typeface="Helvetica Neue"/>
                        </a:rPr>
                        <a:t>hysical</a:t>
                      </a:r>
                      <a:r>
                        <a:rPr sz="1875" b="0" dirty="0">
                          <a:solidFill>
                            <a:srgbClr val="172D3C"/>
                          </a:solidFill>
                          <a:latin typeface="Helvetica Neue"/>
                          <a:ea typeface="Helvetica Neue"/>
                          <a:cs typeface="Helvetica Neue"/>
                        </a:rPr>
                        <a:t> stocks</a:t>
                      </a:r>
                    </a:p>
                  </a:txBody>
                  <a:tcPr>
                    <a:solidFill>
                      <a:srgbClr val="FFFFFF"/>
                    </a:solidFill>
                  </a:tcPr>
                </a:tc>
                <a:tc>
                  <a:txBody>
                    <a:bodyPr/>
                    <a:lstStyle/>
                    <a:p>
                      <a:r>
                        <a:rPr sz="1875" b="0">
                          <a:solidFill>
                            <a:srgbClr val="172D3C"/>
                          </a:solidFill>
                          <a:latin typeface="Helvetica Neue"/>
                          <a:ea typeface="Helvetica Neue"/>
                          <a:cs typeface="Helvetica Neue"/>
                        </a:rPr>
                        <a:t>13</a:t>
                      </a:r>
                    </a:p>
                  </a:txBody>
                  <a:tcPr>
                    <a:solidFill>
                      <a:srgbClr val="FFFFFF"/>
                    </a:solidFill>
                  </a:tcPr>
                </a:tc>
                <a:tc>
                  <a:txBody>
                    <a:bodyPr/>
                    <a:lstStyle/>
                    <a:p>
                      <a:r>
                        <a:rPr sz="1875" b="0" dirty="0">
                          <a:solidFill>
                            <a:srgbClr val="172D3C"/>
                          </a:solidFill>
                          <a:latin typeface="Helvetica Neue"/>
                          <a:ea typeface="Helvetica Neue"/>
                          <a:cs typeface="Helvetica Neue"/>
                        </a:rPr>
                        <a:t>One </a:t>
                      </a:r>
                      <a:r>
                        <a:rPr lang="de-DE" sz="1875" b="0" dirty="0" err="1">
                          <a:solidFill>
                            <a:srgbClr val="172D3C"/>
                          </a:solidFill>
                          <a:latin typeface="Helvetica Neue"/>
                          <a:ea typeface="Helvetica Neue"/>
                          <a:cs typeface="Helvetica Neue"/>
                        </a:rPr>
                        <a:t>genome</a:t>
                      </a:r>
                      <a:r>
                        <a:rPr lang="de-DE" sz="1875" b="0" dirty="0">
                          <a:solidFill>
                            <a:srgbClr val="172D3C"/>
                          </a:solidFill>
                          <a:latin typeface="Helvetica Neue"/>
                          <a:ea typeface="Helvetica Neue"/>
                          <a:cs typeface="Helvetica Neue"/>
                        </a:rPr>
                        <a:t> &lt;-&gt; </a:t>
                      </a:r>
                      <a:r>
                        <a:rPr lang="de-DE" sz="1875" b="0" dirty="0" err="1">
                          <a:solidFill>
                            <a:srgbClr val="172D3C"/>
                          </a:solidFill>
                          <a:latin typeface="Helvetica Neue"/>
                          <a:ea typeface="Helvetica Neue"/>
                          <a:cs typeface="Helvetica Neue"/>
                        </a:rPr>
                        <a:t>species</a:t>
                      </a:r>
                      <a:r>
                        <a:rPr lang="de-DE" sz="1875" b="0" dirty="0">
                          <a:solidFill>
                            <a:srgbClr val="172D3C"/>
                          </a:solidFill>
                          <a:latin typeface="Helvetica Neue"/>
                          <a:ea typeface="Helvetica Neue"/>
                          <a:cs typeface="Helvetica Neue"/>
                        </a:rPr>
                        <a:t> ID/stock was not </a:t>
                      </a:r>
                      <a:r>
                        <a:rPr lang="de-DE" sz="1875" b="0" dirty="0" err="1">
                          <a:solidFill>
                            <a:srgbClr val="172D3C"/>
                          </a:solidFill>
                          <a:latin typeface="Helvetica Neue"/>
                          <a:ea typeface="Helvetica Neue"/>
                          <a:cs typeface="Helvetica Neue"/>
                        </a:rPr>
                        <a:t>found</a:t>
                      </a:r>
                      <a:endParaRPr sz="1875" b="0" dirty="0">
                        <a:solidFill>
                          <a:srgbClr val="172D3C"/>
                        </a:solidFill>
                        <a:latin typeface="Helvetica Neue"/>
                        <a:ea typeface="Helvetica Neue"/>
                        <a:cs typeface="Helvetica Neue"/>
                      </a:endParaRPr>
                    </a:p>
                  </a:txBody>
                  <a:tcPr>
                    <a:solidFill>
                      <a:srgbClr val="FFFFFF"/>
                    </a:solidFill>
                  </a:tcPr>
                </a:tc>
                <a:extLst>
                  <a:ext uri="{0D108BD9-81ED-4DB2-BD59-A6C34878D82A}">
                    <a16:rowId xmlns:a16="http://schemas.microsoft.com/office/drawing/2014/main" val="10002"/>
                  </a:ext>
                </a:extLst>
              </a:tr>
              <a:tr h="704850">
                <a:tc>
                  <a:txBody>
                    <a:bodyPr/>
                    <a:lstStyle/>
                    <a:p>
                      <a:r>
                        <a:rPr sz="1875" b="0" dirty="0">
                          <a:solidFill>
                            <a:srgbClr val="172D3C"/>
                          </a:solidFill>
                          <a:latin typeface="Helvetica Neue"/>
                          <a:ea typeface="Helvetica Neue"/>
                          <a:cs typeface="Helvetica Neue"/>
                        </a:rPr>
                        <a:t>First community round</a:t>
                      </a:r>
                    </a:p>
                  </a:txBody>
                  <a:tcPr>
                    <a:solidFill>
                      <a:srgbClr val="F1F4F6"/>
                    </a:solidFill>
                  </a:tcPr>
                </a:tc>
                <a:tc>
                  <a:txBody>
                    <a:bodyPr/>
                    <a:lstStyle/>
                    <a:p>
                      <a:r>
                        <a:rPr sz="1875" b="0">
                          <a:solidFill>
                            <a:srgbClr val="172D3C"/>
                          </a:solidFill>
                          <a:latin typeface="Helvetica Neue"/>
                          <a:ea typeface="Helvetica Neue"/>
                          <a:cs typeface="Helvetica Neue"/>
                        </a:rPr>
                        <a:t>13</a:t>
                      </a:r>
                    </a:p>
                  </a:txBody>
                  <a:tcPr>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a:solidFill>
                      <a:srgbClr val="F1F4F6"/>
                    </a:solidFill>
                  </a:tcPr>
                </a:tc>
                <a:extLst>
                  <a:ext uri="{0D108BD9-81ED-4DB2-BD59-A6C34878D82A}">
                    <a16:rowId xmlns:a16="http://schemas.microsoft.com/office/drawing/2014/main" val="10003"/>
                  </a:ext>
                </a:extLst>
              </a:tr>
              <a:tr h="704850">
                <a:tc>
                  <a:txBody>
                    <a:bodyPr/>
                    <a:lstStyle/>
                    <a:p>
                      <a:r>
                        <a:rPr sz="1875" b="0">
                          <a:solidFill>
                            <a:srgbClr val="172D3C"/>
                          </a:solidFill>
                          <a:latin typeface="Helvetica Neue"/>
                          <a:ea typeface="Helvetica Neue"/>
                          <a:cs typeface="Helvetica Neue"/>
                        </a:rPr>
                        <a:t>Latest two rounds</a:t>
                      </a:r>
                    </a:p>
                  </a:txBody>
                  <a:tcPr>
                    <a:solidFill>
                      <a:srgbClr val="FFFFFF"/>
                    </a:solidFill>
                  </a:tcPr>
                </a:tc>
                <a:tc>
                  <a:txBody>
                    <a:bodyPr/>
                    <a:lstStyle/>
                    <a:p>
                      <a:r>
                        <a:rPr sz="1875" b="0">
                          <a:solidFill>
                            <a:srgbClr val="172D3C"/>
                          </a:solidFill>
                          <a:latin typeface="Helvetica Neue"/>
                          <a:ea typeface="Helvetica Neue"/>
                          <a:cs typeface="Helvetica Neue"/>
                        </a:rPr>
                        <a:t>12</a:t>
                      </a:r>
                    </a:p>
                  </a:txBody>
                  <a:tcPr>
                    <a:solidFill>
                      <a:srgbClr val="FFFFFF"/>
                    </a:solidFill>
                  </a:tcPr>
                </a:tc>
                <a:tc>
                  <a:txBody>
                    <a:bodyPr/>
                    <a:lstStyle/>
                    <a:p>
                      <a:r>
                        <a:rPr sz="1875" b="0" dirty="0">
                          <a:solidFill>
                            <a:srgbClr val="172D3C"/>
                          </a:solidFill>
                          <a:latin typeface="Helvetica Neue"/>
                          <a:ea typeface="Helvetica Neue"/>
                          <a:cs typeface="Helvetica Neue"/>
                        </a:rPr>
                        <a:t>296 unavailable after no growth</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twice</a:t>
                      </a:r>
                      <a:r>
                        <a:rPr lang="de-DE" sz="1875" b="0" dirty="0">
                          <a:solidFill>
                            <a:srgbClr val="172D3C"/>
                          </a:solidFill>
                          <a:latin typeface="Helvetica Neue"/>
                          <a:ea typeface="Helvetica Neue"/>
                          <a:cs typeface="Helvetica Neue"/>
                        </a:rPr>
                        <a:t>)</a:t>
                      </a:r>
                      <a:endParaRPr sz="1875" b="0" dirty="0">
                        <a:solidFill>
                          <a:srgbClr val="172D3C"/>
                        </a:solidFill>
                        <a:latin typeface="Helvetica Neue"/>
                        <a:ea typeface="Helvetica Neue"/>
                        <a:cs typeface="Helvetica Neue"/>
                      </a:endParaRPr>
                    </a:p>
                  </a:txBody>
                  <a:tcPr>
                    <a:solidFill>
                      <a:srgbClr val="FFFFFF"/>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7A2CE630-13DB-4965-B369-858037044657}"/>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G</a:t>
            </a:r>
            <a:r>
              <a:rPr sz="1650" b="0" dirty="0" err="1">
                <a:solidFill>
                  <a:srgbClr val="506574"/>
                </a:solidFill>
                <a:latin typeface="Helvetica Neue"/>
                <a:ea typeface="Helvetica Neue"/>
                <a:cs typeface="Helvetica Neue"/>
              </a:rPr>
              <a:t>enera</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Oerskovia</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Microbacterium</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Rhodococcus</a:t>
            </a:r>
            <a:r>
              <a:rPr sz="1650" b="0" dirty="0">
                <a:solidFill>
                  <a:srgbClr val="506574"/>
                </a:solidFill>
                <a:latin typeface="Helvetica Neue"/>
                <a:ea typeface="Helvetica Neue"/>
                <a:cs typeface="Helvetica Neue"/>
              </a:rPr>
              <a:t>, Lactococcus, Bacillus, </a:t>
            </a:r>
            <a:r>
              <a:rPr sz="1650" b="0" dirty="0" err="1">
                <a:solidFill>
                  <a:srgbClr val="506574"/>
                </a:solidFill>
                <a:latin typeface="Helvetica Neue"/>
                <a:ea typeface="Helvetica Neue"/>
                <a:cs typeface="Helvetica Neue"/>
              </a:rPr>
              <a:t>Paenibacillus</a:t>
            </a:r>
            <a:r>
              <a:rPr sz="1650" b="0" dirty="0">
                <a:solidFill>
                  <a:srgbClr val="506574"/>
                </a:solidFill>
                <a:latin typeface="Helvetica Neue"/>
                <a:ea typeface="Helvetica Neue"/>
                <a:cs typeface="Helvetica Neue"/>
              </a:rPr>
              <a:t> and Pseudomonas.</a:t>
            </a:r>
          </a:p>
        </p:txBody>
      </p:sp>
    </p:spTree>
    <p:extLst>
      <p:ext uri="{BB962C8B-B14F-4D97-AF65-F5344CB8AC3E}">
        <p14:creationId xmlns:p14="http://schemas.microsoft.com/office/powerpoint/2010/main" val="60153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C563667-D0C8-40DE-B775-9C2E03AC2C36}"/>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Rechteck 1">
            <a:extLst>
              <a:ext uri="{FF2B5EF4-FFF2-40B4-BE49-F238E27FC236}">
                <a16:creationId xmlns:a16="http://schemas.microsoft.com/office/drawing/2014/main" id="{8691C269-01D4-446F-A3A9-DFD7648DE702}"/>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Tabelle 6"/>
          <p:cNvGraphicFramePr/>
          <p:nvPr>
            <p:extLst>
              <p:ext uri="{D42A27DB-BD31-4B8C-83A1-F6EECF244321}">
                <p14:modId xmlns:p14="http://schemas.microsoft.com/office/powerpoint/2010/main" val="3897848636"/>
              </p:ext>
            </p:extLst>
          </p:nvPr>
        </p:nvGraphicFramePr>
        <p:xfrm>
          <a:off x="666750" y="1600200"/>
          <a:ext cx="10858500" cy="3619500"/>
        </p:xfrm>
        <a:graphic>
          <a:graphicData uri="http://schemas.openxmlformats.org/drawingml/2006/table">
            <a:tbl>
              <a:tblPr/>
              <a:tblGrid>
                <a:gridCol w="36195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03250">
                <a:tc>
                  <a:txBody>
                    <a:bodyPr/>
                    <a:lstStyle/>
                    <a:p>
                      <a:r>
                        <a:rPr sz="1875" b="1">
                          <a:solidFill>
                            <a:srgbClr val="FFFFFF"/>
                          </a:solidFill>
                          <a:latin typeface="Helvetica Neue"/>
                          <a:ea typeface="Helvetica Neue"/>
                          <a:cs typeface="Helvetica Neue"/>
                        </a:rPr>
                        <a:t>Step</a:t>
                      </a:r>
                    </a:p>
                  </a:txBody>
                  <a:tcPr>
                    <a:solidFill>
                      <a:srgbClr val="172D3C"/>
                    </a:solidFill>
                  </a:tcPr>
                </a:tc>
                <a:tc>
                  <a:txBody>
                    <a:bodyPr/>
                    <a:lstStyle/>
                    <a:p>
                      <a:r>
                        <a:rPr sz="1875" b="1">
                          <a:solidFill>
                            <a:srgbClr val="FFFFFF"/>
                          </a:solidFill>
                          <a:latin typeface="Helvetica Neue"/>
                          <a:ea typeface="Helvetica Neue"/>
                          <a:cs typeface="Helvetica Neue"/>
                        </a:rPr>
                        <a:t>Implementation</a:t>
                      </a:r>
                    </a:p>
                  </a:txBody>
                  <a:tcPr>
                    <a:solidFill>
                      <a:srgbClr val="172D3C"/>
                    </a:solidFill>
                  </a:tcPr>
                </a:tc>
                <a:extLst>
                  <a:ext uri="{0D108BD9-81ED-4DB2-BD59-A6C34878D82A}">
                    <a16:rowId xmlns:a16="http://schemas.microsoft.com/office/drawing/2014/main" val="10000"/>
                  </a:ext>
                </a:extLst>
              </a:tr>
              <a:tr h="603250">
                <a:tc>
                  <a:txBody>
                    <a:bodyPr/>
                    <a:lstStyle/>
                    <a:p>
                      <a:r>
                        <a:rPr sz="1875" b="0">
                          <a:solidFill>
                            <a:srgbClr val="172D3C"/>
                          </a:solidFill>
                          <a:latin typeface="Helvetica Neue"/>
                          <a:ea typeface="Helvetica Neue"/>
                          <a:cs typeface="Helvetica Neue"/>
                        </a:rPr>
                        <a:t>Community design</a:t>
                      </a:r>
                    </a:p>
                  </a:txBody>
                  <a:tcPr>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a:solidFill>
                      <a:srgbClr val="F1F4F6"/>
                    </a:solidFill>
                  </a:tcPr>
                </a:tc>
                <a:extLst>
                  <a:ext uri="{0D108BD9-81ED-4DB2-BD59-A6C34878D82A}">
                    <a16:rowId xmlns:a16="http://schemas.microsoft.com/office/drawing/2014/main" val="10001"/>
                  </a:ext>
                </a:extLst>
              </a:tr>
              <a:tr h="603250">
                <a:tc>
                  <a:txBody>
                    <a:bodyPr/>
                    <a:lstStyle/>
                    <a:p>
                      <a:r>
                        <a:rPr lang="de-DE" sz="1875" b="0" dirty="0">
                          <a:solidFill>
                            <a:srgbClr val="172D3C"/>
                          </a:solidFill>
                          <a:latin typeface="Helvetica Neue"/>
                          <a:ea typeface="Helvetica Neue"/>
                          <a:cs typeface="Helvetica Neue"/>
                        </a:rPr>
                        <a:t>A</a:t>
                      </a:r>
                      <a:r>
                        <a:rPr sz="1875" b="0" dirty="0" err="1">
                          <a:solidFill>
                            <a:srgbClr val="172D3C"/>
                          </a:solidFill>
                          <a:latin typeface="Helvetica Neue"/>
                          <a:ea typeface="Helvetica Neue"/>
                          <a:cs typeface="Helvetica Neue"/>
                        </a:rPr>
                        <a:t>ssembly</a:t>
                      </a:r>
                      <a:endParaRPr sz="1875" b="0" dirty="0">
                        <a:solidFill>
                          <a:srgbClr val="172D3C"/>
                        </a:solidFill>
                        <a:latin typeface="Helvetica Neue"/>
                        <a:ea typeface="Helvetica Neue"/>
                        <a:cs typeface="Helvetica Neue"/>
                      </a:endParaRPr>
                    </a:p>
                  </a:txBody>
                  <a:tcPr>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a:solidFill>
                      <a:srgbClr val="FFFFFF"/>
                    </a:solidFill>
                  </a:tcPr>
                </a:tc>
                <a:extLst>
                  <a:ext uri="{0D108BD9-81ED-4DB2-BD59-A6C34878D82A}">
                    <a16:rowId xmlns:a16="http://schemas.microsoft.com/office/drawing/2014/main" val="10002"/>
                  </a:ext>
                </a:extLst>
              </a:tr>
              <a:tr h="603250">
                <a:tc>
                  <a:txBody>
                    <a:bodyPr/>
                    <a:lstStyle/>
                    <a:p>
                      <a:r>
                        <a:rPr sz="1875" b="0">
                          <a:solidFill>
                            <a:srgbClr val="172D3C"/>
                          </a:solidFill>
                          <a:latin typeface="Helvetica Neue"/>
                          <a:ea typeface="Helvetica Neue"/>
                          <a:cs typeface="Helvetica Neue"/>
                        </a:rPr>
                        <a:t>Starting dose</a:t>
                      </a:r>
                    </a:p>
                  </a:txBody>
                  <a:tcPr>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a:solidFill>
                      <a:srgbClr val="F1F4F6"/>
                    </a:solidFill>
                  </a:tcPr>
                </a:tc>
                <a:extLst>
                  <a:ext uri="{0D108BD9-81ED-4DB2-BD59-A6C34878D82A}">
                    <a16:rowId xmlns:a16="http://schemas.microsoft.com/office/drawing/2014/main" val="10003"/>
                  </a:ext>
                </a:extLst>
              </a:tr>
              <a:tr h="603250">
                <a:tc>
                  <a:txBody>
                    <a:bodyPr/>
                    <a:lstStyle/>
                    <a:p>
                      <a:r>
                        <a:rPr sz="1875" b="0">
                          <a:solidFill>
                            <a:srgbClr val="172D3C"/>
                          </a:solidFill>
                          <a:latin typeface="Helvetica Neue"/>
                          <a:ea typeface="Helvetica Neue"/>
                          <a:cs typeface="Helvetica Neue"/>
                        </a:rPr>
                        <a:t>Culture volume</a:t>
                      </a:r>
                    </a:p>
                  </a:txBody>
                  <a:tcPr>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a:solidFill>
                      <a:srgbClr val="FFFFFF"/>
                    </a:solidFill>
                  </a:tcPr>
                </a:tc>
                <a:extLst>
                  <a:ext uri="{0D108BD9-81ED-4DB2-BD59-A6C34878D82A}">
                    <a16:rowId xmlns:a16="http://schemas.microsoft.com/office/drawing/2014/main" val="10004"/>
                  </a:ext>
                </a:extLst>
              </a:tr>
              <a:tr h="603250">
                <a:tc>
                  <a:txBody>
                    <a:bodyPr/>
                    <a:lstStyle/>
                    <a:p>
                      <a:r>
                        <a:rPr sz="1875" b="0">
                          <a:solidFill>
                            <a:srgbClr val="172D3C"/>
                          </a:solidFill>
                          <a:latin typeface="Helvetica Neue"/>
                          <a:ea typeface="Helvetica Neue"/>
                          <a:cs typeface="Helvetica Neue"/>
                        </a:rPr>
                        <a:t>Readout</a:t>
                      </a:r>
                    </a:p>
                  </a:txBody>
                  <a:tcPr>
                    <a:solidFill>
                      <a:srgbClr val="F1F4F6"/>
                    </a:solidFill>
                  </a:tcPr>
                </a:tc>
                <a:tc>
                  <a:txBody>
                    <a:bodyPr/>
                    <a:lstStyle/>
                    <a:p>
                      <a:r>
                        <a:rPr sz="1875" b="0" dirty="0">
                          <a:solidFill>
                            <a:srgbClr val="172D3C"/>
                          </a:solidFill>
                          <a:latin typeface="Helvetica Neue"/>
                          <a:ea typeface="Helvetica Neue"/>
                          <a:cs typeface="Helvetica Neue"/>
                        </a:rPr>
                        <a:t>Colorimetric L-lactate assay on supernatant</a:t>
                      </a:r>
                    </a:p>
                  </a:txBody>
                  <a:tcPr>
                    <a:solidFill>
                      <a:srgbClr val="F1F4F6"/>
                    </a:solidFill>
                  </a:tcPr>
                </a:tc>
                <a:extLst>
                  <a:ext uri="{0D108BD9-81ED-4DB2-BD59-A6C34878D82A}">
                    <a16:rowId xmlns:a16="http://schemas.microsoft.com/office/drawing/2014/main" val="10005"/>
                  </a:ext>
                </a:extLst>
              </a:tr>
            </a:tbl>
          </a:graphicData>
        </a:graphic>
      </p:graphicFrame>
      <p:sp>
        <p:nvSpPr>
          <p:cNvPr id="4" name="Rechteck 3">
            <a:extLst>
              <a:ext uri="{FF2B5EF4-FFF2-40B4-BE49-F238E27FC236}">
                <a16:creationId xmlns:a16="http://schemas.microsoft.com/office/drawing/2014/main" id="{ED715CD1-9896-4180-93D0-FD30B9BAE40B}"/>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Measurement </a:t>
            </a:r>
            <a:r>
              <a:rPr lang="de-DE" sz="1650" b="0" dirty="0" err="1">
                <a:solidFill>
                  <a:srgbClr val="506574"/>
                </a:solidFill>
                <a:latin typeface="Helvetica Neue"/>
                <a:ea typeface="Helvetica Neue"/>
                <a:cs typeface="Helvetica Neue"/>
              </a:rPr>
              <a:t>of</a:t>
            </a:r>
            <a:r>
              <a:rPr lang="de-DE" sz="1650" b="0" dirty="0">
                <a:solidFill>
                  <a:srgbClr val="506574"/>
                </a:solidFill>
                <a:latin typeface="Helvetica Neue"/>
                <a:ea typeface="Helvetica Neue"/>
                <a:cs typeface="Helvetica Neue"/>
              </a:rPr>
              <a:t> </a:t>
            </a:r>
            <a:r>
              <a:rPr lang="de-DE" sz="1650" dirty="0">
                <a:solidFill>
                  <a:srgbClr val="506574"/>
                </a:solidFill>
                <a:latin typeface="Helvetica Neue"/>
                <a:ea typeface="Helvetica Neue"/>
                <a:cs typeface="Helvetica Neue"/>
              </a:rPr>
              <a:t>t</a:t>
            </a:r>
            <a:r>
              <a:rPr sz="1650" b="0" dirty="0" err="1">
                <a:solidFill>
                  <a:srgbClr val="506574"/>
                </a:solidFill>
                <a:latin typeface="Helvetica Neue"/>
                <a:ea typeface="Helvetica Neue"/>
                <a:cs typeface="Helvetica Neue"/>
              </a:rPr>
              <a:t>echnical</a:t>
            </a:r>
            <a:r>
              <a:rPr sz="1650" b="0" dirty="0">
                <a:solidFill>
                  <a:srgbClr val="506574"/>
                </a:solidFill>
                <a:latin typeface="Helvetica Neue"/>
                <a:ea typeface="Helvetica Neue"/>
                <a:cs typeface="Helvetica Neue"/>
              </a:rPr>
              <a:t> triplicates</a:t>
            </a:r>
            <a:r>
              <a:rPr lang="de-DE" sz="1650" b="0" dirty="0">
                <a:solidFill>
                  <a:srgbClr val="506574"/>
                </a:solidFill>
                <a:latin typeface="Helvetica Neue"/>
                <a:ea typeface="Helvetica Neue"/>
                <a:cs typeface="Helvetica Neue"/>
              </a:rPr>
              <a:t>.</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153763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BD05E1D3-AE98-44EB-8EA3-D09686E6EC96}"/>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Incubation: oxygen supply and a 48h endpoint</a:t>
            </a:r>
          </a:p>
        </p:txBody>
      </p:sp>
      <p:sp>
        <p:nvSpPr>
          <p:cNvPr id="2" name="Rechteck 1">
            <a:extLst>
              <a:ext uri="{FF2B5EF4-FFF2-40B4-BE49-F238E27FC236}">
                <a16:creationId xmlns:a16="http://schemas.microsoft.com/office/drawing/2014/main" id="{8AB3AEB6-8F56-4971-99EB-06F03206C463}"/>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sp>
        <p:nvSpPr>
          <p:cNvPr id="3" name="Rechteck 2">
            <a:extLst>
              <a:ext uri="{FF2B5EF4-FFF2-40B4-BE49-F238E27FC236}">
                <a16:creationId xmlns:a16="http://schemas.microsoft.com/office/drawing/2014/main" id="{ABCA06AD-C381-4C02-99F1-B8690472E413}"/>
              </a:ext>
            </a:extLst>
          </p:cNvPr>
          <p:cNvSpPr>
            <a:spLocks noGrp="1"/>
          </p:cNvSpPr>
          <p:nvPr/>
        </p:nvSpPr>
        <p:spPr>
          <a:xfrm>
            <a:off x="704850" y="17145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dirty="0">
                <a:solidFill>
                  <a:srgbClr val="172D3C"/>
                </a:solidFill>
                <a:latin typeface="Helvetica Neue"/>
                <a:ea typeface="Helvetica Neue"/>
                <a:cs typeface="Helvetica Neue"/>
              </a:rPr>
              <a:t>Why </a:t>
            </a:r>
            <a:r>
              <a:rPr lang="de-DE" sz="2250" b="1" dirty="0" err="1">
                <a:solidFill>
                  <a:srgbClr val="172D3C"/>
                </a:solidFill>
                <a:latin typeface="Helvetica Neue"/>
                <a:ea typeface="Helvetica Neue"/>
                <a:cs typeface="Helvetica Neue"/>
              </a:rPr>
              <a:t>aerobic</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conditions</a:t>
            </a:r>
            <a:r>
              <a:rPr sz="2250" b="1" dirty="0">
                <a:solidFill>
                  <a:srgbClr val="172D3C"/>
                </a:solidFill>
                <a:latin typeface="Helvetica Neue"/>
                <a:ea typeface="Helvetica Neue"/>
                <a:cs typeface="Helvetica Neue"/>
              </a:rPr>
              <a:t>?</a:t>
            </a:r>
          </a:p>
        </p:txBody>
      </p:sp>
      <p:sp>
        <p:nvSpPr>
          <p:cNvPr id="4" name="Rechteck 3">
            <a:extLst>
              <a:ext uri="{FF2B5EF4-FFF2-40B4-BE49-F238E27FC236}">
                <a16:creationId xmlns:a16="http://schemas.microsoft.com/office/drawing/2014/main" id="{87ECADBE-9104-4365-894F-6F3EF8561692}"/>
              </a:ext>
            </a:extLst>
          </p:cNvPr>
          <p:cNvSpPr>
            <a:spLocks noGrp="1"/>
          </p:cNvSpPr>
          <p:nvPr/>
        </p:nvSpPr>
        <p:spPr>
          <a:xfrm>
            <a:off x="704850" y="22002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Respiration can remove surplus electrons from glycerol metabolism</a:t>
            </a:r>
            <a:r>
              <a:rPr lang="de-DE" sz="1950" b="0" dirty="0">
                <a:solidFill>
                  <a:srgbClr val="506574"/>
                </a:solidFill>
                <a:latin typeface="Helvetica Neue"/>
                <a:ea typeface="Helvetica Neue"/>
                <a:cs typeface="Helvetica Neue"/>
              </a:rPr>
              <a:t>, </a:t>
            </a:r>
            <a:r>
              <a:rPr sz="1950" b="0" dirty="0">
                <a:solidFill>
                  <a:srgbClr val="506574"/>
                </a:solidFill>
                <a:latin typeface="Helvetica Neue"/>
                <a:ea typeface="Helvetica Neue"/>
                <a:cs typeface="Helvetica Neue"/>
              </a:rPr>
              <a:t>LDH </a:t>
            </a:r>
            <a:r>
              <a:rPr sz="1950" b="0" dirty="0" err="1">
                <a:solidFill>
                  <a:srgbClr val="506574"/>
                </a:solidFill>
                <a:latin typeface="Helvetica Neue"/>
                <a:ea typeface="Helvetica Neue"/>
                <a:cs typeface="Helvetica Neue"/>
              </a:rPr>
              <a:t>conver</a:t>
            </a:r>
            <a:r>
              <a:rPr lang="de-DE" sz="1950" dirty="0" err="1">
                <a:solidFill>
                  <a:srgbClr val="506574"/>
                </a:solidFill>
                <a:latin typeface="Helvetica Neue"/>
                <a:ea typeface="Helvetica Neue"/>
                <a:cs typeface="Helvetica Neue"/>
              </a:rPr>
              <a:t>ts</a:t>
            </a:r>
            <a:r>
              <a:rPr sz="1950" b="0" dirty="0">
                <a:solidFill>
                  <a:srgbClr val="506574"/>
                </a:solidFill>
                <a:latin typeface="Helvetica Neue"/>
                <a:ea typeface="Helvetica Neue"/>
                <a:cs typeface="Helvetica Neue"/>
              </a:rPr>
              <a:t> pyruvate to lactate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as</a:t>
            </a:r>
            <a:r>
              <a:rPr lang="de-DE" sz="1950" b="0" dirty="0">
                <a:solidFill>
                  <a:srgbClr val="506574"/>
                </a:solidFill>
                <a:latin typeface="Helvetica Neue"/>
                <a:ea typeface="Helvetica Neue"/>
                <a:cs typeface="Helvetica Neue"/>
              </a:rPr>
              <a:t> an </a:t>
            </a:r>
            <a:r>
              <a:rPr lang="de-DE" sz="1950" b="0" dirty="0" err="1">
                <a:solidFill>
                  <a:srgbClr val="506574"/>
                </a:solidFill>
                <a:latin typeface="Helvetica Neue"/>
                <a:ea typeface="Helvetica Neue"/>
                <a:cs typeface="Helvetica Neue"/>
              </a:rPr>
              <a:t>electro</a:t>
            </a:r>
            <a:r>
              <a:rPr lang="de-DE" sz="1950" dirty="0" err="1">
                <a:solidFill>
                  <a:srgbClr val="506574"/>
                </a:solidFill>
                <a:latin typeface="Helvetica Neue"/>
                <a:ea typeface="Helvetica Neue"/>
                <a:cs typeface="Helvetica Neue"/>
              </a:rPr>
              <a:t>n</a:t>
            </a:r>
            <a:r>
              <a:rPr lang="de-DE" sz="1950" dirty="0">
                <a:solidFill>
                  <a:srgbClr val="506574"/>
                </a:solidFill>
                <a:latin typeface="Helvetica Neue"/>
                <a:ea typeface="Helvetica Neue"/>
                <a:cs typeface="Helvetica Neue"/>
              </a:rPr>
              <a:t> sink</a:t>
            </a:r>
            <a:r>
              <a:rPr sz="1950" b="0" dirty="0">
                <a:solidFill>
                  <a:srgbClr val="506574"/>
                </a:solidFill>
                <a:latin typeface="Helvetica Neue"/>
                <a:ea typeface="Helvetica Neue"/>
                <a:cs typeface="Helvetica Neue"/>
              </a:rPr>
              <a:t>.</a:t>
            </a:r>
          </a:p>
        </p:txBody>
      </p:sp>
      <p:sp>
        <p:nvSpPr>
          <p:cNvPr id="5" name="Rechteck 4">
            <a:extLst>
              <a:ext uri="{FF2B5EF4-FFF2-40B4-BE49-F238E27FC236}">
                <a16:creationId xmlns:a16="http://schemas.microsoft.com/office/drawing/2014/main" id="{987B05BD-62DB-4634-A595-150E2AF0AC34}"/>
              </a:ext>
            </a:extLst>
          </p:cNvPr>
          <p:cNvSpPr>
            <a:spLocks noGrp="1"/>
          </p:cNvSpPr>
          <p:nvPr/>
        </p:nvSpPr>
        <p:spPr>
          <a:xfrm>
            <a:off x="704850" y="3324225"/>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Why 48 hours?</a:t>
            </a:r>
          </a:p>
        </p:txBody>
      </p:sp>
      <p:sp>
        <p:nvSpPr>
          <p:cNvPr id="6" name="Rechteck 5">
            <a:extLst>
              <a:ext uri="{FF2B5EF4-FFF2-40B4-BE49-F238E27FC236}">
                <a16:creationId xmlns:a16="http://schemas.microsoft.com/office/drawing/2014/main" id="{44F97B15-2ACD-4295-85ED-C549049622C0}"/>
              </a:ext>
            </a:extLst>
          </p:cNvPr>
          <p:cNvSpPr>
            <a:spLocks noGrp="1"/>
          </p:cNvSpPr>
          <p:nvPr/>
        </p:nvSpPr>
        <p:spPr>
          <a:xfrm>
            <a:off x="704850" y="381000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lang="de-DE" sz="1950" b="0" dirty="0">
                <a:solidFill>
                  <a:srgbClr val="506574"/>
                </a:solidFill>
                <a:latin typeface="Helvetica Neue"/>
                <a:ea typeface="Helvetica Neue"/>
                <a:cs typeface="Helvetica Neue"/>
              </a:rPr>
              <a:t>Lactate </a:t>
            </a:r>
            <a:r>
              <a:rPr lang="de-DE" sz="1950" b="0" dirty="0" err="1">
                <a:solidFill>
                  <a:srgbClr val="506574"/>
                </a:solidFill>
                <a:latin typeface="Helvetica Neue"/>
                <a:ea typeface="Helvetica Neue"/>
                <a:cs typeface="Helvetica Neue"/>
              </a:rPr>
              <a:t>production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mainly</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happens</a:t>
            </a:r>
            <a:r>
              <a:rPr lang="de-DE" sz="1950" b="0" dirty="0">
                <a:solidFill>
                  <a:srgbClr val="506574"/>
                </a:solidFill>
                <a:latin typeface="Helvetica Neue"/>
                <a:ea typeface="Helvetica Neue"/>
                <a:cs typeface="Helvetica Neue"/>
              </a:rPr>
              <a:t> in </a:t>
            </a:r>
            <a:r>
              <a:rPr sz="1950" b="0" dirty="0">
                <a:solidFill>
                  <a:srgbClr val="506574"/>
                </a:solidFill>
                <a:latin typeface="Helvetica Neue"/>
                <a:ea typeface="Helvetica Neue"/>
                <a:cs typeface="Helvetica Neue"/>
              </a:rPr>
              <a:t>stationary-phase.</a:t>
            </a:r>
          </a:p>
        </p:txBody>
      </p:sp>
      <p:sp>
        <p:nvSpPr>
          <p:cNvPr id="7" name="Rechteck 6">
            <a:extLst>
              <a:ext uri="{FF2B5EF4-FFF2-40B4-BE49-F238E27FC236}">
                <a16:creationId xmlns:a16="http://schemas.microsoft.com/office/drawing/2014/main" id="{33047557-8430-4726-91AA-A78CB53F1D88}"/>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The screen measures accumulation after 48h.</a:t>
            </a:r>
          </a:p>
        </p:txBody>
      </p:sp>
    </p:spTree>
    <p:extLst>
      <p:ext uri="{BB962C8B-B14F-4D97-AF65-F5344CB8AC3E}">
        <p14:creationId xmlns:p14="http://schemas.microsoft.com/office/powerpoint/2010/main" val="76563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B1DDBAF7-FF85-4C7A-8A55-6015266E4430}"/>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Rechteck 1">
            <a:extLst>
              <a:ext uri="{FF2B5EF4-FFF2-40B4-BE49-F238E27FC236}">
                <a16:creationId xmlns:a16="http://schemas.microsoft.com/office/drawing/2014/main" id="{D2595615-F84A-4954-B1A5-3721CC884C82}"/>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8" name="Tabelle 7"/>
          <p:cNvGraphicFramePr/>
          <p:nvPr>
            <p:extLst>
              <p:ext uri="{D42A27DB-BD31-4B8C-83A1-F6EECF244321}">
                <p14:modId xmlns:p14="http://schemas.microsoft.com/office/powerpoint/2010/main" val="492904730"/>
              </p:ext>
            </p:extLst>
          </p:nvPr>
        </p:nvGraphicFramePr>
        <p:xfrm>
          <a:off x="666750" y="1838325"/>
          <a:ext cx="10858500" cy="2743200"/>
        </p:xfrm>
        <a:graphic>
          <a:graphicData uri="http://schemas.openxmlformats.org/drawingml/2006/table">
            <a:tbl>
              <a:tblPr/>
              <a:tblGrid>
                <a:gridCol w="233362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58102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85800">
                <a:tc>
                  <a:txBody>
                    <a:bodyPr/>
                    <a:lstStyle/>
                    <a:p>
                      <a:r>
                        <a:rPr sz="1875" b="1">
                          <a:solidFill>
                            <a:srgbClr val="FFFFFF"/>
                          </a:solidFill>
                          <a:latin typeface="Helvetica Neue"/>
                          <a:ea typeface="Helvetica Neue"/>
                          <a:cs typeface="Helvetica Neue"/>
                        </a:rPr>
                        <a:t>Readout date</a:t>
                      </a:r>
                    </a:p>
                  </a:txBody>
                  <a:tcPr>
                    <a:solidFill>
                      <a:srgbClr val="172D3C"/>
                    </a:solidFill>
                  </a:tcPr>
                </a:tc>
                <a:tc>
                  <a:txBody>
                    <a:bodyPr/>
                    <a:lstStyle/>
                    <a:p>
                      <a:r>
                        <a:rPr sz="1875" b="1">
                          <a:solidFill>
                            <a:srgbClr val="FFFFFF"/>
                          </a:solidFill>
                          <a:latin typeface="Helvetica Neue"/>
                          <a:ea typeface="Helvetica Neue"/>
                          <a:cs typeface="Helvetica Neue"/>
                        </a:rPr>
                        <a:t>Plates</a:t>
                      </a:r>
                    </a:p>
                  </a:txBody>
                  <a:tcPr>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a:solidFill>
                      <a:srgbClr val="172D3C"/>
                    </a:solidFill>
                  </a:tcPr>
                </a:tc>
                <a:tc>
                  <a:txBody>
                    <a:bodyPr/>
                    <a:lstStyle/>
                    <a:p>
                      <a:r>
                        <a:rPr sz="1875" b="1">
                          <a:solidFill>
                            <a:srgbClr val="FFFFFF"/>
                          </a:solidFill>
                          <a:latin typeface="Helvetica Neue"/>
                          <a:ea typeface="Helvetica Neue"/>
                          <a:cs typeface="Helvetica Neue"/>
                        </a:rPr>
                        <a:t>Active species</a:t>
                      </a:r>
                    </a:p>
                  </a:txBody>
                  <a:tcPr>
                    <a:solidFill>
                      <a:srgbClr val="172D3C"/>
                    </a:solidFill>
                  </a:tcPr>
                </a:tc>
                <a:extLst>
                  <a:ext uri="{0D108BD9-81ED-4DB2-BD59-A6C34878D82A}">
                    <a16:rowId xmlns:a16="http://schemas.microsoft.com/office/drawing/2014/main" val="10000"/>
                  </a:ext>
                </a:extLst>
              </a:tr>
              <a:tr h="685800">
                <a:tc>
                  <a:txBody>
                    <a:bodyPr/>
                    <a:lstStyle/>
                    <a:p>
                      <a:r>
                        <a:rPr sz="1875" b="0">
                          <a:solidFill>
                            <a:srgbClr val="172D3C"/>
                          </a:solidFill>
                          <a:latin typeface="Helvetica Neue"/>
                          <a:ea typeface="Helvetica Neue"/>
                          <a:cs typeface="Helvetica Neue"/>
                        </a:rPr>
                        <a:t>30 August</a:t>
                      </a:r>
                    </a:p>
                  </a:txBody>
                  <a:tcPr>
                    <a:solidFill>
                      <a:srgbClr val="F1F4F6"/>
                    </a:solidFill>
                  </a:tcPr>
                </a:tc>
                <a:tc>
                  <a:txBody>
                    <a:bodyPr/>
                    <a:lstStyle/>
                    <a:p>
                      <a:r>
                        <a:rPr sz="1875" b="0">
                          <a:solidFill>
                            <a:srgbClr val="172D3C"/>
                          </a:solidFill>
                          <a:latin typeface="Helvetica Neue"/>
                          <a:ea typeface="Helvetica Neue"/>
                          <a:cs typeface="Helvetica Neue"/>
                        </a:rPr>
                        <a:t>1</a:t>
                      </a:r>
                    </a:p>
                  </a:txBody>
                  <a:tcPr>
                    <a:solidFill>
                      <a:srgbClr val="F1F4F6"/>
                    </a:solidFill>
                  </a:tcPr>
                </a:tc>
                <a:tc>
                  <a:txBody>
                    <a:bodyPr/>
                    <a:lstStyle/>
                    <a:p>
                      <a:r>
                        <a:rPr sz="1875" b="0">
                          <a:solidFill>
                            <a:srgbClr val="172D3C"/>
                          </a:solidFill>
                          <a:latin typeface="Helvetica Neue"/>
                          <a:ea typeface="Helvetica Neue"/>
                          <a:cs typeface="Helvetica Neue"/>
                        </a:rPr>
                        <a:t>102</a:t>
                      </a:r>
                    </a:p>
                  </a:txBody>
                  <a:tcPr>
                    <a:solidFill>
                      <a:srgbClr val="F1F4F6"/>
                    </a:solidFill>
                  </a:tcPr>
                </a:tc>
                <a:tc>
                  <a:txBody>
                    <a:bodyPr/>
                    <a:lstStyle/>
                    <a:p>
                      <a:r>
                        <a:rPr sz="1875" b="0">
                          <a:solidFill>
                            <a:srgbClr val="172D3C"/>
                          </a:solidFill>
                          <a:latin typeface="Helvetica Neue"/>
                          <a:ea typeface="Helvetica Neue"/>
                          <a:cs typeface="Helvetica Neue"/>
                        </a:rPr>
                        <a:t>13</a:t>
                      </a:r>
                    </a:p>
                  </a:txBody>
                  <a:tcPr>
                    <a:solidFill>
                      <a:srgbClr val="F1F4F6"/>
                    </a:solidFill>
                  </a:tcPr>
                </a:tc>
                <a:extLst>
                  <a:ext uri="{0D108BD9-81ED-4DB2-BD59-A6C34878D82A}">
                    <a16:rowId xmlns:a16="http://schemas.microsoft.com/office/drawing/2014/main" val="10001"/>
                  </a:ext>
                </a:extLst>
              </a:tr>
              <a:tr h="685800">
                <a:tc>
                  <a:txBody>
                    <a:bodyPr/>
                    <a:lstStyle/>
                    <a:p>
                      <a:r>
                        <a:rPr sz="1875" b="0">
                          <a:solidFill>
                            <a:srgbClr val="172D3C"/>
                          </a:solidFill>
                          <a:latin typeface="Helvetica Neue"/>
                          <a:ea typeface="Helvetica Neue"/>
                          <a:cs typeface="Helvetica Neue"/>
                        </a:rPr>
                        <a:t>4 September</a:t>
                      </a:r>
                    </a:p>
                  </a:txBody>
                  <a:tcPr>
                    <a:solidFill>
                      <a:srgbClr val="FFFFFF"/>
                    </a:solidFill>
                  </a:tcPr>
                </a:tc>
                <a:tc>
                  <a:txBody>
                    <a:bodyPr/>
                    <a:lstStyle/>
                    <a:p>
                      <a:r>
                        <a:rPr sz="1875" b="0">
                          <a:solidFill>
                            <a:srgbClr val="172D3C"/>
                          </a:solidFill>
                          <a:latin typeface="Helvetica Neue"/>
                          <a:ea typeface="Helvetica Neue"/>
                          <a:cs typeface="Helvetica Neue"/>
                        </a:rPr>
                        <a:t>4</a:t>
                      </a:r>
                    </a:p>
                  </a:txBody>
                  <a:tcPr>
                    <a:solidFill>
                      <a:srgbClr val="FFFFFF"/>
                    </a:solidFill>
                  </a:tcPr>
                </a:tc>
                <a:tc>
                  <a:txBody>
                    <a:bodyPr/>
                    <a:lstStyle/>
                    <a:p>
                      <a:r>
                        <a:rPr sz="1875" b="0" dirty="0">
                          <a:solidFill>
                            <a:srgbClr val="172D3C"/>
                          </a:solidFill>
                          <a:latin typeface="Helvetica Neue"/>
                          <a:ea typeface="Helvetica Neue"/>
                          <a:cs typeface="Helvetica Neue"/>
                        </a:rPr>
                        <a:t>408, including 54 repeats</a:t>
                      </a:r>
                      <a:r>
                        <a:rPr lang="de-DE" sz="1875" b="0" dirty="0">
                          <a:solidFill>
                            <a:srgbClr val="172D3C"/>
                          </a:solidFill>
                          <a:latin typeface="Helvetica Neue"/>
                          <a:ea typeface="Helvetica Neue"/>
                          <a:cs typeface="Helvetica Neue"/>
                        </a:rPr>
                        <a:t> (296 </a:t>
                      </a:r>
                      <a:r>
                        <a:rPr lang="de-DE" sz="1875" b="0" dirty="0" err="1">
                          <a:solidFill>
                            <a:srgbClr val="172D3C"/>
                          </a:solidFill>
                          <a:latin typeface="Helvetica Neue"/>
                          <a:ea typeface="Helvetica Neue"/>
                          <a:cs typeface="Helvetica Neue"/>
                        </a:rPr>
                        <a:t>missing</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from</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here</a:t>
                      </a:r>
                      <a:r>
                        <a:rPr lang="de-DE" sz="1875" b="0" dirty="0">
                          <a:solidFill>
                            <a:srgbClr val="172D3C"/>
                          </a:solidFill>
                          <a:latin typeface="Helvetica Neue"/>
                          <a:ea typeface="Helvetica Neue"/>
                          <a:cs typeface="Helvetica Neue"/>
                        </a:rPr>
                        <a:t> on)</a:t>
                      </a:r>
                      <a:endParaRPr sz="1875" b="0" dirty="0">
                        <a:solidFill>
                          <a:srgbClr val="172D3C"/>
                        </a:solidFill>
                        <a:latin typeface="Helvetica Neue"/>
                        <a:ea typeface="Helvetica Neue"/>
                        <a:cs typeface="Helvetica Neue"/>
                      </a:endParaRPr>
                    </a:p>
                  </a:txBody>
                  <a:tcPr>
                    <a:solidFill>
                      <a:srgbClr val="FFFFFF"/>
                    </a:solidFill>
                  </a:tcPr>
                </a:tc>
                <a:tc>
                  <a:txBody>
                    <a:bodyPr/>
                    <a:lstStyle/>
                    <a:p>
                      <a:r>
                        <a:rPr sz="1875" b="0">
                          <a:solidFill>
                            <a:srgbClr val="172D3C"/>
                          </a:solidFill>
                          <a:latin typeface="Helvetica Neue"/>
                          <a:ea typeface="Helvetica Neue"/>
                          <a:cs typeface="Helvetica Neue"/>
                        </a:rPr>
                        <a:t>12</a:t>
                      </a:r>
                    </a:p>
                  </a:txBody>
                  <a:tcPr>
                    <a:solidFill>
                      <a:srgbClr val="FFFFFF"/>
                    </a:solidFill>
                  </a:tcPr>
                </a:tc>
                <a:extLst>
                  <a:ext uri="{0D108BD9-81ED-4DB2-BD59-A6C34878D82A}">
                    <a16:rowId xmlns:a16="http://schemas.microsoft.com/office/drawing/2014/main" val="10002"/>
                  </a:ext>
                </a:extLst>
              </a:tr>
              <a:tr h="685800">
                <a:tc>
                  <a:txBody>
                    <a:bodyPr/>
                    <a:lstStyle/>
                    <a:p>
                      <a:r>
                        <a:rPr sz="1875" b="0">
                          <a:solidFill>
                            <a:srgbClr val="172D3C"/>
                          </a:solidFill>
                          <a:latin typeface="Helvetica Neue"/>
                          <a:ea typeface="Helvetica Neue"/>
                          <a:cs typeface="Helvetica Neue"/>
                        </a:rPr>
                        <a:t>11 September</a:t>
                      </a:r>
                    </a:p>
                  </a:txBody>
                  <a:tcPr>
                    <a:solidFill>
                      <a:srgbClr val="F1F4F6"/>
                    </a:solidFill>
                  </a:tcPr>
                </a:tc>
                <a:tc>
                  <a:txBody>
                    <a:bodyPr/>
                    <a:lstStyle/>
                    <a:p>
                      <a:r>
                        <a:rPr sz="1875" b="0">
                          <a:solidFill>
                            <a:srgbClr val="172D3C"/>
                          </a:solidFill>
                          <a:latin typeface="Helvetica Neue"/>
                          <a:ea typeface="Helvetica Neue"/>
                          <a:cs typeface="Helvetica Neue"/>
                        </a:rPr>
                        <a:t>4</a:t>
                      </a:r>
                    </a:p>
                  </a:txBody>
                  <a:tcPr>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a:solidFill>
                      <a:srgbClr val="F1F4F6"/>
                    </a:solidFill>
                  </a:tcPr>
                </a:tc>
                <a:tc>
                  <a:txBody>
                    <a:bodyPr/>
                    <a:lstStyle/>
                    <a:p>
                      <a:r>
                        <a:rPr sz="1875" b="0" dirty="0">
                          <a:solidFill>
                            <a:srgbClr val="172D3C"/>
                          </a:solidFill>
                          <a:latin typeface="Helvetica Neue"/>
                          <a:ea typeface="Helvetica Neue"/>
                          <a:cs typeface="Helvetica Neue"/>
                        </a:rPr>
                        <a:t>12</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6BB78507-2B38-412D-908F-0CEE8FF6376E}"/>
              </a:ext>
            </a:extLst>
          </p:cNvPr>
          <p:cNvSpPr>
            <a:spLocks noGrp="1"/>
          </p:cNvSpPr>
          <p:nvPr/>
        </p:nvSpPr>
        <p:spPr>
          <a:xfrm>
            <a:off x="723900" y="4972050"/>
            <a:ext cx="10572750" cy="495300"/>
          </a:xfrm>
          <a:prstGeom prst="rect">
            <a:avLst/>
          </a:prstGeom>
          <a:noFill/>
          <a:ln w="0">
            <a:noFill/>
          </a:ln>
        </p:spPr>
        <p:txBody>
          <a:bodyPr>
            <a:noAutofit/>
          </a:bodyPr>
          <a:lstStyle/>
          <a:p>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Rechteck 4">
            <a:extLst>
              <a:ext uri="{FF2B5EF4-FFF2-40B4-BE49-F238E27FC236}">
                <a16:creationId xmlns:a16="http://schemas.microsoft.com/office/drawing/2014/main" id="{9017640D-55CE-495B-A074-AF8002E7E875}"/>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373054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E109E442-2119-47A1-83DB-EEE4AA6448CF}"/>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Rechteck 1">
            <a:extLst>
              <a:ext uri="{FF2B5EF4-FFF2-40B4-BE49-F238E27FC236}">
                <a16:creationId xmlns:a16="http://schemas.microsoft.com/office/drawing/2014/main" id="{88492001-A03E-45C0-B310-D7F0BC3C526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C810FFE1-F4CB-4714-95F9-70043F490703}"/>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68806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17DA64B8-BF54-4A23-814C-7391315819B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Rechteck 1">
            <a:extLst>
              <a:ext uri="{FF2B5EF4-FFF2-40B4-BE49-F238E27FC236}">
                <a16:creationId xmlns:a16="http://schemas.microsoft.com/office/drawing/2014/main" id="{1E5BD47E-D18A-4C0A-A497-87E50E05494B}"/>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sp>
        <p:nvSpPr>
          <p:cNvPr id="3" name="Rechteck 2">
            <a:extLst>
              <a:ext uri="{FF2B5EF4-FFF2-40B4-BE49-F238E27FC236}">
                <a16:creationId xmlns:a16="http://schemas.microsoft.com/office/drawing/2014/main" id="{4BC9194C-9368-49E0-8E1F-00B7C77BA182}"/>
              </a:ext>
            </a:extLst>
          </p:cNvPr>
          <p:cNvSpPr>
            <a:spLocks noGrp="1"/>
          </p:cNvSpPr>
          <p:nvPr/>
        </p:nvSpPr>
        <p:spPr>
          <a:xfrm>
            <a:off x="704850" y="17145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Rechteck 3">
            <a:extLst>
              <a:ext uri="{FF2B5EF4-FFF2-40B4-BE49-F238E27FC236}">
                <a16:creationId xmlns:a16="http://schemas.microsoft.com/office/drawing/2014/main" id="{2A7552CC-196C-4E6D-8733-D9B47BD674AE}"/>
              </a:ext>
            </a:extLst>
          </p:cNvPr>
          <p:cNvSpPr>
            <a:spLocks noGrp="1"/>
          </p:cNvSpPr>
          <p:nvPr/>
        </p:nvSpPr>
        <p:spPr>
          <a:xfrm>
            <a:off x="704850" y="22002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Rechteck 4">
            <a:extLst>
              <a:ext uri="{FF2B5EF4-FFF2-40B4-BE49-F238E27FC236}">
                <a16:creationId xmlns:a16="http://schemas.microsoft.com/office/drawing/2014/main" id="{67AC5C4C-1378-4934-8033-DE31101E5862}"/>
              </a:ext>
            </a:extLst>
          </p:cNvPr>
          <p:cNvSpPr>
            <a:spLocks noGrp="1"/>
          </p:cNvSpPr>
          <p:nvPr/>
        </p:nvSpPr>
        <p:spPr>
          <a:xfrm>
            <a:off x="704850" y="31242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dirty="0">
                <a:solidFill>
                  <a:srgbClr val="172D3C"/>
                </a:solidFill>
                <a:latin typeface="Helvetica Neue"/>
                <a:ea typeface="Helvetica Neue"/>
                <a:cs typeface="Helvetica Neue"/>
              </a:rPr>
              <a:t>Unresolved </a:t>
            </a:r>
            <a:r>
              <a:rPr lang="de-DE" sz="2250" b="1" dirty="0" err="1">
                <a:solidFill>
                  <a:srgbClr val="172D3C"/>
                </a:solidFill>
                <a:latin typeface="Helvetica Neue"/>
                <a:ea typeface="Helvetica Neue"/>
                <a:cs typeface="Helvetica Neue"/>
              </a:rPr>
              <a:t>issues</a:t>
            </a:r>
            <a:endParaRPr sz="2250" b="1" dirty="0">
              <a:solidFill>
                <a:srgbClr val="172D3C"/>
              </a:solidFill>
              <a:latin typeface="Helvetica Neue"/>
              <a:ea typeface="Helvetica Neue"/>
              <a:cs typeface="Helvetica Neue"/>
            </a:endParaRPr>
          </a:p>
        </p:txBody>
      </p:sp>
      <p:sp>
        <p:nvSpPr>
          <p:cNvPr id="6" name="Rechteck 5">
            <a:extLst>
              <a:ext uri="{FF2B5EF4-FFF2-40B4-BE49-F238E27FC236}">
                <a16:creationId xmlns:a16="http://schemas.microsoft.com/office/drawing/2014/main" id="{8C4EF91D-F7DC-450E-9C6A-49E95CF89BF6}"/>
              </a:ext>
            </a:extLst>
          </p:cNvPr>
          <p:cNvSpPr>
            <a:spLocks noGrp="1"/>
          </p:cNvSpPr>
          <p:nvPr/>
        </p:nvSpPr>
        <p:spPr>
          <a:xfrm>
            <a:off x="704850" y="36099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lang="de-DE" sz="1950" b="0" dirty="0">
                <a:solidFill>
                  <a:srgbClr val="506574"/>
                </a:solidFill>
                <a:latin typeface="Helvetica Neue"/>
                <a:ea typeface="Helvetica Neue"/>
                <a:cs typeface="Helvetica Neue"/>
              </a:rPr>
              <a:t>Error in source </a:t>
            </a:r>
            <a:r>
              <a:rPr lang="de-DE" sz="1950" b="0" dirty="0" err="1">
                <a:solidFill>
                  <a:srgbClr val="506574"/>
                </a:solidFill>
                <a:latin typeface="Helvetica Neue"/>
                <a:ea typeface="Helvetica Neue"/>
                <a:cs typeface="Helvetica Neue"/>
              </a:rPr>
              <a:t>plate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volume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requirements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affects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actual</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composition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of</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destination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plate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cultures</a:t>
            </a:r>
            <a:r>
              <a:rPr lang="de-DE" sz="1950" b="0" dirty="0">
                <a:solidFill>
                  <a:srgbClr val="506574"/>
                </a:solidFill>
                <a:latin typeface="Helvetica Neue"/>
                <a:ea typeface="Helvetica Neue"/>
                <a:cs typeface="Helvetica Neue"/>
              </a:rPr>
              <a:t> – will </a:t>
            </a:r>
            <a:r>
              <a:rPr lang="de-DE" sz="1950" b="0" dirty="0" err="1">
                <a:solidFill>
                  <a:srgbClr val="506574"/>
                </a:solidFill>
                <a:latin typeface="Helvetica Neue"/>
                <a:ea typeface="Helvetica Neue"/>
                <a:cs typeface="Helvetica Neue"/>
              </a:rPr>
              <a:t>attempt</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to</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resolve</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based</a:t>
            </a:r>
            <a:r>
              <a:rPr lang="de-DE" sz="1950" dirty="0">
                <a:solidFill>
                  <a:srgbClr val="506574"/>
                </a:solidFill>
                <a:latin typeface="Helvetica Neue"/>
                <a:ea typeface="Helvetica Neue"/>
                <a:cs typeface="Helvetica Neue"/>
              </a:rPr>
              <a:t> on echo </a:t>
            </a:r>
            <a:r>
              <a:rPr lang="de-DE" sz="1950" dirty="0" err="1">
                <a:solidFill>
                  <a:srgbClr val="506574"/>
                </a:solidFill>
                <a:latin typeface="Helvetica Neue"/>
                <a:ea typeface="Helvetica Neue"/>
                <a:cs typeface="Helvetica Neue"/>
              </a:rPr>
              <a:t>error</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output</a:t>
            </a:r>
            <a:r>
              <a:rPr lang="de-DE" sz="1950" dirty="0">
                <a:solidFill>
                  <a:srgbClr val="506574"/>
                </a:solidFill>
                <a:latin typeface="Helvetica Neue"/>
                <a:ea typeface="Helvetica Neue"/>
                <a:cs typeface="Helvetica Neue"/>
              </a:rPr>
              <a:t>.</a:t>
            </a:r>
            <a:endParaRPr sz="19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046381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53142371-11C2-4D2D-93BF-A20447BCF592}"/>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Rechteck 1">
            <a:extLst>
              <a:ext uri="{FF2B5EF4-FFF2-40B4-BE49-F238E27FC236}">
                <a16:creationId xmlns:a16="http://schemas.microsoft.com/office/drawing/2014/main" id="{287E235F-152C-49ED-8842-28AC7F25470E}"/>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Tabelle 6"/>
          <p:cNvGraphicFramePr/>
          <p:nvPr>
            <p:extLst>
              <p:ext uri="{D42A27DB-BD31-4B8C-83A1-F6EECF244321}">
                <p14:modId xmlns:p14="http://schemas.microsoft.com/office/powerpoint/2010/main" val="2760386324"/>
              </p:ext>
            </p:extLst>
          </p:nvPr>
        </p:nvGraphicFramePr>
        <p:xfrm>
          <a:off x="666750" y="1657350"/>
          <a:ext cx="10858500" cy="3638550"/>
        </p:xfrm>
        <a:graphic>
          <a:graphicData uri="http://schemas.openxmlformats.org/drawingml/2006/table">
            <a:tbl>
              <a:tblPr/>
              <a:tblGrid>
                <a:gridCol w="9525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6762750">
                  <a:extLst>
                    <a:ext uri="{9D8B030D-6E8A-4147-A177-3AD203B41FA5}">
                      <a16:colId xmlns:a16="http://schemas.microsoft.com/office/drawing/2014/main" val="20002"/>
                    </a:ext>
                  </a:extLst>
                </a:gridCol>
              </a:tblGrid>
              <a:tr h="727710">
                <a:tc>
                  <a:txBody>
                    <a:bodyPr/>
                    <a:lstStyle/>
                    <a:p>
                      <a:r>
                        <a:rPr sz="1800" b="1">
                          <a:solidFill>
                            <a:srgbClr val="FFFFFF"/>
                          </a:solidFill>
                          <a:latin typeface="Helvetica Neue"/>
                          <a:ea typeface="Helvetica Neue"/>
                          <a:cs typeface="Helvetica Neue"/>
                        </a:rPr>
                        <a:t>Plate</a:t>
                      </a:r>
                    </a:p>
                  </a:txBody>
                  <a:tcPr>
                    <a:solidFill>
                      <a:srgbClr val="172D3C"/>
                    </a:solidFill>
                  </a:tcPr>
                </a:tc>
                <a:tc>
                  <a:txBody>
                    <a:bodyPr/>
                    <a:lstStyle/>
                    <a:p>
                      <a:r>
                        <a:rPr sz="1800" b="1">
                          <a:solidFill>
                            <a:srgbClr val="FFFFFF"/>
                          </a:solidFill>
                          <a:latin typeface="Helvetica Neue"/>
                          <a:ea typeface="Helvetica Neue"/>
                          <a:cs typeface="Helvetica Neue"/>
                        </a:rPr>
                        <a:t>Path</a:t>
                      </a:r>
                    </a:p>
                  </a:txBody>
                  <a:tcPr>
                    <a:solidFill>
                      <a:srgbClr val="172D3C"/>
                    </a:solidFill>
                  </a:tcPr>
                </a:tc>
                <a:tc>
                  <a:txBody>
                    <a:bodyPr/>
                    <a:lstStyle/>
                    <a:p>
                      <a:r>
                        <a:rPr sz="1800" b="1">
                          <a:solidFill>
                            <a:srgbClr val="FFFFFF"/>
                          </a:solidFill>
                          <a:latin typeface="Helvetica Neue"/>
                          <a:ea typeface="Helvetica Neue"/>
                          <a:cs typeface="Helvetica Neue"/>
                        </a:rPr>
                        <a:t>Selection criterion</a:t>
                      </a:r>
                    </a:p>
                  </a:txBody>
                  <a:tcPr>
                    <a:solidFill>
                      <a:srgbClr val="172D3C"/>
                    </a:solidFill>
                  </a:tcPr>
                </a:tc>
                <a:extLst>
                  <a:ext uri="{0D108BD9-81ED-4DB2-BD59-A6C34878D82A}">
                    <a16:rowId xmlns:a16="http://schemas.microsoft.com/office/drawing/2014/main" val="10000"/>
                  </a:ext>
                </a:extLst>
              </a:tr>
              <a:tr h="727710">
                <a:tc>
                  <a:txBody>
                    <a:bodyPr/>
                    <a:lstStyle/>
                    <a:p>
                      <a:r>
                        <a:rPr sz="1800" b="0">
                          <a:solidFill>
                            <a:srgbClr val="172D3C"/>
                          </a:solidFill>
                          <a:latin typeface="Helvetica Neue"/>
                          <a:ea typeface="Helvetica Neue"/>
                          <a:cs typeface="Helvetica Neue"/>
                        </a:rPr>
                        <a:t>1</a:t>
                      </a:r>
                    </a:p>
                  </a:txBody>
                  <a:tcPr>
                    <a:solidFill>
                      <a:srgbClr val="F1F4F6"/>
                    </a:solidFill>
                  </a:tcPr>
                </a:tc>
                <a:tc>
                  <a:txBody>
                    <a:bodyPr/>
                    <a:lstStyle/>
                    <a:p>
                      <a:r>
                        <a:rPr lang="de-DE" sz="1800" b="0" dirty="0" err="1">
                          <a:solidFill>
                            <a:srgbClr val="172D3C"/>
                          </a:solidFill>
                          <a:latin typeface="Helvetica Neue"/>
                          <a:ea typeface="Helvetica Neue"/>
                          <a:cs typeface="Helvetica Neue"/>
                        </a:rPr>
                        <a:t>Bayesian</a:t>
                      </a:r>
                      <a:r>
                        <a:rPr lang="de-DE" sz="1800" b="0" dirty="0">
                          <a:solidFill>
                            <a:srgbClr val="172D3C"/>
                          </a:solidFill>
                          <a:latin typeface="Helvetica Neue"/>
                          <a:ea typeface="Helvetica Neue"/>
                          <a:cs typeface="Helvetica Neue"/>
                        </a:rPr>
                        <a:t> </a:t>
                      </a:r>
                      <a:r>
                        <a:rPr lang="de-DE" sz="1800" b="0" dirty="0" err="1">
                          <a:solidFill>
                            <a:srgbClr val="172D3C"/>
                          </a:solidFill>
                          <a:latin typeface="Helvetica Neue"/>
                          <a:ea typeface="Helvetica Neue"/>
                          <a:cs typeface="Helvetica Neue"/>
                        </a:rPr>
                        <a:t>e</a:t>
                      </a:r>
                      <a:r>
                        <a:rPr sz="1800" b="0" dirty="0" err="1">
                          <a:solidFill>
                            <a:srgbClr val="172D3C"/>
                          </a:solidFill>
                          <a:latin typeface="Helvetica Neue"/>
                          <a:ea typeface="Helvetica Neue"/>
                          <a:cs typeface="Helvetica Neue"/>
                        </a:rPr>
                        <a:t>xpected</a:t>
                      </a:r>
                      <a:r>
                        <a:rPr sz="1800" b="0" dirty="0">
                          <a:solidFill>
                            <a:srgbClr val="172D3C"/>
                          </a:solidFill>
                          <a:latin typeface="Helvetica Neue"/>
                          <a:ea typeface="Helvetica Neue"/>
                          <a:cs typeface="Helvetica Neue"/>
                        </a:rPr>
                        <a:t> improvement</a:t>
                      </a:r>
                    </a:p>
                  </a:txBody>
                  <a:tcPr>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a:solidFill>
                      <a:srgbClr val="F1F4F6"/>
                    </a:solidFill>
                  </a:tcPr>
                </a:tc>
                <a:extLst>
                  <a:ext uri="{0D108BD9-81ED-4DB2-BD59-A6C34878D82A}">
                    <a16:rowId xmlns:a16="http://schemas.microsoft.com/office/drawing/2014/main" val="10001"/>
                  </a:ext>
                </a:extLst>
              </a:tr>
              <a:tr h="727710">
                <a:tc>
                  <a:txBody>
                    <a:bodyPr/>
                    <a:lstStyle/>
                    <a:p>
                      <a:r>
                        <a:rPr sz="1800" b="0">
                          <a:solidFill>
                            <a:srgbClr val="172D3C"/>
                          </a:solidFill>
                          <a:latin typeface="Helvetica Neue"/>
                          <a:ea typeface="Helvetica Neue"/>
                          <a:cs typeface="Helvetica Neue"/>
                        </a:rPr>
                        <a:t>2</a:t>
                      </a:r>
                    </a:p>
                  </a:txBody>
                  <a:tcPr>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a:solidFill>
                      <a:srgbClr val="FFFFFF"/>
                    </a:solidFill>
                  </a:tcPr>
                </a:tc>
                <a:extLst>
                  <a:ext uri="{0D108BD9-81ED-4DB2-BD59-A6C34878D82A}">
                    <a16:rowId xmlns:a16="http://schemas.microsoft.com/office/drawing/2014/main" val="10002"/>
                  </a:ext>
                </a:extLst>
              </a:tr>
              <a:tr h="727710">
                <a:tc>
                  <a:txBody>
                    <a:bodyPr/>
                    <a:lstStyle/>
                    <a:p>
                      <a:r>
                        <a:rPr sz="1800" b="0">
                          <a:solidFill>
                            <a:srgbClr val="172D3C"/>
                          </a:solidFill>
                          <a:latin typeface="Helvetica Neue"/>
                          <a:ea typeface="Helvetica Neue"/>
                          <a:cs typeface="Helvetica Neue"/>
                        </a:rPr>
                        <a:t>3</a:t>
                      </a:r>
                    </a:p>
                  </a:txBody>
                  <a:tcPr>
                    <a:solidFill>
                      <a:srgbClr val="F1F4F6"/>
                    </a:solidFill>
                  </a:tcPr>
                </a:tc>
                <a:tc>
                  <a:txBody>
                    <a:bodyPr/>
                    <a:lstStyle/>
                    <a:p>
                      <a:r>
                        <a:rPr lang="de-DE" sz="1800" b="0" dirty="0" err="1">
                          <a:solidFill>
                            <a:srgbClr val="172D3C"/>
                          </a:solidFill>
                          <a:latin typeface="Helvetica Neue"/>
                          <a:ea typeface="Helvetica Neue"/>
                          <a:cs typeface="Helvetica Neue"/>
                        </a:rPr>
                        <a:t>Bayesian</a:t>
                      </a:r>
                      <a:r>
                        <a:rPr lang="de-DE" sz="1800" b="0" dirty="0">
                          <a:solidFill>
                            <a:srgbClr val="172D3C"/>
                          </a:solidFill>
                          <a:latin typeface="Helvetica Neue"/>
                          <a:ea typeface="Helvetica Neue"/>
                          <a:cs typeface="Helvetica Neue"/>
                        </a:rPr>
                        <a:t> p</a:t>
                      </a:r>
                      <a:r>
                        <a:rPr sz="1800" b="0" dirty="0" err="1">
                          <a:solidFill>
                            <a:srgbClr val="172D3C"/>
                          </a:solidFill>
                          <a:latin typeface="Helvetica Neue"/>
                          <a:ea typeface="Helvetica Neue"/>
                          <a:cs typeface="Helvetica Neue"/>
                        </a:rPr>
                        <a:t>osterior</a:t>
                      </a:r>
                      <a:r>
                        <a:rPr sz="1800" b="0" dirty="0">
                          <a:solidFill>
                            <a:srgbClr val="172D3C"/>
                          </a:solidFill>
                          <a:latin typeface="Helvetica Neue"/>
                          <a:ea typeface="Helvetica Neue"/>
                          <a:cs typeface="Helvetica Neue"/>
                        </a:rPr>
                        <a:t> mean</a:t>
                      </a:r>
                    </a:p>
                  </a:txBody>
                  <a:tcPr>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a:solidFill>
                      <a:srgbClr val="F1F4F6"/>
                    </a:solidFill>
                  </a:tcPr>
                </a:tc>
                <a:extLst>
                  <a:ext uri="{0D108BD9-81ED-4DB2-BD59-A6C34878D82A}">
                    <a16:rowId xmlns:a16="http://schemas.microsoft.com/office/drawing/2014/main" val="10003"/>
                  </a:ext>
                </a:extLst>
              </a:tr>
              <a:tr h="727710">
                <a:tc>
                  <a:txBody>
                    <a:bodyPr/>
                    <a:lstStyle/>
                    <a:p>
                      <a:r>
                        <a:rPr sz="1800" b="0">
                          <a:solidFill>
                            <a:srgbClr val="172D3C"/>
                          </a:solidFill>
                          <a:latin typeface="Helvetica Neue"/>
                          <a:ea typeface="Helvetica Neue"/>
                          <a:cs typeface="Helvetica Neue"/>
                        </a:rPr>
                        <a:t>4</a:t>
                      </a:r>
                    </a:p>
                  </a:txBody>
                  <a:tcPr>
                    <a:solidFill>
                      <a:srgbClr val="FFFFFF"/>
                    </a:solidFill>
                  </a:tcPr>
                </a:tc>
                <a:tc>
                  <a:txBody>
                    <a:bodyPr/>
                    <a:lstStyle/>
                    <a:p>
                      <a:r>
                        <a:rPr sz="1800" b="0">
                          <a:solidFill>
                            <a:srgbClr val="172D3C"/>
                          </a:solidFill>
                          <a:latin typeface="Helvetica Neue"/>
                          <a:ea typeface="Helvetica Neue"/>
                          <a:cs typeface="Helvetica Neue"/>
                        </a:rPr>
                        <a:t>Random</a:t>
                      </a:r>
                    </a:p>
                  </a:txBody>
                  <a:tcPr>
                    <a:solidFill>
                      <a:srgbClr val="FFFFFF"/>
                    </a:solidFill>
                  </a:tcPr>
                </a:tc>
                <a:tc>
                  <a:txBody>
                    <a:bodyPr/>
                    <a:lstStyle/>
                    <a:p>
                      <a:r>
                        <a:rPr sz="1800" b="0" dirty="0">
                          <a:solidFill>
                            <a:srgbClr val="172D3C"/>
                          </a:solidFill>
                          <a:latin typeface="Helvetica Neue"/>
                          <a:ea typeface="Helvetica Neue"/>
                          <a:cs typeface="Helvetica Neue"/>
                        </a:rPr>
                        <a:t>Uniform sample from remaining unseen compositions</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6619C540-30FA-4D9B-8929-7C8E9CE4DA30}"/>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Each path gets 102 compositions in triplicate. </a:t>
            </a:r>
          </a:p>
        </p:txBody>
      </p:sp>
    </p:spTree>
    <p:extLst>
      <p:ext uri="{BB962C8B-B14F-4D97-AF65-F5344CB8AC3E}">
        <p14:creationId xmlns:p14="http://schemas.microsoft.com/office/powerpoint/2010/main" val="2098771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03D5E76-3953-4C73-B4A9-4BDC5F3418EF}"/>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Rechteck 1">
            <a:extLst>
              <a:ext uri="{FF2B5EF4-FFF2-40B4-BE49-F238E27FC236}">
                <a16:creationId xmlns:a16="http://schemas.microsoft.com/office/drawing/2014/main" id="{E4A53730-A5FE-4AE8-BCD2-52F699AB57E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Tabelle 6"/>
          <p:cNvGraphicFramePr/>
          <p:nvPr>
            <p:extLst>
              <p:ext uri="{D42A27DB-BD31-4B8C-83A1-F6EECF244321}">
                <p14:modId xmlns:p14="http://schemas.microsoft.com/office/powerpoint/2010/main" val="1432379334"/>
              </p:ext>
            </p:extLst>
          </p:nvPr>
        </p:nvGraphicFramePr>
        <p:xfrm>
          <a:off x="666750" y="1847850"/>
          <a:ext cx="10858500" cy="2886076"/>
        </p:xfrm>
        <a:graphic>
          <a:graphicData uri="http://schemas.openxmlformats.org/drawingml/2006/table">
            <a:tbl>
              <a:tblPr/>
              <a:tblGrid>
                <a:gridCol w="61912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tblGrid>
              <a:tr h="721519">
                <a:tc>
                  <a:txBody>
                    <a:bodyPr/>
                    <a:lstStyle/>
                    <a:p>
                      <a:r>
                        <a:rPr sz="1950" b="1">
                          <a:solidFill>
                            <a:srgbClr val="FFFFFF"/>
                          </a:solidFill>
                          <a:latin typeface="Helvetica Neue"/>
                          <a:ea typeface="Helvetica Neue"/>
                          <a:cs typeface="Helvetica Neue"/>
                        </a:rPr>
                        <a:t>Training data</a:t>
                      </a:r>
                    </a:p>
                  </a:txBody>
                  <a:tcPr>
                    <a:solidFill>
                      <a:srgbClr val="172D3C"/>
                    </a:solidFill>
                  </a:tcPr>
                </a:tc>
                <a:tc>
                  <a:txBody>
                    <a:bodyPr/>
                    <a:lstStyle/>
                    <a:p>
                      <a:r>
                        <a:rPr sz="1950" b="1">
                          <a:solidFill>
                            <a:srgbClr val="FFFFFF"/>
                          </a:solidFill>
                          <a:latin typeface="Helvetica Neue"/>
                          <a:ea typeface="Helvetica Neue"/>
                          <a:cs typeface="Helvetica Neue"/>
                        </a:rPr>
                        <a:t>EI model</a:t>
                      </a:r>
                    </a:p>
                  </a:txBody>
                  <a:tcPr>
                    <a:solidFill>
                      <a:srgbClr val="172D3C"/>
                    </a:solidFill>
                  </a:tcPr>
                </a:tc>
                <a:tc>
                  <a:txBody>
                    <a:bodyPr/>
                    <a:lstStyle/>
                    <a:p>
                      <a:r>
                        <a:rPr sz="1950" b="1">
                          <a:solidFill>
                            <a:srgbClr val="FFFFFF"/>
                          </a:solidFill>
                          <a:latin typeface="Helvetica Neue"/>
                          <a:ea typeface="Helvetica Neue"/>
                          <a:cs typeface="Helvetica Neue"/>
                        </a:rPr>
                        <a:t>Posterior-mean model</a:t>
                      </a:r>
                    </a:p>
                  </a:txBody>
                  <a:tcPr>
                    <a:solidFill>
                      <a:srgbClr val="172D3C"/>
                    </a:solidFill>
                  </a:tcPr>
                </a:tc>
                <a:extLst>
                  <a:ext uri="{0D108BD9-81ED-4DB2-BD59-A6C34878D82A}">
                    <a16:rowId xmlns:a16="http://schemas.microsoft.com/office/drawing/2014/main" val="10000"/>
                  </a:ext>
                </a:extLst>
              </a:tr>
              <a:tr h="721519">
                <a:tc>
                  <a:txBody>
                    <a:bodyPr/>
                    <a:lstStyle/>
                    <a:p>
                      <a:r>
                        <a:rPr sz="1950" b="0" dirty="0">
                          <a:solidFill>
                            <a:srgbClr val="172D3C"/>
                          </a:solidFill>
                          <a:latin typeface="Helvetica Neue"/>
                          <a:ea typeface="Helvetica Neue"/>
                          <a:cs typeface="Helvetica Neue"/>
                        </a:rPr>
                        <a:t>Shared max-diversity observations</a:t>
                      </a:r>
                      <a:r>
                        <a:rPr lang="de-DE" sz="1950" b="0" dirty="0">
                          <a:solidFill>
                            <a:srgbClr val="172D3C"/>
                          </a:solidFill>
                          <a:latin typeface="Helvetica Neue"/>
                          <a:ea typeface="Helvetica Neue"/>
                          <a:cs typeface="Helvetica Neue"/>
                        </a:rPr>
                        <a:t> (</a:t>
                      </a:r>
                      <a:r>
                        <a:rPr lang="de-DE" sz="1950" b="0" dirty="0" err="1">
                          <a:solidFill>
                            <a:srgbClr val="172D3C"/>
                          </a:solidFill>
                          <a:latin typeface="Helvetica Neue"/>
                          <a:ea typeface="Helvetica Neue"/>
                          <a:cs typeface="Helvetica Neue"/>
                        </a:rPr>
                        <a:t>first</a:t>
                      </a:r>
                      <a:r>
                        <a:rPr lang="de-DE" sz="1950" b="0" dirty="0">
                          <a:solidFill>
                            <a:srgbClr val="172D3C"/>
                          </a:solidFill>
                          <a:latin typeface="Helvetica Neue"/>
                          <a:ea typeface="Helvetica Neue"/>
                          <a:cs typeface="Helvetica Neue"/>
                        </a:rPr>
                        <a:t> </a:t>
                      </a:r>
                      <a:r>
                        <a:rPr lang="de-DE" sz="1950" b="0" dirty="0" err="1">
                          <a:solidFill>
                            <a:srgbClr val="172D3C"/>
                          </a:solidFill>
                          <a:latin typeface="Helvetica Neue"/>
                          <a:ea typeface="Helvetica Neue"/>
                          <a:cs typeface="Helvetica Neue"/>
                        </a:rPr>
                        <a:t>round</a:t>
                      </a:r>
                      <a:r>
                        <a:rPr lang="de-DE" sz="1950" b="0" dirty="0">
                          <a:solidFill>
                            <a:srgbClr val="172D3C"/>
                          </a:solidFill>
                          <a:latin typeface="Helvetica Neue"/>
                          <a:ea typeface="Helvetica Neue"/>
                          <a:cs typeface="Helvetica Neue"/>
                        </a:rPr>
                        <a:t> + </a:t>
                      </a:r>
                      <a:r>
                        <a:rPr lang="de-DE" sz="1950" b="0" dirty="0" err="1">
                          <a:solidFill>
                            <a:srgbClr val="172D3C"/>
                          </a:solidFill>
                          <a:latin typeface="Helvetica Neue"/>
                          <a:ea typeface="Helvetica Neue"/>
                          <a:cs typeface="Helvetica Neue"/>
                        </a:rPr>
                        <a:t>repeat</a:t>
                      </a:r>
                      <a:r>
                        <a:rPr lang="de-DE" sz="1950" b="0" dirty="0">
                          <a:solidFill>
                            <a:srgbClr val="172D3C"/>
                          </a:solidFill>
                          <a:latin typeface="Helvetica Neue"/>
                          <a:ea typeface="Helvetica Neue"/>
                          <a:cs typeface="Helvetica Neue"/>
                        </a:rPr>
                        <a:t>)</a:t>
                      </a:r>
                      <a:endParaRPr sz="1950" b="0" dirty="0">
                        <a:solidFill>
                          <a:srgbClr val="172D3C"/>
                        </a:solidFill>
                        <a:latin typeface="Helvetica Neue"/>
                        <a:ea typeface="Helvetica Neue"/>
                        <a:cs typeface="Helvetica Neue"/>
                      </a:endParaRPr>
                    </a:p>
                  </a:txBody>
                  <a:tcPr>
                    <a:solidFill>
                      <a:srgbClr val="F1F4F6"/>
                    </a:solidFill>
                  </a:tcPr>
                </a:tc>
                <a:tc>
                  <a:txBody>
                    <a:bodyPr/>
                    <a:lstStyle/>
                    <a:p>
                      <a:r>
                        <a:rPr sz="1950" b="0">
                          <a:solidFill>
                            <a:srgbClr val="172D3C"/>
                          </a:solidFill>
                          <a:latin typeface="Helvetica Neue"/>
                          <a:ea typeface="Helvetica Neue"/>
                          <a:cs typeface="Helvetica Neue"/>
                        </a:rPr>
                        <a:t>204</a:t>
                      </a:r>
                    </a:p>
                  </a:txBody>
                  <a:tcPr>
                    <a:solidFill>
                      <a:srgbClr val="F1F4F6"/>
                    </a:solidFill>
                  </a:tcPr>
                </a:tc>
                <a:tc>
                  <a:txBody>
                    <a:bodyPr/>
                    <a:lstStyle/>
                    <a:p>
                      <a:r>
                        <a:rPr sz="1950" b="0">
                          <a:solidFill>
                            <a:srgbClr val="172D3C"/>
                          </a:solidFill>
                          <a:latin typeface="Helvetica Neue"/>
                          <a:ea typeface="Helvetica Neue"/>
                          <a:cs typeface="Helvetica Neue"/>
                        </a:rPr>
                        <a:t>204</a:t>
                      </a:r>
                    </a:p>
                  </a:txBody>
                  <a:tcPr>
                    <a:solidFill>
                      <a:srgbClr val="F1F4F6"/>
                    </a:solidFill>
                  </a:tcPr>
                </a:tc>
                <a:extLst>
                  <a:ext uri="{0D108BD9-81ED-4DB2-BD59-A6C34878D82A}">
                    <a16:rowId xmlns:a16="http://schemas.microsoft.com/office/drawing/2014/main" val="10001"/>
                  </a:ext>
                </a:extLst>
              </a:tr>
              <a:tr h="721519">
                <a:tc>
                  <a:txBody>
                    <a:bodyPr/>
                    <a:lstStyle/>
                    <a:p>
                      <a:r>
                        <a:rPr sz="1950" b="0">
                          <a:solidFill>
                            <a:srgbClr val="172D3C"/>
                          </a:solidFill>
                          <a:latin typeface="Helvetica Neue"/>
                          <a:ea typeface="Helvetica Neue"/>
                          <a:cs typeface="Helvetica Neue"/>
                        </a:rPr>
                        <a:t>Own-path acquired observations</a:t>
                      </a:r>
                    </a:p>
                  </a:txBody>
                  <a:tcPr>
                    <a:solidFill>
                      <a:srgbClr val="FFFFFF"/>
                    </a:solidFill>
                  </a:tcPr>
                </a:tc>
                <a:tc>
                  <a:txBody>
                    <a:bodyPr/>
                    <a:lstStyle/>
                    <a:p>
                      <a:r>
                        <a:rPr sz="1950" b="0">
                          <a:solidFill>
                            <a:srgbClr val="172D3C"/>
                          </a:solidFill>
                          <a:latin typeface="Helvetica Neue"/>
                          <a:ea typeface="Helvetica Neue"/>
                          <a:cs typeface="Helvetica Neue"/>
                        </a:rPr>
                        <a:t>102 EI</a:t>
                      </a:r>
                    </a:p>
                  </a:txBody>
                  <a:tcPr>
                    <a:solidFill>
                      <a:srgbClr val="FFFFFF"/>
                    </a:solidFill>
                  </a:tcPr>
                </a:tc>
                <a:tc>
                  <a:txBody>
                    <a:bodyPr/>
                    <a:lstStyle/>
                    <a:p>
                      <a:r>
                        <a:rPr sz="1950" b="0">
                          <a:solidFill>
                            <a:srgbClr val="172D3C"/>
                          </a:solidFill>
                          <a:latin typeface="Helvetica Neue"/>
                          <a:ea typeface="Helvetica Neue"/>
                          <a:cs typeface="Helvetica Neue"/>
                        </a:rPr>
                        <a:t>102 posterior mean</a:t>
                      </a:r>
                    </a:p>
                  </a:txBody>
                  <a:tcPr>
                    <a:solidFill>
                      <a:srgbClr val="FFFFFF"/>
                    </a:solidFill>
                  </a:tcPr>
                </a:tc>
                <a:extLst>
                  <a:ext uri="{0D108BD9-81ED-4DB2-BD59-A6C34878D82A}">
                    <a16:rowId xmlns:a16="http://schemas.microsoft.com/office/drawing/2014/main" val="10002"/>
                  </a:ext>
                </a:extLst>
              </a:tr>
              <a:tr h="721519">
                <a:tc>
                  <a:txBody>
                    <a:bodyPr/>
                    <a:lstStyle/>
                    <a:p>
                      <a:r>
                        <a:rPr sz="1950" b="0">
                          <a:solidFill>
                            <a:srgbClr val="172D3C"/>
                          </a:solidFill>
                          <a:latin typeface="Helvetica Neue"/>
                          <a:ea typeface="Helvetica Neue"/>
                          <a:cs typeface="Helvetica Neue"/>
                        </a:rPr>
                        <a:t>Unique training compositions</a:t>
                      </a:r>
                    </a:p>
                  </a:txBody>
                  <a:tcPr>
                    <a:solidFill>
                      <a:srgbClr val="F1F4F6"/>
                    </a:solidFill>
                  </a:tcPr>
                </a:tc>
                <a:tc>
                  <a:txBody>
                    <a:bodyPr/>
                    <a:lstStyle/>
                    <a:p>
                      <a:r>
                        <a:rPr sz="1950" b="0">
                          <a:solidFill>
                            <a:srgbClr val="172D3C"/>
                          </a:solidFill>
                          <a:latin typeface="Helvetica Neue"/>
                          <a:ea typeface="Helvetica Neue"/>
                          <a:cs typeface="Helvetica Neue"/>
                        </a:rPr>
                        <a:t>252</a:t>
                      </a:r>
                    </a:p>
                  </a:txBody>
                  <a:tcPr>
                    <a:solidFill>
                      <a:srgbClr val="F1F4F6"/>
                    </a:solidFill>
                  </a:tcPr>
                </a:tc>
                <a:tc>
                  <a:txBody>
                    <a:bodyPr/>
                    <a:lstStyle/>
                    <a:p>
                      <a:r>
                        <a:rPr sz="1950" b="0" dirty="0">
                          <a:solidFill>
                            <a:srgbClr val="172D3C"/>
                          </a:solidFill>
                          <a:latin typeface="Helvetica Neue"/>
                          <a:ea typeface="Helvetica Neue"/>
                          <a:cs typeface="Helvetica Neue"/>
                        </a:rPr>
                        <a:t>252</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188422EC-AD43-44D7-94A4-0F55C5166876}"/>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141861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D683C58D-BE73-4439-97D6-1EE0491048D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Predicted rankings barely matched the next measurements</a:t>
            </a:r>
          </a:p>
        </p:txBody>
      </p:sp>
      <p:sp>
        <p:nvSpPr>
          <p:cNvPr id="2" name="Rechteck 1">
            <a:extLst>
              <a:ext uri="{FF2B5EF4-FFF2-40B4-BE49-F238E27FC236}">
                <a16:creationId xmlns:a16="http://schemas.microsoft.com/office/drawing/2014/main" id="{CE7F3A5E-6C5D-4119-8C3A-5E42703EAF7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sp>
        <p:nvSpPr>
          <p:cNvPr id="3" name="Rechteck 2">
            <a:extLst>
              <a:ext uri="{FF2B5EF4-FFF2-40B4-BE49-F238E27FC236}">
                <a16:creationId xmlns:a16="http://schemas.microsoft.com/office/drawing/2014/main" id="{93320405-91F4-463E-BCD8-80EFDD88A32A}"/>
              </a:ext>
            </a:extLst>
          </p:cNvPr>
          <p:cNvSpPr>
            <a:spLocks noGrp="1"/>
          </p:cNvSpPr>
          <p:nvPr/>
        </p:nvSpPr>
        <p:spPr>
          <a:xfrm>
            <a:off x="723900" y="145732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Predictions saved on 2 September, compared with the 4 September readout</a:t>
            </a:r>
          </a:p>
        </p:txBody>
      </p:sp>
      <p:graphicFrame>
        <p:nvGraphicFramePr>
          <p:cNvPr id="9" name="Chart"/>
          <p:cNvGraphicFramePr/>
          <p:nvPr>
            <p:extLst>
              <p:ext uri="{D42A27DB-BD31-4B8C-83A1-F6EECF244321}">
                <p14:modId xmlns:p14="http://schemas.microsoft.com/office/powerpoint/2010/main" val="1445867081"/>
              </p:ext>
            </p:extLst>
          </p:nvPr>
        </p:nvGraphicFramePr>
        <p:xfrm>
          <a:off x="723900" y="1952625"/>
          <a:ext cx="10725150" cy="35718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EB37E0EF-0D84-41A3-890E-1E6ADC45EF55}"/>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−1 = reversed order, 0 = no rank agreement, +1 = perfect agreement.</a:t>
            </a:r>
          </a:p>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This tests ranking within each batch, separately from its average performance.</a:t>
            </a:r>
          </a:p>
        </p:txBody>
      </p:sp>
    </p:spTree>
    <p:extLst>
      <p:ext uri="{BB962C8B-B14F-4D97-AF65-F5344CB8AC3E}">
        <p14:creationId xmlns:p14="http://schemas.microsoft.com/office/powerpoint/2010/main" val="1298191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4CC49F6-43C2-48D2-BEC9-A38CCE08EA4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EI had the highest median, random the highest peak</a:t>
            </a:r>
          </a:p>
        </p:txBody>
      </p:sp>
      <p:sp>
        <p:nvSpPr>
          <p:cNvPr id="2" name="Rechteck 1">
            <a:extLst>
              <a:ext uri="{FF2B5EF4-FFF2-40B4-BE49-F238E27FC236}">
                <a16:creationId xmlns:a16="http://schemas.microsoft.com/office/drawing/2014/main" id="{ED183A74-2C27-4265-84DB-31C570BF19D0}"/>
              </a:ext>
            </a:extLst>
          </p:cNvPr>
          <p:cNvSpPr>
            <a:spLocks noGrp="1"/>
          </p:cNvSpPr>
          <p:nvPr/>
        </p:nvSpPr>
        <p:spPr>
          <a:xfrm>
            <a:off x="723900" y="145732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4 September, ordinary readout. 102 communities per batch, three wells each.</a:t>
            </a:r>
          </a:p>
        </p:txBody>
      </p:sp>
      <p:sp>
        <p:nvSpPr>
          <p:cNvPr id="3" name="Rechteck 2">
            <a:extLst>
              <a:ext uri="{FF2B5EF4-FFF2-40B4-BE49-F238E27FC236}">
                <a16:creationId xmlns:a16="http://schemas.microsoft.com/office/drawing/2014/main" id="{EDD94692-6B37-4051-B1F9-934FDE5F25A5}"/>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9" name="Chart"/>
          <p:cNvGraphicFramePr/>
          <p:nvPr/>
        </p:nvGraphicFramePr>
        <p:xfrm>
          <a:off x="723900" y="1952625"/>
          <a:ext cx="10725150" cy="35623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DC0C7ED7-973E-4DF8-907F-B31552A5B8CE}"/>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Signal = community triplicate median minus that plate’s edge-well median</a:t>
            </a:r>
            <a:r>
              <a:rPr lang="de-DE" sz="1650" b="0" dirty="0">
                <a:solidFill>
                  <a:srgbClr val="506574"/>
                </a:solidFill>
                <a:latin typeface="Helvetica Neue"/>
                <a:ea typeface="Helvetica Neue"/>
                <a:cs typeface="Helvetica Neue"/>
              </a:rPr>
              <a:t> (“medium </a:t>
            </a:r>
            <a:r>
              <a:rPr lang="de-DE" sz="1650" b="0" dirty="0" err="1">
                <a:solidFill>
                  <a:srgbClr val="506574"/>
                </a:solidFill>
                <a:latin typeface="Helvetica Neue"/>
                <a:ea typeface="Helvetica Neue"/>
                <a:cs typeface="Helvetica Neue"/>
              </a:rPr>
              <a:t>control</a:t>
            </a:r>
            <a:r>
              <a:rPr lang="de-DE" sz="1650" b="0" dirty="0">
                <a:solidFill>
                  <a:srgbClr val="506574"/>
                </a:solidFill>
                <a:latin typeface="Helvetica Neue"/>
                <a:ea typeface="Helvetica Neue"/>
                <a:cs typeface="Helvetica Neue"/>
              </a:rPr>
              <a:t>“)</a:t>
            </a:r>
            <a:r>
              <a:rPr sz="1650" b="0" dirty="0">
                <a:solidFill>
                  <a:srgbClr val="506574"/>
                </a:solidFill>
                <a:latin typeface="Helvetica Neue"/>
                <a:ea typeface="Helvetica Neue"/>
                <a:cs typeface="Helvetica Neue"/>
              </a:rPr>
              <a:t>.</a:t>
            </a:r>
          </a:p>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Max diversity supplied the four-member candidate supported by all three wells.</a:t>
            </a:r>
          </a:p>
        </p:txBody>
      </p:sp>
    </p:spTree>
    <p:extLst>
      <p:ext uri="{BB962C8B-B14F-4D97-AF65-F5344CB8AC3E}">
        <p14:creationId xmlns:p14="http://schemas.microsoft.com/office/powerpoint/2010/main" val="1592457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EC9298B3-8226-42B1-AB6E-160A921B3F2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September 11 </a:t>
            </a:r>
            <a:r>
              <a:rPr lang="de-DE" sz="3225" b="1" dirty="0" err="1">
                <a:solidFill>
                  <a:srgbClr val="172D3C"/>
                </a:solidFill>
                <a:latin typeface="Helvetica Neue"/>
                <a:ea typeface="Helvetica Neue"/>
                <a:cs typeface="Helvetica Neue"/>
              </a:rPr>
              <a:t>measurements</a:t>
            </a:r>
            <a:r>
              <a:rPr lang="de-DE" sz="3225" b="1" dirty="0">
                <a:solidFill>
                  <a:srgbClr val="172D3C"/>
                </a:solidFill>
                <a:latin typeface="Helvetica Neue"/>
                <a:ea typeface="Helvetica Neue"/>
                <a:cs typeface="Helvetica Neue"/>
              </a:rPr>
              <a:t> </a:t>
            </a:r>
            <a:r>
              <a:rPr lang="de-DE" sz="3225" b="1" dirty="0" err="1">
                <a:solidFill>
                  <a:srgbClr val="172D3C"/>
                </a:solidFill>
                <a:latin typeface="Helvetica Neue"/>
                <a:ea typeface="Helvetica Neue"/>
                <a:cs typeface="Helvetica Neue"/>
              </a:rPr>
              <a:t>are</a:t>
            </a:r>
            <a:r>
              <a:rPr sz="3225" b="1" dirty="0">
                <a:solidFill>
                  <a:srgbClr val="172D3C"/>
                </a:solidFill>
                <a:latin typeface="Helvetica Neue"/>
                <a:ea typeface="Helvetica Neue"/>
                <a:cs typeface="Helvetica Neue"/>
              </a:rPr>
              <a:t> close to the edge reference</a:t>
            </a:r>
          </a:p>
        </p:txBody>
      </p:sp>
      <p:sp>
        <p:nvSpPr>
          <p:cNvPr id="2" name="Rechteck 1">
            <a:extLst>
              <a:ext uri="{FF2B5EF4-FFF2-40B4-BE49-F238E27FC236}">
                <a16:creationId xmlns:a16="http://schemas.microsoft.com/office/drawing/2014/main" id="{6BB442A3-3FC9-47C0-AC40-8D1CFB38BB34}"/>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59E4E707-A608-4239-A4E6-B63BB9DA7B7A}"/>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Medians across 306 culture wells and 60 edge-reference wells per plate. </a:t>
            </a:r>
          </a:p>
        </p:txBody>
      </p:sp>
    </p:spTree>
    <p:extLst>
      <p:ext uri="{BB962C8B-B14F-4D97-AF65-F5344CB8AC3E}">
        <p14:creationId xmlns:p14="http://schemas.microsoft.com/office/powerpoint/2010/main" val="1809333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64E7822-EE9D-4200-8548-43D00476C9C8}"/>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Triplicate agreement was low in both rounds</a:t>
            </a:r>
          </a:p>
        </p:txBody>
      </p:sp>
      <p:sp>
        <p:nvSpPr>
          <p:cNvPr id="2" name="Rechteck 1">
            <a:extLst>
              <a:ext uri="{FF2B5EF4-FFF2-40B4-BE49-F238E27FC236}">
                <a16:creationId xmlns:a16="http://schemas.microsoft.com/office/drawing/2014/main" id="{08D030E9-149E-475C-9DAE-DC1439298740}"/>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Rechteck 2">
            <a:extLst>
              <a:ext uri="{FF2B5EF4-FFF2-40B4-BE49-F238E27FC236}">
                <a16:creationId xmlns:a16="http://schemas.microsoft.com/office/drawing/2014/main" id="{9A619A2C-0557-43C4-89D6-C7DBDA62FBEB}"/>
              </a:ext>
            </a:extLst>
          </p:cNvPr>
          <p:cNvSpPr>
            <a:spLocks noGrp="1"/>
          </p:cNvSpPr>
          <p:nvPr/>
        </p:nvSpPr>
        <p:spPr>
          <a:xfrm>
            <a:off x="723900" y="143827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dirty="0">
                <a:solidFill>
                  <a:srgbClr val="506574"/>
                </a:solidFill>
                <a:latin typeface="Helvetica Neue"/>
                <a:ea typeface="Helvetica Neue"/>
                <a:cs typeface="Helvetica Neue"/>
              </a:rPr>
              <a:t>ICC: 0 = no consistent effect, 1 = perfect replicate agreement.</a:t>
            </a:r>
          </a:p>
        </p:txBody>
      </p:sp>
      <p:graphicFrame>
        <p:nvGraphicFramePr>
          <p:cNvPr id="9" name="Chart"/>
          <p:cNvGraphicFramePr/>
          <p:nvPr/>
        </p:nvGraphicFramePr>
        <p:xfrm>
          <a:off x="723900" y="1924050"/>
          <a:ext cx="10725150" cy="36099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25FB32A0-535B-431A-BA5E-EB488A9B7CF0}"/>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4 September: EI (0.04) and random (0.08) already had very low agreement.</a:t>
            </a:r>
          </a:p>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Max diversity (0.41) and posterior mean (0.36) were higher. Latest round: 0.02–0.07.</a:t>
            </a:r>
          </a:p>
        </p:txBody>
      </p:sp>
    </p:spTree>
    <p:extLst>
      <p:ext uri="{BB962C8B-B14F-4D97-AF65-F5344CB8AC3E}">
        <p14:creationId xmlns:p14="http://schemas.microsoft.com/office/powerpoint/2010/main" val="423203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6CCB0980-8F01-4B9D-8E5D-01A8CA221A8B}"/>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Rechteck 1">
            <a:extLst>
              <a:ext uri="{FF2B5EF4-FFF2-40B4-BE49-F238E27FC236}">
                <a16:creationId xmlns:a16="http://schemas.microsoft.com/office/drawing/2014/main" id="{2664F2C7-E34D-4B8E-A91A-75774AE46C8B}"/>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sp>
        <p:nvSpPr>
          <p:cNvPr id="3" name="Rechteck 2">
            <a:extLst>
              <a:ext uri="{FF2B5EF4-FFF2-40B4-BE49-F238E27FC236}">
                <a16:creationId xmlns:a16="http://schemas.microsoft.com/office/drawing/2014/main" id="{8150857A-CF36-42C4-A23B-28942FE6524D}"/>
              </a:ext>
            </a:extLst>
          </p:cNvPr>
          <p:cNvSpPr>
            <a:spLocks noGrp="1"/>
          </p:cNvSpPr>
          <p:nvPr/>
        </p:nvSpPr>
        <p:spPr>
          <a:xfrm>
            <a:off x="704850" y="1685925"/>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Latest round</a:t>
            </a:r>
          </a:p>
        </p:txBody>
      </p:sp>
      <p:sp>
        <p:nvSpPr>
          <p:cNvPr id="4" name="Rechteck 3">
            <a:extLst>
              <a:ext uri="{FF2B5EF4-FFF2-40B4-BE49-F238E27FC236}">
                <a16:creationId xmlns:a16="http://schemas.microsoft.com/office/drawing/2014/main" id="{C1726D6A-DB30-45B6-B894-85C99F34E35E}"/>
              </a:ext>
            </a:extLst>
          </p:cNvPr>
          <p:cNvSpPr>
            <a:spLocks noGrp="1"/>
          </p:cNvSpPr>
          <p:nvPr/>
        </p:nvSpPr>
        <p:spPr>
          <a:xfrm>
            <a:off x="704850" y="217170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Identify which communities actually assembled</a:t>
            </a:r>
            <a:r>
              <a:rPr lang="de-DE" sz="1950" dirty="0">
                <a:solidFill>
                  <a:srgbClr val="506574"/>
                </a:solidFill>
                <a:latin typeface="Helvetica Neue"/>
                <a:ea typeface="Helvetica Neue"/>
                <a:cs typeface="Helvetica Neue"/>
              </a:rPr>
              <a:t> in </a:t>
            </a:r>
            <a:r>
              <a:rPr lang="de-DE" sz="1950" dirty="0" err="1">
                <a:solidFill>
                  <a:srgbClr val="506574"/>
                </a:solidFill>
                <a:latin typeface="Helvetica Neue"/>
                <a:ea typeface="Helvetica Neue"/>
                <a:cs typeface="Helvetica Neue"/>
              </a:rPr>
              <a:t>round</a:t>
            </a:r>
            <a:r>
              <a:rPr lang="de-DE" sz="1950" dirty="0">
                <a:solidFill>
                  <a:srgbClr val="506574"/>
                </a:solidFill>
                <a:latin typeface="Helvetica Neue"/>
                <a:ea typeface="Helvetica Neue"/>
                <a:cs typeface="Helvetica Neue"/>
              </a:rPr>
              <a:t> 2/3</a:t>
            </a:r>
            <a:r>
              <a:rPr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based</a:t>
            </a:r>
            <a:r>
              <a:rPr lang="de-DE" sz="1950" b="0" dirty="0">
                <a:solidFill>
                  <a:srgbClr val="506574"/>
                </a:solidFill>
                <a:latin typeface="Helvetica Neue"/>
                <a:ea typeface="Helvetica Neue"/>
                <a:cs typeface="Helvetica Neue"/>
              </a:rPr>
              <a:t> on echo </a:t>
            </a:r>
            <a:r>
              <a:rPr lang="de-DE" sz="1950" b="0" dirty="0" err="1">
                <a:solidFill>
                  <a:srgbClr val="506574"/>
                </a:solidFill>
                <a:latin typeface="Helvetica Neue"/>
                <a:ea typeface="Helvetica Neue"/>
                <a:cs typeface="Helvetica Neue"/>
              </a:rPr>
              <a:t>error</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report</a:t>
            </a:r>
            <a:r>
              <a:rPr lang="de-DE" sz="1950" b="0" dirty="0">
                <a:solidFill>
                  <a:srgbClr val="506574"/>
                </a:solidFill>
                <a:latin typeface="Helvetica Neue"/>
                <a:ea typeface="Helvetica Neue"/>
                <a:cs typeface="Helvetica Neue"/>
              </a:rPr>
              <a:t> </a:t>
            </a:r>
            <a:r>
              <a:rPr sz="1950" b="0" dirty="0">
                <a:solidFill>
                  <a:srgbClr val="506574"/>
                </a:solidFill>
                <a:latin typeface="Helvetica Neue"/>
                <a:ea typeface="Helvetica Neue"/>
                <a:cs typeface="Helvetica Neue"/>
              </a:rPr>
              <a:t>before </a:t>
            </a:r>
            <a:r>
              <a:rPr lang="de-DE" sz="1950" b="0" dirty="0" err="1">
                <a:solidFill>
                  <a:srgbClr val="506574"/>
                </a:solidFill>
                <a:latin typeface="Helvetica Neue"/>
                <a:ea typeface="Helvetica Neue"/>
                <a:cs typeface="Helvetica Neue"/>
              </a:rPr>
              <a:t>re</a:t>
            </a:r>
            <a:r>
              <a:rPr lang="de-DE" sz="1950" b="0" dirty="0">
                <a:solidFill>
                  <a:srgbClr val="506574"/>
                </a:solidFill>
                <a:latin typeface="Helvetica Neue"/>
                <a:ea typeface="Helvetica Neue"/>
                <a:cs typeface="Helvetica Neue"/>
              </a:rPr>
              <a:t>-training </a:t>
            </a:r>
            <a:r>
              <a:rPr sz="1950" b="0" dirty="0">
                <a:solidFill>
                  <a:srgbClr val="506574"/>
                </a:solidFill>
                <a:latin typeface="Helvetica Neue"/>
                <a:ea typeface="Helvetica Neue"/>
                <a:cs typeface="Helvetica Neue"/>
              </a:rPr>
              <a:t>the models.</a:t>
            </a:r>
          </a:p>
        </p:txBody>
      </p:sp>
      <p:sp>
        <p:nvSpPr>
          <p:cNvPr id="5" name="Rechteck 4">
            <a:extLst>
              <a:ext uri="{FF2B5EF4-FFF2-40B4-BE49-F238E27FC236}">
                <a16:creationId xmlns:a16="http://schemas.microsoft.com/office/drawing/2014/main" id="{CF7BB2C1-E194-4796-B510-2AAB27AAC973}"/>
              </a:ext>
            </a:extLst>
          </p:cNvPr>
          <p:cNvSpPr>
            <a:spLocks noGrp="1"/>
          </p:cNvSpPr>
          <p:nvPr/>
        </p:nvSpPr>
        <p:spPr>
          <a:xfrm>
            <a:off x="704850" y="31242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lang="de-DE" sz="2250" b="1" dirty="0">
                <a:solidFill>
                  <a:srgbClr val="172D3C"/>
                </a:solidFill>
                <a:latin typeface="Helvetica Neue"/>
                <a:ea typeface="Helvetica Neue"/>
                <a:cs typeface="Helvetica Neue"/>
              </a:rPr>
              <a:t>Community &gt; </a:t>
            </a:r>
            <a:r>
              <a:rPr lang="de-DE" sz="2250" b="1" dirty="0" err="1">
                <a:solidFill>
                  <a:srgbClr val="172D3C"/>
                </a:solidFill>
                <a:latin typeface="Helvetica Neue"/>
                <a:ea typeface="Helvetica Neue"/>
                <a:cs typeface="Helvetica Neue"/>
              </a:rPr>
              <a:t>Monocultures</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targeted</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repeat</a:t>
            </a:r>
            <a:endParaRPr sz="2250" b="1" dirty="0">
              <a:solidFill>
                <a:srgbClr val="172D3C"/>
              </a:solidFill>
              <a:latin typeface="Helvetica Neue"/>
              <a:ea typeface="Helvetica Neue"/>
              <a:cs typeface="Helvetica Neue"/>
            </a:endParaRPr>
          </a:p>
        </p:txBody>
      </p:sp>
      <p:sp>
        <p:nvSpPr>
          <p:cNvPr id="6" name="Rechteck 5">
            <a:extLst>
              <a:ext uri="{FF2B5EF4-FFF2-40B4-BE49-F238E27FC236}">
                <a16:creationId xmlns:a16="http://schemas.microsoft.com/office/drawing/2014/main" id="{01A69B6B-CA52-4E85-AF59-CAD6FA247B80}"/>
              </a:ext>
            </a:extLst>
          </p:cNvPr>
          <p:cNvSpPr>
            <a:spLocks noGrp="1"/>
          </p:cNvSpPr>
          <p:nvPr/>
        </p:nvSpPr>
        <p:spPr>
          <a:xfrm>
            <a:off x="704850" y="36099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Independently repeat the four-member candidate and its constituent monocultures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to</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confirm</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community</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effect</a:t>
            </a:r>
            <a:r>
              <a:rPr sz="1950" b="0" dirty="0">
                <a:solidFill>
                  <a:srgbClr val="506574"/>
                </a:solidFill>
                <a:latin typeface="Helvetica Neue"/>
                <a:ea typeface="Helvetica Neue"/>
                <a:cs typeface="Helvetica Neue"/>
              </a:rPr>
              <a:t>.</a:t>
            </a:r>
          </a:p>
        </p:txBody>
      </p:sp>
      <p:sp>
        <p:nvSpPr>
          <p:cNvPr id="8" name="Rechteck 7">
            <a:extLst>
              <a:ext uri="{FF2B5EF4-FFF2-40B4-BE49-F238E27FC236}">
                <a16:creationId xmlns:a16="http://schemas.microsoft.com/office/drawing/2014/main" id="{E1625B72-AA42-40B2-B5D9-F1861FE97EC4}"/>
              </a:ext>
            </a:extLst>
          </p:cNvPr>
          <p:cNvSpPr>
            <a:spLocks noGrp="1"/>
          </p:cNvSpPr>
          <p:nvPr/>
        </p:nvSpPr>
        <p:spPr>
          <a:xfrm>
            <a:off x="704850" y="504825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endParaRPr sz="19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499698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9C2C039-7A5C-467B-997B-2ADD0826AB7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Rechteck 1">
            <a:extLst>
              <a:ext uri="{FF2B5EF4-FFF2-40B4-BE49-F238E27FC236}">
                <a16:creationId xmlns:a16="http://schemas.microsoft.com/office/drawing/2014/main" id="{558138C8-3172-42B4-A30D-E094A0891337}"/>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18</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1C36E113-8366-414B-B653-98B30910A28A}"/>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17235364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3327</Words>
  <Application>Microsoft Macintosh PowerPoint</Application>
  <DocSecurity>0</DocSecurity>
  <PresentationFormat>Breitbild</PresentationFormat>
  <Paragraphs>251</Paragraphs>
  <Slides>18</Slides>
  <Notes>18</Notes>
  <HiddenSlides>1</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18</vt:i4>
      </vt:variant>
    </vt:vector>
  </HeadingPairs>
  <TitlesOfParts>
    <vt:vector size="21" baseType="lpstr">
      <vt:lpstr>Calibri</vt:lpstr>
      <vt:lpstr>Helvetica Neue</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Magnus Ohle</cp:lastModifiedBy>
  <cp:revision>14</cp:revision>
  <dcterms:created xsi:type="dcterms:W3CDTF">2026-09-14T06:23:51Z</dcterms:created>
  <dcterms:modified xsi:type="dcterms:W3CDTF">2026-09-14T07:53:43Z</dcterms:modified>
</cp:coreProperties>
</file>