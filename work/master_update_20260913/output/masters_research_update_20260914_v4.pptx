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Arbeitsblat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Arbeitsblat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Arbeitsblat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Arbeitsblat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Arbeitsblat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Arbeitsblat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Genomes with a sequence call</c:v>
          </c:tx>
          <c:spPr>
            <a:solidFill>
              <a:srgbClr val="266B9B"/>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L-LDH candidate</c:v>
                </c:pt>
                <c:pt idx="1">
                  <c:v>D-LDH candidate</c:v>
                </c:pt>
                <c:pt idx="2">
                  <c:v>Lactate oxidation
LLDD class</c:v>
                </c:pt>
              </c:strCache>
            </c:strRef>
          </c:cat>
          <c:val>
            <c:numRef>
              <c:f>'Chart Data'!$B$2:$B$4</c:f>
              <c:numCache>
                <c:formatCode>0</c:formatCode>
                <c:ptCount val="3"/>
                <c:pt idx="0">
                  <c:v>147</c:v>
                </c:pt>
                <c:pt idx="1">
                  <c:v>206</c:v>
                </c:pt>
                <c:pt idx="2">
                  <c:v>352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EF2-0444-91B4-6A2078C79B01}"/>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400"/>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Genomes, out of 384</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Technical well 1</c:v>
          </c:tx>
          <c:spPr>
            <a:solidFill>
              <a:srgbClr val="266B9B"/>
            </a:solidFill>
          </c:spPr>
          <c:invertIfNegative val="1"/>
          <c:cat>
            <c:strRef>
              <c:f>'Chart Data'!$A$2:$A$6</c:f>
              <c:strCache>
                <c:ptCount val="5"/>
                <c:pt idx="0">
                  <c:v>294</c:v>
                </c:pt>
                <c:pt idx="1">
                  <c:v>196</c:v>
                </c:pt>
                <c:pt idx="2">
                  <c:v>291</c:v>
                </c:pt>
                <c:pt idx="3">
                  <c:v>264</c:v>
                </c:pt>
                <c:pt idx="4">
                  <c:v>4-member
community</c:v>
                </c:pt>
              </c:strCache>
            </c:strRef>
          </c:cat>
          <c:val>
            <c:numRef>
              <c:f>'Chart Data'!$B$2:$B$6</c:f>
              <c:numCache>
                <c:formatCode>0.00</c:formatCode>
                <c:ptCount val="5"/>
                <c:pt idx="0">
                  <c:v>0.19600000000000001</c:v>
                </c:pt>
                <c:pt idx="1">
                  <c:v>0.09</c:v>
                </c:pt>
                <c:pt idx="2">
                  <c:v>8.7999999999999995E-2</c:v>
                </c:pt>
                <c:pt idx="3">
                  <c:v>9.9000000000000005E-2</c:v>
                </c:pt>
                <c:pt idx="4">
                  <c:v>0.52900000000000003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C2F-4948-AA11-151675205D0D}"/>
            </c:ext>
          </c:extLst>
        </c:ser>
        <c:ser>
          <c:idx val="1"/>
          <c:order val="1"/>
          <c:tx>
            <c:v>Technical well 2</c:v>
          </c:tx>
          <c:spPr>
            <a:solidFill>
              <a:srgbClr val="398271"/>
            </a:solidFill>
          </c:spPr>
          <c:invertIfNegative val="1"/>
          <c:cat>
            <c:strRef>
              <c:f>'Chart Data'!$C$2:$C$6</c:f>
              <c:strCache>
                <c:ptCount val="5"/>
                <c:pt idx="0">
                  <c:v>294</c:v>
                </c:pt>
                <c:pt idx="1">
                  <c:v>196</c:v>
                </c:pt>
                <c:pt idx="2">
                  <c:v>291</c:v>
                </c:pt>
                <c:pt idx="3">
                  <c:v>264</c:v>
                </c:pt>
                <c:pt idx="4">
                  <c:v>4-member
community</c:v>
                </c:pt>
              </c:strCache>
            </c:strRef>
          </c:cat>
          <c:val>
            <c:numRef>
              <c:f>'Chart Data'!$D$2:$D$6</c:f>
              <c:numCache>
                <c:formatCode>0.00</c:formatCode>
                <c:ptCount val="5"/>
                <c:pt idx="0">
                  <c:v>0.13300000000000001</c:v>
                </c:pt>
                <c:pt idx="1">
                  <c:v>0.09</c:v>
                </c:pt>
                <c:pt idx="2">
                  <c:v>0.10199999999999999</c:v>
                </c:pt>
                <c:pt idx="3">
                  <c:v>0.14399999999999999</c:v>
                </c:pt>
                <c:pt idx="4">
                  <c:v>0.57299999999999995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C2F-4948-AA11-151675205D0D}"/>
            </c:ext>
          </c:extLst>
        </c:ser>
        <c:ser>
          <c:idx val="2"/>
          <c:order val="2"/>
          <c:tx>
            <c:v>Technical well 3</c:v>
          </c:tx>
          <c:spPr>
            <a:solidFill>
              <a:srgbClr val="B77B28"/>
            </a:solidFill>
          </c:spPr>
          <c:invertIfNegative val="1"/>
          <c:cat>
            <c:strRef>
              <c:f>'Chart Data'!$E$2:$E$6</c:f>
              <c:strCache>
                <c:ptCount val="5"/>
                <c:pt idx="0">
                  <c:v>294</c:v>
                </c:pt>
                <c:pt idx="1">
                  <c:v>196</c:v>
                </c:pt>
                <c:pt idx="2">
                  <c:v>291</c:v>
                </c:pt>
                <c:pt idx="3">
                  <c:v>264</c:v>
                </c:pt>
                <c:pt idx="4">
                  <c:v>4-member
community</c:v>
                </c:pt>
              </c:strCache>
            </c:strRef>
          </c:cat>
          <c:val>
            <c:numRef>
              <c:f>'Chart Data'!$F$2:$F$6</c:f>
              <c:numCache>
                <c:formatCode>0.00</c:formatCode>
                <c:ptCount val="5"/>
                <c:pt idx="0">
                  <c:v>0.25800000000000001</c:v>
                </c:pt>
                <c:pt idx="1">
                  <c:v>9.6000000000000002E-2</c:v>
                </c:pt>
                <c:pt idx="2">
                  <c:v>9.9000000000000005E-2</c:v>
                </c:pt>
                <c:pt idx="3">
                  <c:v>0.19</c:v>
                </c:pt>
                <c:pt idx="4">
                  <c:v>0.77700000000000002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C2F-4948-AA11-151675205D0D}"/>
            </c:ext>
          </c:extLst>
        </c:ser>
        <c:dLbls>
          <c:showLegendKey val="0"/>
          <c:showVal val="0"/>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85"/>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Spearman rank correlation</c:v>
          </c:tx>
          <c:spPr>
            <a:solidFill>
              <a:srgbClr val="266B9B"/>
            </a:solidFill>
          </c:spPr>
          <c:invertIfNegative val="0"/>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EI batch</c:v>
                </c:pt>
                <c:pt idx="1">
                  <c:v>Posterior-mean batch</c:v>
                </c:pt>
                <c:pt idx="2">
                  <c:v>Random batch</c:v>
                </c:pt>
              </c:strCache>
            </c:strRef>
          </c:cat>
          <c:val>
            <c:numRef>
              <c:f>'Chart Data'!$B$2:$B$4</c:f>
              <c:numCache>
                <c:formatCode>0.00</c:formatCode>
                <c:ptCount val="3"/>
                <c:pt idx="0">
                  <c:v>-0.13100000000000001</c:v>
                </c:pt>
                <c:pt idx="1">
                  <c:v>-0.13</c:v>
                </c:pt>
                <c:pt idx="2">
                  <c:v>0.14599999999999999</c:v>
                </c:pt>
              </c:numCache>
            </c:numRef>
          </c:val>
          <c:extLst>
            <c:ext xmlns:c16="http://schemas.microsoft.com/office/drawing/2014/chart" uri="{C3380CC4-5D6E-409C-BE32-E72D297353CC}">
              <c16:uniqueId val="{00000000-71BB-7449-A296-48855B9D2F39}"/>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1"/>
          <c:min val="-1"/>
        </c:scaling>
        <c:delete val="0"/>
        <c:axPos val="l"/>
        <c:majorGridlines>
          <c:spPr>
            <a:ln w="9525">
              <a:solidFill>
                <a:srgbClr val="E8EDF0"/>
              </a:solidFill>
            </a:ln>
          </c:spPr>
        </c:majorGridlines>
        <c:title>
          <c:tx>
            <c:rich>
              <a:bodyPr/>
              <a:lstStyle/>
              <a:p>
                <a:r>
                  <a:rPr lang="de-DE" dirty="0">
                    <a:latin typeface="Helvetica Neue"/>
                    <a:ea typeface="Helvetica Neue"/>
                    <a:cs typeface="Helvetica Neue"/>
                  </a:rPr>
                  <a:t>Rank </a:t>
                </a:r>
                <a:r>
                  <a:rPr lang="de-DE" dirty="0" err="1">
                    <a:latin typeface="Helvetica Neue"/>
                    <a:ea typeface="Helvetica Neue"/>
                    <a:cs typeface="Helvetica Neue"/>
                  </a:rPr>
                  <a:t>agreement</a:t>
                </a:r>
                <a:r>
                  <a:rPr lang="de-DE" dirty="0">
                    <a:latin typeface="Helvetica Neue"/>
                    <a:ea typeface="Helvetica Neue"/>
                    <a:cs typeface="Helvetica Neue"/>
                  </a:rPr>
                  <a:t> (Spearman)</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Culture wells</c:v>
          </c:tx>
          <c:spPr>
            <a:solidFill>
              <a:srgbClr val="266B9B"/>
            </a:solidFill>
          </c:spPr>
          <c:invertIfNegative val="1"/>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0.107</c:v>
                </c:pt>
                <c:pt idx="1">
                  <c:v>0.10100000000000001</c:v>
                </c:pt>
                <c:pt idx="2">
                  <c:v>9.8000000000000004E-2</c:v>
                </c:pt>
                <c:pt idx="3">
                  <c:v>9.4E-2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79C-694A-B48C-0F7DC41E2846}"/>
            </c:ext>
          </c:extLst>
        </c:ser>
        <c:ser>
          <c:idx val="1"/>
          <c:order val="1"/>
          <c:tx>
            <c:v>Edge reference, excluding column 1</c:v>
          </c:tx>
          <c:spPr>
            <a:solidFill>
              <a:srgbClr val="A3AFB7"/>
            </a:solidFill>
          </c:spPr>
          <c:invertIfNegative val="1"/>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0.107</c:v>
                </c:pt>
                <c:pt idx="1">
                  <c:v>0.10050000000000001</c:v>
                </c:pt>
                <c:pt idx="2">
                  <c:v>9.7000000000000003E-2</c:v>
                </c:pt>
                <c:pt idx="3">
                  <c:v>9.8500000000000004E-2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79C-694A-B48C-0F7DC41E2846}"/>
            </c:ext>
          </c:extLst>
        </c:ser>
        <c:dLbls>
          <c:showLegendKey val="0"/>
          <c:showVal val="0"/>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15"/>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Median 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4 September</c:v>
          </c:tx>
          <c:spPr>
            <a:solidFill>
              <a:srgbClr val="266B9B"/>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4.1965000000000002E-2</c:v>
                </c:pt>
                <c:pt idx="1">
                  <c:v>0.40843800000000002</c:v>
                </c:pt>
                <c:pt idx="2">
                  <c:v>0.35917399999999999</c:v>
                </c:pt>
                <c:pt idx="3">
                  <c:v>8.1067E-2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D62-A349-BF23-F1788C6B2A58}"/>
            </c:ext>
          </c:extLst>
        </c:ser>
        <c:ser>
          <c:idx val="1"/>
          <c:order val="1"/>
          <c:tx>
            <c:v>11 September</c:v>
          </c:tx>
          <c:spPr>
            <a:solidFill>
              <a:srgbClr val="B77B28"/>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1.5601E-2</c:v>
                </c:pt>
                <c:pt idx="1">
                  <c:v>7.3463000000000001E-2</c:v>
                </c:pt>
                <c:pt idx="2">
                  <c:v>3.6826999999999999E-2</c:v>
                </c:pt>
                <c:pt idx="3">
                  <c:v>3.9939000000000002E-2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D62-A349-BF23-F1788C6B2A58}"/>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Replicate agreement (ICC, unitless)</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lineChart>
        <c:grouping val="standard"/>
        <c:varyColors val="0"/>
        <c:ser>
          <c:idx val="0"/>
          <c:order val="0"/>
          <c:tx>
            <c:v>Plate 1</c:v>
          </c:tx>
          <c:spPr>
            <a:ln w="28575">
              <a:solidFill>
                <a:srgbClr val="266B9B"/>
              </a:solidFill>
            </a:ln>
          </c:spPr>
          <c:marker>
            <c:symbol val="circle"/>
            <c:size val="5"/>
            <c:spPr>
              <a:solidFill>
                <a:srgbClr val="266B9B"/>
              </a:solidFill>
            </c:spPr>
          </c:marker>
          <c:cat>
            <c:numRef>
              <c:f>'Chart Data'!$A$2:$A$9</c:f>
              <c:numCache>
                <c:formatCode>General</c:formatCode>
                <c:ptCount val="8"/>
                <c:pt idx="0">
                  <c:v>12</c:v>
                </c:pt>
                <c:pt idx="1">
                  <c:v>6</c:v>
                </c:pt>
                <c:pt idx="2">
                  <c:v>3</c:v>
                </c:pt>
                <c:pt idx="3">
                  <c:v>1.5</c:v>
                </c:pt>
                <c:pt idx="4">
                  <c:v>0.75</c:v>
                </c:pt>
                <c:pt idx="5">
                  <c:v>0.375</c:v>
                </c:pt>
                <c:pt idx="6">
                  <c:v>0.1875</c:v>
                </c:pt>
                <c:pt idx="7">
                  <c:v>9.375E-2</c:v>
                </c:pt>
              </c:numCache>
            </c:numRef>
          </c:cat>
          <c:val>
            <c:numRef>
              <c:f>'Chart Data'!$B$2:$B$9</c:f>
              <c:numCache>
                <c:formatCode>0.00</c:formatCode>
                <c:ptCount val="8"/>
                <c:pt idx="0">
                  <c:v>0.17599999999999999</c:v>
                </c:pt>
                <c:pt idx="1">
                  <c:v>0.13700000000000001</c:v>
                </c:pt>
                <c:pt idx="2">
                  <c:v>0.113</c:v>
                </c:pt>
                <c:pt idx="3">
                  <c:v>9.8000000000000004E-2</c:v>
                </c:pt>
                <c:pt idx="4">
                  <c:v>9.9000000000000005E-2</c:v>
                </c:pt>
                <c:pt idx="5">
                  <c:v>9.6000000000000002E-2</c:v>
                </c:pt>
                <c:pt idx="6">
                  <c:v>9.7000000000000003E-2</c:v>
                </c:pt>
                <c:pt idx="7">
                  <c:v>9.6000000000000002E-2</c:v>
                </c:pt>
              </c:numCache>
            </c:numRef>
          </c:val>
          <c:smooth val="0"/>
          <c:extLst>
            <c:ext xmlns:c16="http://schemas.microsoft.com/office/drawing/2014/chart" uri="{C3380CC4-5D6E-409C-BE32-E72D297353CC}">
              <c16:uniqueId val="{00000000-918B-AA47-B91A-5E686AEF2D33}"/>
            </c:ext>
          </c:extLst>
        </c:ser>
        <c:ser>
          <c:idx val="1"/>
          <c:order val="1"/>
          <c:tx>
            <c:v>Plate 2</c:v>
          </c:tx>
          <c:spPr>
            <a:ln w="28575">
              <a:solidFill>
                <a:srgbClr val="B77B28"/>
              </a:solidFill>
            </a:ln>
          </c:spPr>
          <c:marker>
            <c:symbol val="circle"/>
            <c:size val="5"/>
            <c:spPr>
              <a:solidFill>
                <a:srgbClr val="B77B28"/>
              </a:solidFill>
            </c:spPr>
          </c:marker>
          <c:cat>
            <c:numRef>
              <c:f>'Chart Data'!$C$2:$C$9</c:f>
              <c:numCache>
                <c:formatCode>General</c:formatCode>
                <c:ptCount val="8"/>
                <c:pt idx="0">
                  <c:v>12</c:v>
                </c:pt>
                <c:pt idx="1">
                  <c:v>6</c:v>
                </c:pt>
                <c:pt idx="2">
                  <c:v>3</c:v>
                </c:pt>
                <c:pt idx="3">
                  <c:v>1.5</c:v>
                </c:pt>
                <c:pt idx="4">
                  <c:v>0.75</c:v>
                </c:pt>
                <c:pt idx="5">
                  <c:v>0.375</c:v>
                </c:pt>
                <c:pt idx="6">
                  <c:v>0.1875</c:v>
                </c:pt>
                <c:pt idx="7">
                  <c:v>9.375E-2</c:v>
                </c:pt>
              </c:numCache>
            </c:numRef>
          </c:cat>
          <c:val>
            <c:numRef>
              <c:f>'Chart Data'!$D$2:$D$9</c:f>
              <c:numCache>
                <c:formatCode>0.00</c:formatCode>
                <c:ptCount val="8"/>
                <c:pt idx="0">
                  <c:v>0.14099999999999999</c:v>
                </c:pt>
                <c:pt idx="1">
                  <c:v>0.13800000000000001</c:v>
                </c:pt>
                <c:pt idx="2">
                  <c:v>0.108</c:v>
                </c:pt>
                <c:pt idx="3">
                  <c:v>0.104</c:v>
                </c:pt>
                <c:pt idx="4">
                  <c:v>9.9000000000000005E-2</c:v>
                </c:pt>
                <c:pt idx="5">
                  <c:v>9.1999999999999998E-2</c:v>
                </c:pt>
                <c:pt idx="6">
                  <c:v>8.5999999999999993E-2</c:v>
                </c:pt>
                <c:pt idx="7">
                  <c:v>9.1999999999999998E-2</c:v>
                </c:pt>
              </c:numCache>
            </c:numRef>
          </c:val>
          <c:smooth val="0"/>
          <c:extLst>
            <c:ext xmlns:c16="http://schemas.microsoft.com/office/drawing/2014/chart" uri="{C3380CC4-5D6E-409C-BE32-E72D297353CC}">
              <c16:uniqueId val="{00000001-918B-AA47-B91A-5E686AEF2D33}"/>
            </c:ext>
          </c:extLst>
        </c:ser>
        <c:ser>
          <c:idx val="2"/>
          <c:order val="2"/>
          <c:tx>
            <c:v>Plate 3</c:v>
          </c:tx>
          <c:spPr>
            <a:ln w="28575">
              <a:solidFill>
                <a:srgbClr val="8063A9"/>
              </a:solidFill>
            </a:ln>
          </c:spPr>
          <c:marker>
            <c:symbol val="circle"/>
            <c:size val="5"/>
            <c:spPr>
              <a:solidFill>
                <a:srgbClr val="8063A9"/>
              </a:solidFill>
            </c:spPr>
          </c:marker>
          <c:cat>
            <c:numRef>
              <c:f>'Chart Data'!$E$2:$E$9</c:f>
              <c:numCache>
                <c:formatCode>General</c:formatCode>
                <c:ptCount val="8"/>
                <c:pt idx="0">
                  <c:v>12</c:v>
                </c:pt>
                <c:pt idx="1">
                  <c:v>6</c:v>
                </c:pt>
                <c:pt idx="2">
                  <c:v>3</c:v>
                </c:pt>
                <c:pt idx="3">
                  <c:v>1.5</c:v>
                </c:pt>
                <c:pt idx="4">
                  <c:v>0.75</c:v>
                </c:pt>
                <c:pt idx="5">
                  <c:v>0.375</c:v>
                </c:pt>
                <c:pt idx="6">
                  <c:v>0.1875</c:v>
                </c:pt>
                <c:pt idx="7">
                  <c:v>9.375E-2</c:v>
                </c:pt>
              </c:numCache>
            </c:numRef>
          </c:cat>
          <c:val>
            <c:numRef>
              <c:f>'Chart Data'!$F$2:$F$9</c:f>
              <c:numCache>
                <c:formatCode>0.00</c:formatCode>
                <c:ptCount val="8"/>
                <c:pt idx="0">
                  <c:v>0.14699999999999999</c:v>
                </c:pt>
                <c:pt idx="1">
                  <c:v>0.13300000000000001</c:v>
                </c:pt>
                <c:pt idx="2">
                  <c:v>0.10299999999999999</c:v>
                </c:pt>
                <c:pt idx="3">
                  <c:v>0.1</c:v>
                </c:pt>
                <c:pt idx="4">
                  <c:v>9.1999999999999998E-2</c:v>
                </c:pt>
                <c:pt idx="5">
                  <c:v>8.3000000000000004E-2</c:v>
                </c:pt>
                <c:pt idx="6">
                  <c:v>8.5000000000000006E-2</c:v>
                </c:pt>
                <c:pt idx="7">
                  <c:v>0.11799999999999999</c:v>
                </c:pt>
              </c:numCache>
            </c:numRef>
          </c:val>
          <c:smooth val="0"/>
          <c:extLst>
            <c:ext xmlns:c16="http://schemas.microsoft.com/office/drawing/2014/chart" uri="{C3380CC4-5D6E-409C-BE32-E72D297353CC}">
              <c16:uniqueId val="{00000002-918B-AA47-B91A-5E686AEF2D33}"/>
            </c:ext>
          </c:extLst>
        </c:ser>
        <c:ser>
          <c:idx val="3"/>
          <c:order val="3"/>
          <c:tx>
            <c:v>Plate 4</c:v>
          </c:tx>
          <c:spPr>
            <a:ln w="28575">
              <a:solidFill>
                <a:srgbClr val="398271"/>
              </a:solidFill>
            </a:ln>
          </c:spPr>
          <c:marker>
            <c:symbol val="circle"/>
            <c:size val="5"/>
            <c:spPr>
              <a:solidFill>
                <a:srgbClr val="398271"/>
              </a:solidFill>
            </c:spPr>
          </c:marker>
          <c:cat>
            <c:numRef>
              <c:f>'Chart Data'!$G$2:$G$9</c:f>
              <c:numCache>
                <c:formatCode>General</c:formatCode>
                <c:ptCount val="8"/>
                <c:pt idx="0">
                  <c:v>12</c:v>
                </c:pt>
                <c:pt idx="1">
                  <c:v>6</c:v>
                </c:pt>
                <c:pt idx="2">
                  <c:v>3</c:v>
                </c:pt>
                <c:pt idx="3">
                  <c:v>1.5</c:v>
                </c:pt>
                <c:pt idx="4">
                  <c:v>0.75</c:v>
                </c:pt>
                <c:pt idx="5">
                  <c:v>0.375</c:v>
                </c:pt>
                <c:pt idx="6">
                  <c:v>0.1875</c:v>
                </c:pt>
                <c:pt idx="7">
                  <c:v>9.375E-2</c:v>
                </c:pt>
              </c:numCache>
            </c:numRef>
          </c:cat>
          <c:val>
            <c:numRef>
              <c:f>'Chart Data'!$H$2:$H$9</c:f>
              <c:numCache>
                <c:formatCode>0.00</c:formatCode>
                <c:ptCount val="8"/>
                <c:pt idx="0">
                  <c:v>0.14199999999999999</c:v>
                </c:pt>
                <c:pt idx="1">
                  <c:v>0.12</c:v>
                </c:pt>
                <c:pt idx="2">
                  <c:v>0.1</c:v>
                </c:pt>
                <c:pt idx="3">
                  <c:v>8.8999999999999996E-2</c:v>
                </c:pt>
                <c:pt idx="4">
                  <c:v>8.8999999999999996E-2</c:v>
                </c:pt>
                <c:pt idx="5">
                  <c:v>0.08</c:v>
                </c:pt>
                <c:pt idx="6">
                  <c:v>8.2000000000000003E-2</c:v>
                </c:pt>
                <c:pt idx="7">
                  <c:v>8.5999999999999993E-2</c:v>
                </c:pt>
              </c:numCache>
            </c:numRef>
          </c:val>
          <c:smooth val="0"/>
          <c:extLst>
            <c:ext xmlns:c16="http://schemas.microsoft.com/office/drawing/2014/chart" uri="{C3380CC4-5D6E-409C-BE32-E72D297353CC}">
              <c16:uniqueId val="{00000003-918B-AA47-B91A-5E686AEF2D33}"/>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2"/>
          <c:min val="0.05"/>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a:t>
            </a:r>
          </a:p>
          <a:p>
            <a:r>
              <a:t>A progress talk for a lab group or supervisors, assumed English. Aim for approximately 24 minutes plus 6 minutes discussion. The project asks whether community composition can help identify cultures with higher L-lactate assay signal on crude-glycerol medium. Distinguish intended designs, completed measurements and validated biological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Explain the question before the tools. The endpoint is extracellular L-lactate accumulation. This assay alone does not prove that the product carbon came from glycerol. The community question concerns measured net accumulation, which can reflect production and consumption. Do not claim a demonstrated exchange mechanism.</a:t>
            </a:r>
          </a:p>
          <a:p>
            <a:endParaRPr/>
          </a:p>
          <a:p>
            <a:r>
              <a:t>Sources, relative to glycerol_lactate_community/: docs/PROJECT_BRIEF.md; protocols/SOP — Community Assembly and Crude-Glycerol Fermentation Screen.md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384 genome records form the screening cohort. Counts of genomes with different enzyme classes overlap. These are sequence-derived calls, not fermentation measurements. The broad annotation screen and the dedicated LDH adjudication are distinct analyses.</a:t>
            </a:r>
          </a:p>
          <a:p>
            <a:endParaRPr/>
          </a:p>
          <a:p>
            <a:r>
              <a:t>Sources, relative to glycerol_lactate_community/: results/screening/genome_scores.tsv; results/screening/ldh_adjudication.tsv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A generic LDH annotation cannot establish L-lactate production. The sequence review distinguishes L-LDH from D-LDH and lactate-consuming enzymes, and considers racemase systems. The current v5 panel does not exclude strains merely for lactate oxidase or modeled lactate consumption. Strain 275 maps to P3_C3, Lactococcus lactis, whose panel rationale explicitly retains a predicted lctO. Strain 294, P3_G8, is also retained despite oxidation-related concerns. These calls indicate potential, not measured activity.</a:t>
            </a:r>
          </a:p>
          <a:p>
            <a:endParaRPr/>
          </a:p>
          <a:p>
            <a:r>
              <a:t>Sources, relative to glycerol_lactate_community/: results/screening/genome_scores.tsv; results/screening/ldh_adjudication.tsv; panel/pool_v5_panel.yaml; protocols/Strain Identity and Lab Mapping.md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The curated panel contains fourteen intended producers plus two held strains. These are project labels, not proof of production. One of the fourteen has no resolved physical mapping, leaving thirteen resolved strains. Strain 296 had zero OD in rounds two and three, leaving twelve active species. Keep this distinction explicit instead of pretending all panels are identical.</a:t>
            </a:r>
          </a:p>
          <a:p>
            <a:endParaRPr/>
          </a:p>
          <a:p>
            <a:r>
              <a:t>Sources, relative to glycerol_lactate_community/: panel/pool_v5_panel.yaml; protocols/Strain Identity and Lab Mapping.md; protocols/echo/experiment_setup.ipynb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About two minutes on methods, without reagent-shopping detail. 384-well plates, 306 culture wells and technical triplicates. Edge wells do not receive bacterial transfers. Target 0.100 OD600 microlitre per species, with measured source OD and 25 nL rounding. Media prefill is 50 microlitres. Therefore starting total biomass increases with richness. Assay uses LDH with NAD and an INT color readout, according to the project SOP. Reader export does not independently record wavelength or executed method details.</a:t>
            </a:r>
          </a:p>
          <a:p>
            <a:endParaRPr/>
          </a:p>
          <a:p>
            <a:r>
              <a:t>Sources, relative to glycerol_lactate_community/: protocols/SOP — Colorimetric L-Lactate Assay for Bacterial Supernatants.md; protocols/echo/experiment_setup.ipynb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endParaRPr/>
          </a:p>
          <a:p>
            <a:r>
              <a:t>The user describes the experiment as aerobic. This means incubation with oxygen exposure, not a measured dissolved-oxygen setpoint. The SOP specifies sealed 384-well plates and a fixed 48 h endpoint. It leaves shaking to the recorded campaign setting, so no rpm is invented here. Glycerol is more reduced than lactate. In a GlpK/GlpD route, oxygen accepts surplus electrons through respiration while LDH reduces pyruvate to lactate. Mazumdar et al. demonstrate this coupling in engineered E. coli producing D-lactate, a mechanistic precedent rather than evidence for production by this natural L-lactate panel. Excess oxygen can also favor respiration or lactate consumption. The 48 h rationale is to allow slow cultures to develop and include potential stationary-phase accumulation. The current data do not establish when each community reaches stationary phase or when lactate production peaks. The SOP explicitly calls for endpoint validation. Older planning documents assumed low oxygen and later revised timepoint plans. Those assumptions are not measurements of these plates.</a:t>
            </a:r>
          </a:p>
          <a:p>
            <a:endParaRPr/>
          </a:p>
          <a:p>
            <a:r>
              <a:t>Sources, relative to glycerol_lactate_community/: protocols/SOP — Community Assembly and Crude-Glycerol Fermentation Screen.md, section 8; results/lactate_biology/OVERFLOW_TRIGGERS.md, H1; https://doi.org/10.1128/AEM.00664-10; user incubation rationale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Across nine plate designs there are 918 run/composition observations and 2754 assigned culture wells. There are 864 distinct intended compositions: 456 across the first two rounds, plus 408 new in the latest round. Do not describe all as successfully assembled. The latest warnings prevent that claim. Dates refer to reader measurements rather than setup date.</a:t>
            </a:r>
          </a:p>
          <a:p>
            <a:endParaRPr/>
          </a:p>
          <a:p>
            <a:r>
              <a:t>Sources, relative to glycerol_lactate_community/: protocols/echo/experiment_setup_output; current analysis source hashes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endParaRPr/>
          </a:p>
          <a:p>
            <a:r>
              <a:t>Each of the three community readings exceeds every reading of each constituent monoculture on the same plate. Pairwise sample labels do not imply matched independent biological replicates. Strain identities: 294 is Rhodococcus erythropolis, 196 is Paenibacillus amylolyticus, 291 is Paenibacillus odorifer, and 264 is Pseudomonas sp. These are sequence-derived labels linked to physical stocks through the mapping document.</a:t>
            </a:r>
          </a:p>
          <a:p>
            <a:endParaRPr/>
          </a:p>
          <a:p>
            <a:r>
              <a:t>Sources, relative to glycerol_lactate_community/: protocols/echo/readout/04-09/analysis_20260908/findings.md; ordinary reader CSVs in protocols/echo/readout/04-09; original plate-2 ordinary CSV and community design; protocols/Strain Identity and Lab Mapping.md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Be direct about what makes the candidate useful and what remains unproven. Same-plate comparison avoids a between-plate offset. More species means more starting total biomass under the chosen dosing protocol. No independent repeat or carbon-source attribution is demonstrated. These limitations lead to a focused validation experiment, not abandonment of the project.</a:t>
            </a:r>
          </a:p>
          <a:p>
            <a:endParaRPr/>
          </a:p>
          <a:p>
            <a:r>
              <a:t>Sources, relative to glycerol_lactate_community/: protocols/echo/readout/04-09/analysis_20260908/findings.md; ordinary reader CSVs in protocols/echo/readout/04-09; docs/PROJECT_BRIEF.md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Explain EI as expected improvement, which combines a predicted response and model uncertainty. Posterior mean chooses high predicted response without that uncertainty bonus. Random and max diversity serve different baselines. These are independent training paths but not independent plate-level experiments: one plate per path. Deduplication priority can displace candidates, so the realized batches differ from unconstrained policies.</a:t>
            </a:r>
          </a:p>
          <a:p>
            <a:endParaRPr/>
          </a:p>
          <a:p>
            <a:r>
              <a:t>Sources, relative to glycerol_lactate_community/: protocols/echo/acquisition_round_20260909.py; snapshot 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The two models share both max-diversity histories. EI additionally sees only its own previous acquisitions. The posterior-mean model additionally sees only its previous acquisitions. Random outcomes do not train either model. Run-level measurements remain stored; repeats enter model fitting as a median response per composition. Each model has 306 run-level observations covering 252 unique compositions. Median-centering removes each plate typical signal and is not a calibration.</a:t>
            </a:r>
          </a:p>
          <a:p>
            <a:endParaRPr/>
          </a:p>
          <a:p>
            <a:r>
              <a:t>Sources, relative to glycerol_lactate_community/: protocols/echo/acquisition_round_20260909.py; snapshot training lineage and model_summary.csv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Prospective means predictions saved before the measurements existed: predictions saved on 2 September, ordinary readout on 4 September. For each batch, sort communities by predicted response and separately by observed response, then compare the rankings with Spearman correlation. Plus one is identical order, zero is no monotonic agreement, minus one is reversed order. The values are -0.131, -0.130 and +0.146. They show little ranking agreement in the selected batches. This is not percent accuracy, a lactate concentration, or a comparison of average batch performance. EI and posterior-mean batches deliberately cover selected parts of the prediction range. These within-batch correlations alone cannot establish model performance over the full community space or whether an acquisition policy beats random sampling. One plate per path also confounds strategy and plate effects.</a:t>
            </a:r>
          </a:p>
          <a:p>
            <a:endParaRPr/>
          </a:p>
          <a:p>
            <a:r>
              <a:t>Sources, relative to glycerol_lactate_community/: protocols/echo/readout/04-09/analysis_20260908/findings.md; ordinary reader CSVs in protocols/echo/readout/04-09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These are raw culture-well and edge medians for the latest ordinary reads. Exclude all column-1 wells because standards were added there. The user confirmed a 12 mM starting standard in A1, halving down each row. Blank identities and standard/sample assay dilution equivalence remain unconfirmed. The edge reference is descriptive until contents are confirmed. The visual difference is small, but single-well peaks occur. Those peaks alone do not establish candidates.</a:t>
            </a:r>
          </a:p>
          <a:p>
            <a:endParaRPr/>
          </a:p>
          <a:p>
            <a:r>
              <a:t>Sources, relative to glycerol_lactate_community/: protocols/echo/readout/11-09, four CSVs. Plate ID from ID1 metadata. Designs from 20260909T220918_350704Z/12strains.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Each community has three intended technical wells. ICC(1,1), a one-way random-effects intraclass correlation for individual wells, compares between-community variance with within-community variance. Zero means no consistent separation by community identity. One means perfect agreement of replicate wells with differences between communities. ICC is dimensionless, not absorbance, concentration, or percent correctly assembled. It can have a negative sample estimate, although all values here are positive. September 11 values are 0.016, 0.073, 0.037 and 0.040. On September 4 the max-diversity and posterior-mean panels show more agreement. Different compositions and signal ranges across rounds limit this comparison. Incomplete assembly due to the source-volume calculation error is a known problem in the latest round. ICC cannot identify failed transfers or establish the sole cause of low agreement.</a:t>
            </a:r>
          </a:p>
          <a:p>
            <a:endParaRPr/>
          </a:p>
          <a:p>
            <a:r>
              <a:t>Sources, relative to glycerol_lactate_community/: protocols/echo/readout/11-09, four CSVs. Plate ID from ID1 metadata. Designs from 20260909T220918_350704Z/12strains.; protocols/echo/readout/04-09/analysis_20260908/findings.md; ordinary reader CSVs in protocols/echo/readout/04-09; work/master_update_20260913/analyze.py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 minutes.</a:t>
            </a:r>
          </a:p>
          <a:p>
            <a:endParaRPr/>
          </a:p>
          <a:p>
            <a:r>
              <a:t>Allow about six minutes. Invite discussion around what will best separate assembly reliability, assay behavior and community function. Do not use the failed round as a low-value label by default. An independent validation of the earlier four-member candidate and constituent monocultures is more interpretable than immediately adding another uncertain acquisition plate. Present this as a proposed priority, not an executed experiment.</a:t>
            </a:r>
          </a:p>
          <a:p>
            <a:endParaRPr/>
          </a:p>
          <a:p>
            <a:r>
              <a:t>Sources, relative to glycerol_lactate_community/: protocols/echo/readout/11-09, four CSVs. Plate ID from ID1 metadata. Designs from 20260909T220918_350704Z/12strains.; protocols/echo/readout/04-09/analysis_20260908/findings.md; ordinary reader CSVs in protocols/echo/readout/04-09; docs/PROJECT_BRIEF.md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 minutes.</a:t>
            </a:r>
          </a:p>
          <a:p>
            <a:endParaRPr/>
          </a:p>
          <a:p>
            <a:r>
              <a:t>User-confirmed standards start at 12 mM in A1 and halve in every successive row. Show the first eight levels, equally spaced by dilution step rather than by linear concentration. Lower levels approach the background and can be affected by row position. These standards show assay response, but do not identify failed communities. No zero standard or sample-dilution equivalence has been specified, so concentrations for cultures are not reported.</a:t>
            </a:r>
          </a:p>
          <a:p>
            <a:endParaRPr/>
          </a:p>
          <a:p>
            <a:r>
              <a:t>Sources, relative to glycerol_lactate_community/: protocols/echo/readout/11-09, four CSVs. Plate ID from ID1 metadata. Designs from 20260909T220918_350704Z/12strains.; user-confirmed standard concentrations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74BDB50-75C6-4EC2-8623-F5A0C7AB2619}"/>
              </a:ext>
            </a:extLst>
          </p:cNvPr>
          <p:cNvSpPr>
            <a:spLocks noGrp="1"/>
          </p:cNvSpPr>
          <p:nvPr/>
        </p:nvSpPr>
        <p:spPr>
          <a:xfrm>
            <a:off x="685800" y="1381125"/>
            <a:ext cx="10715625" cy="1619250"/>
          </a:xfrm>
          <a:prstGeom prst="rect">
            <a:avLst/>
          </a:prstGeom>
          <a:noFill/>
          <a:ln w="0">
            <a:noFill/>
          </a:ln>
        </p:spPr>
        <p:txBody>
          <a:bodyPr>
            <a:noAutofit/>
          </a:bodyPr>
          <a:lstStyle/>
          <a:p>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Learning microbial community</a:t>
            </a:r>
          </a:p>
          <a:p>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function on crude glycerol</a:t>
            </a:r>
          </a:p>
        </p:txBody>
      </p:sp>
      <p:sp>
        <p:nvSpPr>
          <p:cNvPr id="2" name="Rechteck 1">
            <a:extLst>
              <a:ext uri="{FF2B5EF4-FFF2-40B4-BE49-F238E27FC236}">
                <a16:creationId xmlns:a16="http://schemas.microsoft.com/office/drawing/2014/main" id="{587D2B0A-9F68-4333-A297-ABE4CB9BEE50}"/>
              </a:ext>
            </a:extLst>
          </p:cNvPr>
          <p:cNvSpPr>
            <a:spLocks noGrp="1"/>
          </p:cNvSpPr>
          <p:nvPr/>
        </p:nvSpPr>
        <p:spPr>
          <a:xfrm>
            <a:off x="723900" y="3343275"/>
            <a:ext cx="10191750" cy="819150"/>
          </a:xfrm>
          <a:prstGeom prst="rect">
            <a:avLst/>
          </a:prstGeom>
          <a:noFill/>
          <a:ln w="0">
            <a:noFill/>
          </a:ln>
        </p:spPr>
        <p:txBody>
          <a:bodyPr>
            <a:noAutofit/>
          </a:bodyPr>
          <a:lstStyle/>
          <a:p>
            <a:pPr>
              <a:defRPr sz="2250" b="0">
                <a:solidFill>
                  <a:srgbClr val="506574"/>
                </a:solidFill>
                <a:latin typeface="Helvetica Neue"/>
                <a:ea typeface="Helvetica Neue"/>
                <a:cs typeface="Helvetica Neue"/>
              </a:defRPr>
            </a:pPr>
            <a:r>
              <a:rPr sz="2250" b="0">
                <a:solidFill>
                  <a:srgbClr val="506574"/>
                </a:solidFill>
                <a:latin typeface="Helvetica Neue"/>
                <a:ea typeface="Helvetica Neue"/>
                <a:cs typeface="Helvetica Neue"/>
              </a:rPr>
              <a:t>Genome-guided strain selection and adaptive L-lactate screening</a:t>
            </a:r>
          </a:p>
        </p:txBody>
      </p:sp>
      <p:sp>
        <p:nvSpPr>
          <p:cNvPr id="3" name="Rechteck 2">
            <a:extLst>
              <a:ext uri="{FF2B5EF4-FFF2-40B4-BE49-F238E27FC236}">
                <a16:creationId xmlns:a16="http://schemas.microsoft.com/office/drawing/2014/main" id="{1EFF467D-2CA6-40D3-9432-203A02E4E378}"/>
              </a:ext>
            </a:extLst>
          </p:cNvPr>
          <p:cNvSpPr>
            <a:spLocks noGrp="1"/>
          </p:cNvSpPr>
          <p:nvPr/>
        </p:nvSpPr>
        <p:spPr>
          <a:xfrm>
            <a:off x="723900" y="4857750"/>
            <a:ext cx="9048750" cy="1162050"/>
          </a:xfrm>
          <a:prstGeom prst="rect">
            <a:avLst/>
          </a:prstGeom>
          <a:noFill/>
          <a:ln w="0">
            <a:noFill/>
          </a:ln>
        </p:spPr>
        <p:txBody>
          <a:bodyPr>
            <a:noAutofit/>
          </a:bodyPr>
          <a:lstStyle/>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Magnus Ohle</a:t>
            </a:r>
          </a:p>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Master’s research update</a:t>
            </a:r>
          </a:p>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14 September 2026</a:t>
            </a:r>
          </a:p>
        </p:txBody>
      </p:sp>
    </p:spTree>
    <p:extLst>
      <p:ext uri="{BB962C8B-B14F-4D97-AF65-F5344CB8AC3E}">
        <p14:creationId xmlns:p14="http://schemas.microsoft.com/office/powerpoint/2010/main" val="1150582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C35D432E-BF55-40AF-A855-4B3D091B8F2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Research question</a:t>
            </a:r>
          </a:p>
        </p:txBody>
      </p:sp>
      <p:sp>
        <p:nvSpPr>
          <p:cNvPr id="2" name="Rechteck 1">
            <a:extLst>
              <a:ext uri="{FF2B5EF4-FFF2-40B4-BE49-F238E27FC236}">
                <a16:creationId xmlns:a16="http://schemas.microsoft.com/office/drawing/2014/main" id="{B6942E05-6325-4678-9448-31D49223AFC5}"/>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2</a:t>
            </a:r>
          </a:p>
        </p:txBody>
      </p:sp>
      <p:sp>
        <p:nvSpPr>
          <p:cNvPr id="3" name="Rechteck 2">
            <a:extLst>
              <a:ext uri="{FF2B5EF4-FFF2-40B4-BE49-F238E27FC236}">
                <a16:creationId xmlns:a16="http://schemas.microsoft.com/office/drawing/2014/main" id="{EF58DDF9-A1D2-4473-872D-C6185B93DB32}"/>
              </a:ext>
            </a:extLst>
          </p:cNvPr>
          <p:cNvSpPr>
            <a:spLocks noGrp="1"/>
          </p:cNvSpPr>
          <p:nvPr/>
        </p:nvSpPr>
        <p:spPr>
          <a:xfrm>
            <a:off x="704850" y="1743075"/>
            <a:ext cx="10572750" cy="1266825"/>
          </a:xfrm>
          <a:prstGeom prst="rect">
            <a:avLst/>
          </a:prstGeom>
          <a:noFill/>
          <a:ln w="0">
            <a:noFill/>
          </a:ln>
        </p:spPr>
        <p:txBody>
          <a:bodyPr>
            <a:noAutofit/>
          </a:bodyPr>
          <a:lstStyle/>
          <a:p>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Can community composition improve</a:t>
            </a:r>
          </a:p>
          <a:p>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L-lactate accumulation on crude-glycerol medium?</a:t>
            </a:r>
          </a:p>
        </p:txBody>
      </p:sp>
      <p:sp>
        <p:nvSpPr>
          <p:cNvPr id="4" name="Rechteck 3">
            <a:extLst>
              <a:ext uri="{FF2B5EF4-FFF2-40B4-BE49-F238E27FC236}">
                <a16:creationId xmlns:a16="http://schemas.microsoft.com/office/drawing/2014/main" id="{2C63B389-88FF-4FD6-9E20-A3F3D9B73D39}"/>
              </a:ext>
            </a:extLst>
          </p:cNvPr>
          <p:cNvSpPr>
            <a:spLocks noGrp="1"/>
          </p:cNvSpPr>
          <p:nvPr/>
        </p:nvSpPr>
        <p:spPr>
          <a:xfrm>
            <a:off x="704850" y="33909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Biological question</a:t>
            </a:r>
          </a:p>
        </p:txBody>
      </p:sp>
      <p:sp>
        <p:nvSpPr>
          <p:cNvPr id="5" name="Rechteck 4">
            <a:extLst>
              <a:ext uri="{FF2B5EF4-FFF2-40B4-BE49-F238E27FC236}">
                <a16:creationId xmlns:a16="http://schemas.microsoft.com/office/drawing/2014/main" id="{083002E4-14E3-4D74-A32F-2422048B0243}"/>
              </a:ext>
            </a:extLst>
          </p:cNvPr>
          <p:cNvSpPr>
            <a:spLocks noGrp="1"/>
          </p:cNvSpPr>
          <p:nvPr/>
        </p:nvSpPr>
        <p:spPr>
          <a:xfrm>
            <a:off x="704850" y="38766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Which mixtures outperform their constituent monocultures?</a:t>
            </a:r>
          </a:p>
        </p:txBody>
      </p:sp>
      <p:sp>
        <p:nvSpPr>
          <p:cNvPr id="6" name="Rechteck 5">
            <a:extLst>
              <a:ext uri="{FF2B5EF4-FFF2-40B4-BE49-F238E27FC236}">
                <a16:creationId xmlns:a16="http://schemas.microsoft.com/office/drawing/2014/main" id="{ECC9E320-1449-45F6-8E25-CF84ED84CDEF}"/>
              </a:ext>
            </a:extLst>
          </p:cNvPr>
          <p:cNvSpPr>
            <a:spLocks noGrp="1"/>
          </p:cNvSpPr>
          <p:nvPr/>
        </p:nvSpPr>
        <p:spPr>
          <a:xfrm>
            <a:off x="704850" y="474345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Experimental-design question</a:t>
            </a:r>
          </a:p>
        </p:txBody>
      </p:sp>
      <p:sp>
        <p:nvSpPr>
          <p:cNvPr id="7" name="Rechteck 6">
            <a:extLst>
              <a:ext uri="{FF2B5EF4-FFF2-40B4-BE49-F238E27FC236}">
                <a16:creationId xmlns:a16="http://schemas.microsoft.com/office/drawing/2014/main" id="{10758860-43B4-4D7E-9D7A-51D6BB3D1186}"/>
              </a:ext>
            </a:extLst>
          </p:cNvPr>
          <p:cNvSpPr>
            <a:spLocks noGrp="1"/>
          </p:cNvSpPr>
          <p:nvPr/>
        </p:nvSpPr>
        <p:spPr>
          <a:xfrm>
            <a:off x="704850" y="522922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Can model-guided selection find useful </a:t>
            </a:r>
            <a:r>
              <a:rPr lang="de-DE" sz="1950" b="0" dirty="0" err="1">
                <a:solidFill>
                  <a:srgbClr val="506574"/>
                </a:solidFill>
                <a:latin typeface="Helvetica Neue"/>
                <a:ea typeface="Helvetica Neue"/>
                <a:cs typeface="Helvetica Neue"/>
              </a:rPr>
              <a:t>compositions</a:t>
            </a:r>
            <a:r>
              <a:rPr sz="1950" b="0" dirty="0">
                <a:solidFill>
                  <a:srgbClr val="506574"/>
                </a:solidFill>
                <a:latin typeface="Helvetica Neue"/>
                <a:ea typeface="Helvetica Neue"/>
                <a:cs typeface="Helvetica Neue"/>
              </a:rPr>
              <a:t> with fewer </a:t>
            </a:r>
            <a:r>
              <a:rPr lang="de-DE" sz="1950" b="0" dirty="0" err="1">
                <a:solidFill>
                  <a:srgbClr val="506574"/>
                </a:solidFill>
                <a:latin typeface="Helvetica Neue"/>
                <a:ea typeface="Helvetica Neue"/>
                <a:cs typeface="Helvetica Neue"/>
              </a:rPr>
              <a:t>measurements</a:t>
            </a:r>
            <a:r>
              <a:rPr sz="1950" b="0" dirty="0">
                <a:solidFill>
                  <a:srgbClr val="506574"/>
                </a:solidFill>
                <a:latin typeface="Helvetica Neue"/>
                <a:ea typeface="Helvetica Neue"/>
                <a:cs typeface="Helvetica Neue"/>
              </a:rPr>
              <a:t>?</a:t>
            </a:r>
          </a:p>
        </p:txBody>
      </p:sp>
    </p:spTree>
    <p:extLst>
      <p:ext uri="{BB962C8B-B14F-4D97-AF65-F5344CB8AC3E}">
        <p14:creationId xmlns:p14="http://schemas.microsoft.com/office/powerpoint/2010/main" val="23000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C5F7139-6A5E-4D8B-BB35-CBAF807B86C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Genome screening defined </a:t>
            </a:r>
            <a:r>
              <a:rPr lang="de-DE" sz="3225" b="1" dirty="0" err="1">
                <a:solidFill>
                  <a:srgbClr val="172D3C"/>
                </a:solidFill>
                <a:latin typeface="Helvetica Neue"/>
                <a:ea typeface="Helvetica Neue"/>
                <a:cs typeface="Helvetica Neue"/>
              </a:rPr>
              <a:t>the</a:t>
            </a:r>
            <a:r>
              <a:rPr lang="de-DE" sz="3225" b="1" dirty="0">
                <a:solidFill>
                  <a:srgbClr val="172D3C"/>
                </a:solidFill>
                <a:latin typeface="Helvetica Neue"/>
                <a:ea typeface="Helvetica Neue"/>
                <a:cs typeface="Helvetica Neue"/>
              </a:rPr>
              <a:t> </a:t>
            </a:r>
            <a:r>
              <a:rPr lang="de-DE" sz="3225" b="1" dirty="0" err="1">
                <a:solidFill>
                  <a:srgbClr val="172D3C"/>
                </a:solidFill>
                <a:latin typeface="Helvetica Neue"/>
                <a:ea typeface="Helvetica Neue"/>
                <a:cs typeface="Helvetica Neue"/>
              </a:rPr>
              <a:t>selected</a:t>
            </a:r>
            <a:r>
              <a:rPr lang="de-DE" sz="3225" b="1" dirty="0">
                <a:solidFill>
                  <a:srgbClr val="172D3C"/>
                </a:solidFill>
                <a:latin typeface="Helvetica Neue"/>
                <a:ea typeface="Helvetica Neue"/>
                <a:cs typeface="Helvetica Neue"/>
              </a:rPr>
              <a:t> </a:t>
            </a:r>
            <a:r>
              <a:rPr sz="3225" b="1" dirty="0">
                <a:solidFill>
                  <a:srgbClr val="172D3C"/>
                </a:solidFill>
                <a:latin typeface="Helvetica Neue"/>
                <a:ea typeface="Helvetica Neue"/>
                <a:cs typeface="Helvetica Neue"/>
              </a:rPr>
              <a:t>strain panel</a:t>
            </a:r>
          </a:p>
        </p:txBody>
      </p:sp>
      <p:sp>
        <p:nvSpPr>
          <p:cNvPr id="2" name="Rechteck 1">
            <a:extLst>
              <a:ext uri="{FF2B5EF4-FFF2-40B4-BE49-F238E27FC236}">
                <a16:creationId xmlns:a16="http://schemas.microsoft.com/office/drawing/2014/main" id="{ECE32A14-EE59-4E1C-8653-088E50A13626}"/>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3</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B4D4EB8A-78E8-4CA3-87E0-E05B591ED4BD}"/>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384 genomes screened. The LDH adjudication table contains 1,457 protein records. Categories overlap.</a:t>
            </a:r>
          </a:p>
        </p:txBody>
      </p:sp>
    </p:spTree>
    <p:extLst>
      <p:ext uri="{BB962C8B-B14F-4D97-AF65-F5344CB8AC3E}">
        <p14:creationId xmlns:p14="http://schemas.microsoft.com/office/powerpoint/2010/main" val="66045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E05B690-A24D-4269-9BA4-D9569C771EC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Lactate production and consumption in the strain screen</a:t>
            </a:r>
          </a:p>
        </p:txBody>
      </p:sp>
      <p:sp>
        <p:nvSpPr>
          <p:cNvPr id="2" name="Rechteck 1">
            <a:extLst>
              <a:ext uri="{FF2B5EF4-FFF2-40B4-BE49-F238E27FC236}">
                <a16:creationId xmlns:a16="http://schemas.microsoft.com/office/drawing/2014/main" id="{BDC55434-708C-4D32-99D8-A6CE8891B757}"/>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4</a:t>
            </a:r>
          </a:p>
        </p:txBody>
      </p:sp>
      <p:graphicFrame>
        <p:nvGraphicFramePr>
          <p:cNvPr id="7" name="Tabelle 6"/>
          <p:cNvGraphicFramePr/>
          <p:nvPr/>
        </p:nvGraphicFramePr>
        <p:xfrm>
          <a:off x="666750" y="1733550"/>
          <a:ext cx="10858500" cy="3114676"/>
        </p:xfrm>
        <a:graphic>
          <a:graphicData uri="http://schemas.openxmlformats.org/drawingml/2006/table">
            <a:tbl>
              <a:tblPr/>
              <a:tblGrid>
                <a:gridCol w="457200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778669">
                <a:tc>
                  <a:txBody>
                    <a:bodyPr/>
                    <a:lstStyle/>
                    <a:p>
                      <a:r>
                        <a:rPr sz="1875" b="1">
                          <a:solidFill>
                            <a:srgbClr val="FFFFFF"/>
                          </a:solidFill>
                          <a:latin typeface="Helvetica Neue"/>
                          <a:ea typeface="Helvetica Neue"/>
                          <a:cs typeface="Helvetica Neue"/>
                        </a:rPr>
                        <a:t>Sequence evidence</a:t>
                      </a:r>
                    </a:p>
                  </a:txBody>
                  <a:tcPr>
                    <a:solidFill>
                      <a:srgbClr val="172D3C"/>
                    </a:solidFill>
                  </a:tcPr>
                </a:tc>
                <a:tc>
                  <a:txBody>
                    <a:bodyPr/>
                    <a:lstStyle/>
                    <a:p>
                      <a:r>
                        <a:rPr sz="1875" b="1">
                          <a:solidFill>
                            <a:srgbClr val="FFFFFF"/>
                          </a:solidFill>
                          <a:latin typeface="Helvetica Neue"/>
                          <a:ea typeface="Helvetica Neue"/>
                          <a:cs typeface="Helvetica Neue"/>
                        </a:rPr>
                        <a:t>Meaning for selection</a:t>
                      </a:r>
                    </a:p>
                  </a:txBody>
                  <a:tcPr>
                    <a:solidFill>
                      <a:srgbClr val="172D3C"/>
                    </a:solidFill>
                  </a:tcPr>
                </a:tc>
                <a:extLst>
                  <a:ext uri="{0D108BD9-81ED-4DB2-BD59-A6C34878D82A}">
                    <a16:rowId xmlns:a16="http://schemas.microsoft.com/office/drawing/2014/main" val="10000"/>
                  </a:ext>
                </a:extLst>
              </a:tr>
              <a:tr h="778669">
                <a:tc>
                  <a:txBody>
                    <a:bodyPr/>
                    <a:lstStyle/>
                    <a:p>
                      <a:r>
                        <a:rPr sz="1875" b="0">
                          <a:solidFill>
                            <a:srgbClr val="172D3C"/>
                          </a:solidFill>
                          <a:latin typeface="Helvetica Neue"/>
                          <a:ea typeface="Helvetica Neue"/>
                          <a:cs typeface="Helvetica Neue"/>
                        </a:rPr>
                        <a:t>L-LDH versus D-LDH</a:t>
                      </a:r>
                    </a:p>
                  </a:txBody>
                  <a:tcPr>
                    <a:solidFill>
                      <a:srgbClr val="F1F4F6"/>
                    </a:solidFill>
                  </a:tcPr>
                </a:tc>
                <a:tc>
                  <a:txBody>
                    <a:bodyPr/>
                    <a:lstStyle/>
                    <a:p>
                      <a:r>
                        <a:rPr sz="1875" b="0">
                          <a:solidFill>
                            <a:srgbClr val="172D3C"/>
                          </a:solidFill>
                          <a:latin typeface="Helvetica Neue"/>
                          <a:ea typeface="Helvetica Neue"/>
                          <a:cs typeface="Helvetica Neue"/>
                        </a:rPr>
                        <a:t>Candidate production route and stereochemistry</a:t>
                      </a:r>
                    </a:p>
                  </a:txBody>
                  <a:tcPr>
                    <a:solidFill>
                      <a:srgbClr val="F1F4F6"/>
                    </a:solidFill>
                  </a:tcPr>
                </a:tc>
                <a:extLst>
                  <a:ext uri="{0D108BD9-81ED-4DB2-BD59-A6C34878D82A}">
                    <a16:rowId xmlns:a16="http://schemas.microsoft.com/office/drawing/2014/main" val="10001"/>
                  </a:ext>
                </a:extLst>
              </a:tr>
              <a:tr h="778669">
                <a:tc>
                  <a:txBody>
                    <a:bodyPr/>
                    <a:lstStyle/>
                    <a:p>
                      <a:r>
                        <a:rPr sz="1875" b="0">
                          <a:solidFill>
                            <a:srgbClr val="172D3C"/>
                          </a:solidFill>
                          <a:latin typeface="Helvetica Neue"/>
                          <a:ea typeface="Helvetica Neue"/>
                          <a:cs typeface="Helvetica Neue"/>
                        </a:rPr>
                        <a:t>Racemase systems</a:t>
                      </a:r>
                    </a:p>
                  </a:txBody>
                  <a:tcPr>
                    <a:solidFill>
                      <a:srgbClr val="FFFFFF"/>
                    </a:solidFill>
                  </a:tcPr>
                </a:tc>
                <a:tc>
                  <a:txBody>
                    <a:bodyPr/>
                    <a:lstStyle/>
                    <a:p>
                      <a:r>
                        <a:rPr sz="1875" b="0">
                          <a:solidFill>
                            <a:srgbClr val="172D3C"/>
                          </a:solidFill>
                          <a:latin typeface="Helvetica Neue"/>
                          <a:ea typeface="Helvetica Neue"/>
                          <a:cs typeface="Helvetica Neue"/>
                        </a:rPr>
                        <a:t>Potential conversion between L- and D-lactate</a:t>
                      </a:r>
                    </a:p>
                  </a:txBody>
                  <a:tcPr>
                    <a:solidFill>
                      <a:srgbClr val="FFFFFF"/>
                    </a:solidFill>
                  </a:tcPr>
                </a:tc>
                <a:extLst>
                  <a:ext uri="{0D108BD9-81ED-4DB2-BD59-A6C34878D82A}">
                    <a16:rowId xmlns:a16="http://schemas.microsoft.com/office/drawing/2014/main" val="10002"/>
                  </a:ext>
                </a:extLst>
              </a:tr>
              <a:tr h="778669">
                <a:tc>
                  <a:txBody>
                    <a:bodyPr/>
                    <a:lstStyle/>
                    <a:p>
                      <a:r>
                        <a:rPr sz="1875" b="0">
                          <a:solidFill>
                            <a:srgbClr val="172D3C"/>
                          </a:solidFill>
                          <a:latin typeface="Helvetica Neue"/>
                          <a:ea typeface="Helvetica Neue"/>
                          <a:cs typeface="Helvetica Neue"/>
                        </a:rPr>
                        <a:t>Lactate oxidase and other oxidation routes</a:t>
                      </a:r>
                    </a:p>
                  </a:txBody>
                  <a:tcPr>
                    <a:solidFill>
                      <a:srgbClr val="F1F4F6"/>
                    </a:solidFill>
                  </a:tcPr>
                </a:tc>
                <a:tc>
                  <a:txBody>
                    <a:bodyPr/>
                    <a:lstStyle/>
                    <a:p>
                      <a:r>
                        <a:rPr sz="1875" b="0">
                          <a:solidFill>
                            <a:srgbClr val="172D3C"/>
                          </a:solidFill>
                          <a:latin typeface="Helvetica Neue"/>
                          <a:ea typeface="Helvetica Neue"/>
                          <a:cs typeface="Helvetica Neue"/>
                        </a:rPr>
                        <a:t>Allowed in the current panel. A lactate-consumption risk.</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947ED1DD-7EC7-4618-938B-87A2FC9415EE}"/>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Example: strain 275 (Lactococcus lactis) remains in the panel despite its predicted </a:t>
            </a:r>
            <a:r>
              <a:rPr sz="1650" b="0" dirty="0" err="1">
                <a:solidFill>
                  <a:srgbClr val="506574"/>
                </a:solidFill>
                <a:latin typeface="Helvetica Neue"/>
                <a:ea typeface="Helvetica Neue"/>
                <a:cs typeface="Helvetica Neue"/>
              </a:rPr>
              <a:t>lctO</a:t>
            </a:r>
            <a:r>
              <a:rPr sz="1650" b="0" dirty="0">
                <a:solidFill>
                  <a:srgbClr val="506574"/>
                </a:solidFill>
                <a:latin typeface="Helvetica Neue"/>
                <a:ea typeface="Helvetica Neue"/>
                <a:cs typeface="Helvetica Neue"/>
              </a:rPr>
              <a:t> gene.</a:t>
            </a:r>
            <a:endParaRPr lang="de-DE" sz="1650" b="0" dirty="0">
              <a:solidFill>
                <a:srgbClr val="506574"/>
              </a:solidFill>
              <a:latin typeface="Helvetica Neue"/>
              <a:ea typeface="Helvetica Neue"/>
              <a:cs typeface="Helvetica Neue"/>
            </a:endParaRPr>
          </a:p>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Chosen </a:t>
            </a:r>
            <a:r>
              <a:rPr lang="de-DE" sz="1650" b="0" dirty="0" err="1">
                <a:solidFill>
                  <a:srgbClr val="506574"/>
                </a:solidFill>
                <a:latin typeface="Helvetica Neue"/>
                <a:ea typeface="Helvetica Neue"/>
                <a:cs typeface="Helvetica Neue"/>
              </a:rPr>
              <a:t>for</a:t>
            </a:r>
            <a:r>
              <a:rPr lang="de-DE" sz="1650" b="0" dirty="0">
                <a:solidFill>
                  <a:srgbClr val="506574"/>
                </a:solidFill>
                <a:latin typeface="Helvetica Neue"/>
                <a:ea typeface="Helvetica Neue"/>
                <a:cs typeface="Helvetica Neue"/>
              </a:rPr>
              <a:t> Panel: </a:t>
            </a:r>
            <a:r>
              <a:rPr lang="de-DE" sz="1650" b="0" dirty="0" err="1">
                <a:solidFill>
                  <a:srgbClr val="506574"/>
                </a:solidFill>
                <a:latin typeface="Helvetica Neue"/>
                <a:ea typeface="Helvetica Neue"/>
                <a:cs typeface="Helvetica Neue"/>
              </a:rPr>
              <a:t>Predicted</a:t>
            </a:r>
            <a:r>
              <a:rPr lang="de-DE" sz="1650" b="0" dirty="0">
                <a:solidFill>
                  <a:srgbClr val="506574"/>
                </a:solidFill>
                <a:latin typeface="Helvetica Neue"/>
                <a:ea typeface="Helvetica Neue"/>
                <a:cs typeface="Helvetica Neue"/>
              </a:rPr>
              <a:t> „</a:t>
            </a:r>
            <a:r>
              <a:rPr lang="de-DE" sz="1650" dirty="0">
                <a:solidFill>
                  <a:srgbClr val="506574"/>
                </a:solidFill>
                <a:latin typeface="Helvetica Neue"/>
                <a:ea typeface="Helvetica Neue"/>
                <a:cs typeface="Helvetica Neue"/>
              </a:rPr>
              <a:t>pure“ L-</a:t>
            </a:r>
            <a:r>
              <a:rPr lang="de-DE" sz="1650" dirty="0" err="1">
                <a:solidFill>
                  <a:srgbClr val="506574"/>
                </a:solidFill>
                <a:latin typeface="Helvetica Neue"/>
                <a:ea typeface="Helvetica Neue"/>
                <a:cs typeface="Helvetica Neue"/>
              </a:rPr>
              <a:t>lactate</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producers</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with</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no</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racemase</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system</a:t>
            </a:r>
            <a:r>
              <a:rPr lang="de-DE" sz="1650" dirty="0">
                <a:solidFill>
                  <a:srgbClr val="506574"/>
                </a:solidFill>
                <a:latin typeface="Helvetica Neue"/>
                <a:ea typeface="Helvetica Neue"/>
                <a:cs typeface="Helvetica Neue"/>
              </a:rPr>
              <a:t> and </a:t>
            </a:r>
            <a:r>
              <a:rPr lang="de-DE" sz="1650" dirty="0" err="1">
                <a:solidFill>
                  <a:srgbClr val="506574"/>
                </a:solidFill>
                <a:latin typeface="Helvetica Neue"/>
                <a:ea typeface="Helvetica Neue"/>
                <a:cs typeface="Helvetica Neue"/>
              </a:rPr>
              <a:t>no</a:t>
            </a:r>
            <a:r>
              <a:rPr lang="de-DE" sz="1650" dirty="0">
                <a:solidFill>
                  <a:srgbClr val="506574"/>
                </a:solidFill>
                <a:latin typeface="Helvetica Neue"/>
                <a:ea typeface="Helvetica Neue"/>
                <a:cs typeface="Helvetica Neue"/>
              </a:rPr>
              <a:t> D-LDH</a:t>
            </a: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255269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BB4B75E-AAE7-444E-8E1F-8155BB865740}"/>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The </a:t>
            </a:r>
            <a:r>
              <a:rPr lang="de-DE" sz="3225" b="1" dirty="0" err="1">
                <a:solidFill>
                  <a:srgbClr val="172D3C"/>
                </a:solidFill>
                <a:latin typeface="Helvetica Neue"/>
                <a:ea typeface="Helvetica Neue"/>
                <a:cs typeface="Helvetica Neue"/>
              </a:rPr>
              <a:t>species</a:t>
            </a:r>
            <a:r>
              <a:rPr sz="3225" b="1" dirty="0">
                <a:solidFill>
                  <a:srgbClr val="172D3C"/>
                </a:solidFill>
                <a:latin typeface="Helvetica Neue"/>
                <a:ea typeface="Helvetica Neue"/>
                <a:cs typeface="Helvetica Neue"/>
              </a:rPr>
              <a:t> panel</a:t>
            </a:r>
          </a:p>
        </p:txBody>
      </p:sp>
      <p:sp>
        <p:nvSpPr>
          <p:cNvPr id="2" name="Rechteck 1">
            <a:extLst>
              <a:ext uri="{FF2B5EF4-FFF2-40B4-BE49-F238E27FC236}">
                <a16:creationId xmlns:a16="http://schemas.microsoft.com/office/drawing/2014/main" id="{8E53FA2B-E975-4DEA-A7C5-7682F51C3B7E}"/>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5</a:t>
            </a:r>
          </a:p>
        </p:txBody>
      </p:sp>
      <p:graphicFrame>
        <p:nvGraphicFramePr>
          <p:cNvPr id="7" name="Tabelle 6"/>
          <p:cNvGraphicFramePr/>
          <p:nvPr>
            <p:extLst>
              <p:ext uri="{D42A27DB-BD31-4B8C-83A1-F6EECF244321}">
                <p14:modId xmlns:p14="http://schemas.microsoft.com/office/powerpoint/2010/main" val="3751246500"/>
              </p:ext>
            </p:extLst>
          </p:nvPr>
        </p:nvGraphicFramePr>
        <p:xfrm>
          <a:off x="666750" y="1676400"/>
          <a:ext cx="108585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704850">
                <a:tc>
                  <a:txBody>
                    <a:bodyPr/>
                    <a:lstStyle/>
                    <a:p>
                      <a:r>
                        <a:rPr sz="1875" b="1">
                          <a:solidFill>
                            <a:srgbClr val="FFFFFF"/>
                          </a:solidFill>
                          <a:latin typeface="Helvetica Neue"/>
                          <a:ea typeface="Helvetica Neue"/>
                          <a:cs typeface="Helvetica Neue"/>
                        </a:rPr>
                        <a:t>Stage</a:t>
                      </a:r>
                    </a:p>
                  </a:txBody>
                  <a:tcPr>
                    <a:solidFill>
                      <a:srgbClr val="172D3C"/>
                    </a:solidFill>
                  </a:tcPr>
                </a:tc>
                <a:tc>
                  <a:txBody>
                    <a:bodyPr/>
                    <a:lstStyle/>
                    <a:p>
                      <a:r>
                        <a:rPr sz="1875" b="1">
                          <a:solidFill>
                            <a:srgbClr val="FFFFFF"/>
                          </a:solidFill>
                          <a:latin typeface="Helvetica Neue"/>
                          <a:ea typeface="Helvetica Neue"/>
                          <a:cs typeface="Helvetica Neue"/>
                        </a:rPr>
                        <a:t>Strains</a:t>
                      </a:r>
                    </a:p>
                  </a:txBody>
                  <a:tcPr>
                    <a:solidFill>
                      <a:srgbClr val="172D3C"/>
                    </a:solidFill>
                  </a:tcPr>
                </a:tc>
                <a:tc>
                  <a:txBody>
                    <a:bodyPr/>
                    <a:lstStyle/>
                    <a:p>
                      <a:r>
                        <a:rPr sz="1875" b="1">
                          <a:solidFill>
                            <a:srgbClr val="FFFFFF"/>
                          </a:solidFill>
                          <a:latin typeface="Helvetica Neue"/>
                          <a:ea typeface="Helvetica Neue"/>
                          <a:cs typeface="Helvetica Neue"/>
                        </a:rPr>
                        <a:t>Reason for the difference</a:t>
                      </a:r>
                    </a:p>
                  </a:txBody>
                  <a:tcPr>
                    <a:solidFill>
                      <a:srgbClr val="172D3C"/>
                    </a:solidFill>
                  </a:tcPr>
                </a:tc>
                <a:extLst>
                  <a:ext uri="{0D108BD9-81ED-4DB2-BD59-A6C34878D82A}">
                    <a16:rowId xmlns:a16="http://schemas.microsoft.com/office/drawing/2014/main" val="10000"/>
                  </a:ext>
                </a:extLst>
              </a:tr>
              <a:tr h="704850">
                <a:tc>
                  <a:txBody>
                    <a:bodyPr/>
                    <a:lstStyle/>
                    <a:p>
                      <a:r>
                        <a:rPr lang="de-DE" sz="1875" b="0" dirty="0" err="1">
                          <a:solidFill>
                            <a:srgbClr val="172D3C"/>
                          </a:solidFill>
                          <a:latin typeface="Helvetica Neue"/>
                          <a:ea typeface="Helvetica Neue"/>
                          <a:cs typeface="Helvetica Neue"/>
                        </a:rPr>
                        <a:t>From</a:t>
                      </a:r>
                      <a:r>
                        <a:rPr lang="de-DE" sz="1875" b="0" dirty="0">
                          <a:solidFill>
                            <a:srgbClr val="172D3C"/>
                          </a:solidFill>
                          <a:latin typeface="Helvetica Neue"/>
                          <a:ea typeface="Helvetica Neue"/>
                          <a:cs typeface="Helvetica Neue"/>
                        </a:rPr>
                        <a:t> C</a:t>
                      </a:r>
                      <a:r>
                        <a:rPr sz="1875" b="0" dirty="0" err="1">
                          <a:solidFill>
                            <a:srgbClr val="172D3C"/>
                          </a:solidFill>
                          <a:latin typeface="Helvetica Neue"/>
                          <a:ea typeface="Helvetica Neue"/>
                          <a:cs typeface="Helvetica Neue"/>
                        </a:rPr>
                        <a:t>andidate</a:t>
                      </a:r>
                      <a:r>
                        <a:rPr sz="1875" b="0" dirty="0">
                          <a:solidFill>
                            <a:srgbClr val="172D3C"/>
                          </a:solidFill>
                          <a:latin typeface="Helvetica Neue"/>
                          <a:ea typeface="Helvetica Neue"/>
                          <a:cs typeface="Helvetica Neue"/>
                        </a:rPr>
                        <a:t> panel</a:t>
                      </a:r>
                    </a:p>
                  </a:txBody>
                  <a:tcPr>
                    <a:solidFill>
                      <a:srgbClr val="F1F4F6"/>
                    </a:solidFill>
                  </a:tcPr>
                </a:tc>
                <a:tc>
                  <a:txBody>
                    <a:bodyPr/>
                    <a:lstStyle/>
                    <a:p>
                      <a:r>
                        <a:rPr sz="1875" b="0">
                          <a:solidFill>
                            <a:srgbClr val="172D3C"/>
                          </a:solidFill>
                          <a:latin typeface="Helvetica Neue"/>
                          <a:ea typeface="Helvetica Neue"/>
                          <a:cs typeface="Helvetica Neue"/>
                        </a:rPr>
                        <a:t>14</a:t>
                      </a:r>
                    </a:p>
                  </a:txBody>
                  <a:tcPr>
                    <a:solidFill>
                      <a:srgbClr val="F1F4F6"/>
                    </a:solidFill>
                  </a:tcPr>
                </a:tc>
                <a:tc>
                  <a:txBody>
                    <a:bodyPr/>
                    <a:lstStyle/>
                    <a:p>
                      <a:r>
                        <a:rPr sz="1875" b="0" dirty="0">
                          <a:solidFill>
                            <a:srgbClr val="172D3C"/>
                          </a:solidFill>
                          <a:latin typeface="Helvetica Neue"/>
                          <a:ea typeface="Helvetica Neue"/>
                          <a:cs typeface="Helvetica Neue"/>
                        </a:rPr>
                        <a:t>Genomic evidence</a:t>
                      </a:r>
                    </a:p>
                  </a:txBody>
                  <a:tcPr>
                    <a:solidFill>
                      <a:srgbClr val="F1F4F6"/>
                    </a:solidFill>
                  </a:tcPr>
                </a:tc>
                <a:extLst>
                  <a:ext uri="{0D108BD9-81ED-4DB2-BD59-A6C34878D82A}">
                    <a16:rowId xmlns:a16="http://schemas.microsoft.com/office/drawing/2014/main" val="10001"/>
                  </a:ext>
                </a:extLst>
              </a:tr>
              <a:tr h="704850">
                <a:tc>
                  <a:txBody>
                    <a:bodyPr/>
                    <a:lstStyle/>
                    <a:p>
                      <a:r>
                        <a:rPr lang="de-DE" sz="1875" b="0" dirty="0">
                          <a:solidFill>
                            <a:srgbClr val="172D3C"/>
                          </a:solidFill>
                          <a:latin typeface="Helvetica Neue"/>
                          <a:ea typeface="Helvetica Neue"/>
                          <a:cs typeface="Helvetica Neue"/>
                        </a:rPr>
                        <a:t>P</a:t>
                      </a:r>
                      <a:r>
                        <a:rPr sz="1875" b="0" dirty="0" err="1">
                          <a:solidFill>
                            <a:srgbClr val="172D3C"/>
                          </a:solidFill>
                          <a:latin typeface="Helvetica Neue"/>
                          <a:ea typeface="Helvetica Neue"/>
                          <a:cs typeface="Helvetica Neue"/>
                        </a:rPr>
                        <a:t>hysical</a:t>
                      </a:r>
                      <a:r>
                        <a:rPr sz="1875" b="0" dirty="0">
                          <a:solidFill>
                            <a:srgbClr val="172D3C"/>
                          </a:solidFill>
                          <a:latin typeface="Helvetica Neue"/>
                          <a:ea typeface="Helvetica Neue"/>
                          <a:cs typeface="Helvetica Neue"/>
                        </a:rPr>
                        <a:t> stocks</a:t>
                      </a:r>
                    </a:p>
                  </a:txBody>
                  <a:tcPr>
                    <a:solidFill>
                      <a:srgbClr val="FFFFFF"/>
                    </a:solidFill>
                  </a:tcPr>
                </a:tc>
                <a:tc>
                  <a:txBody>
                    <a:bodyPr/>
                    <a:lstStyle/>
                    <a:p>
                      <a:r>
                        <a:rPr sz="1875" b="0">
                          <a:solidFill>
                            <a:srgbClr val="172D3C"/>
                          </a:solidFill>
                          <a:latin typeface="Helvetica Neue"/>
                          <a:ea typeface="Helvetica Neue"/>
                          <a:cs typeface="Helvetica Neue"/>
                        </a:rPr>
                        <a:t>13</a:t>
                      </a:r>
                    </a:p>
                  </a:txBody>
                  <a:tcPr>
                    <a:solidFill>
                      <a:srgbClr val="FFFFFF"/>
                    </a:solidFill>
                  </a:tcPr>
                </a:tc>
                <a:tc>
                  <a:txBody>
                    <a:bodyPr/>
                    <a:lstStyle/>
                    <a:p>
                      <a:r>
                        <a:rPr sz="1875" b="0" dirty="0">
                          <a:solidFill>
                            <a:srgbClr val="172D3C"/>
                          </a:solidFill>
                          <a:latin typeface="Helvetica Neue"/>
                          <a:ea typeface="Helvetica Neue"/>
                          <a:cs typeface="Helvetica Neue"/>
                        </a:rPr>
                        <a:t>One </a:t>
                      </a:r>
                      <a:r>
                        <a:rPr lang="de-DE" sz="1875" b="0" dirty="0" err="1">
                          <a:solidFill>
                            <a:srgbClr val="172D3C"/>
                          </a:solidFill>
                          <a:latin typeface="Helvetica Neue"/>
                          <a:ea typeface="Helvetica Neue"/>
                          <a:cs typeface="Helvetica Neue"/>
                        </a:rPr>
                        <a:t>species</a:t>
                      </a:r>
                      <a:r>
                        <a:rPr lang="de-DE" sz="1875" b="0" dirty="0">
                          <a:solidFill>
                            <a:srgbClr val="172D3C"/>
                          </a:solidFill>
                          <a:latin typeface="Helvetica Neue"/>
                          <a:ea typeface="Helvetica Neue"/>
                          <a:cs typeface="Helvetica Neue"/>
                        </a:rPr>
                        <a:t> was not </a:t>
                      </a:r>
                      <a:r>
                        <a:rPr lang="de-DE" sz="1875" b="0" dirty="0" err="1">
                          <a:solidFill>
                            <a:srgbClr val="172D3C"/>
                          </a:solidFill>
                          <a:latin typeface="Helvetica Neue"/>
                          <a:ea typeface="Helvetica Neue"/>
                          <a:cs typeface="Helvetica Neue"/>
                        </a:rPr>
                        <a:t>found</a:t>
                      </a:r>
                      <a:r>
                        <a:rPr lang="de-DE" sz="1875" b="0" dirty="0">
                          <a:solidFill>
                            <a:srgbClr val="172D3C"/>
                          </a:solidFill>
                          <a:latin typeface="Helvetica Neue"/>
                          <a:ea typeface="Helvetica Neue"/>
                          <a:cs typeface="Helvetica Neue"/>
                        </a:rPr>
                        <a:t> in stock</a:t>
                      </a:r>
                      <a:endParaRPr sz="1875" b="0" dirty="0">
                        <a:solidFill>
                          <a:srgbClr val="172D3C"/>
                        </a:solidFill>
                        <a:latin typeface="Helvetica Neue"/>
                        <a:ea typeface="Helvetica Neue"/>
                        <a:cs typeface="Helvetica Neue"/>
                      </a:endParaRPr>
                    </a:p>
                  </a:txBody>
                  <a:tcPr>
                    <a:solidFill>
                      <a:srgbClr val="FFFFFF"/>
                    </a:solidFill>
                  </a:tcPr>
                </a:tc>
                <a:extLst>
                  <a:ext uri="{0D108BD9-81ED-4DB2-BD59-A6C34878D82A}">
                    <a16:rowId xmlns:a16="http://schemas.microsoft.com/office/drawing/2014/main" val="10002"/>
                  </a:ext>
                </a:extLst>
              </a:tr>
              <a:tr h="704850">
                <a:tc>
                  <a:txBody>
                    <a:bodyPr/>
                    <a:lstStyle/>
                    <a:p>
                      <a:r>
                        <a:rPr sz="1875" b="0" dirty="0">
                          <a:solidFill>
                            <a:srgbClr val="172D3C"/>
                          </a:solidFill>
                          <a:latin typeface="Helvetica Neue"/>
                          <a:ea typeface="Helvetica Neue"/>
                          <a:cs typeface="Helvetica Neue"/>
                        </a:rPr>
                        <a:t>First community round</a:t>
                      </a:r>
                    </a:p>
                  </a:txBody>
                  <a:tcPr>
                    <a:solidFill>
                      <a:srgbClr val="F1F4F6"/>
                    </a:solidFill>
                  </a:tcPr>
                </a:tc>
                <a:tc>
                  <a:txBody>
                    <a:bodyPr/>
                    <a:lstStyle/>
                    <a:p>
                      <a:r>
                        <a:rPr sz="1875" b="0">
                          <a:solidFill>
                            <a:srgbClr val="172D3C"/>
                          </a:solidFill>
                          <a:latin typeface="Helvetica Neue"/>
                          <a:ea typeface="Helvetica Neue"/>
                          <a:cs typeface="Helvetica Neue"/>
                        </a:rPr>
                        <a:t>13</a:t>
                      </a:r>
                    </a:p>
                  </a:txBody>
                  <a:tcPr>
                    <a:solidFill>
                      <a:srgbClr val="F1F4F6"/>
                    </a:solidFill>
                  </a:tcPr>
                </a:tc>
                <a:tc>
                  <a:txBody>
                    <a:bodyPr/>
                    <a:lstStyle/>
                    <a:p>
                      <a:r>
                        <a:rPr sz="1875" b="0">
                          <a:solidFill>
                            <a:srgbClr val="172D3C"/>
                          </a:solidFill>
                          <a:latin typeface="Helvetica Neue"/>
                          <a:ea typeface="Helvetica Neue"/>
                          <a:cs typeface="Helvetica Neue"/>
                        </a:rPr>
                        <a:t>All resolved strains included</a:t>
                      </a:r>
                    </a:p>
                  </a:txBody>
                  <a:tcPr>
                    <a:solidFill>
                      <a:srgbClr val="F1F4F6"/>
                    </a:solidFill>
                  </a:tcPr>
                </a:tc>
                <a:extLst>
                  <a:ext uri="{0D108BD9-81ED-4DB2-BD59-A6C34878D82A}">
                    <a16:rowId xmlns:a16="http://schemas.microsoft.com/office/drawing/2014/main" val="10003"/>
                  </a:ext>
                </a:extLst>
              </a:tr>
              <a:tr h="704850">
                <a:tc>
                  <a:txBody>
                    <a:bodyPr/>
                    <a:lstStyle/>
                    <a:p>
                      <a:r>
                        <a:rPr sz="1875" b="0">
                          <a:solidFill>
                            <a:srgbClr val="172D3C"/>
                          </a:solidFill>
                          <a:latin typeface="Helvetica Neue"/>
                          <a:ea typeface="Helvetica Neue"/>
                          <a:cs typeface="Helvetica Neue"/>
                        </a:rPr>
                        <a:t>Latest two rounds</a:t>
                      </a:r>
                    </a:p>
                  </a:txBody>
                  <a:tcPr>
                    <a:solidFill>
                      <a:srgbClr val="FFFFFF"/>
                    </a:solidFill>
                  </a:tcPr>
                </a:tc>
                <a:tc>
                  <a:txBody>
                    <a:bodyPr/>
                    <a:lstStyle/>
                    <a:p>
                      <a:r>
                        <a:rPr sz="1875" b="0">
                          <a:solidFill>
                            <a:srgbClr val="172D3C"/>
                          </a:solidFill>
                          <a:latin typeface="Helvetica Neue"/>
                          <a:ea typeface="Helvetica Neue"/>
                          <a:cs typeface="Helvetica Neue"/>
                        </a:rPr>
                        <a:t>12</a:t>
                      </a:r>
                    </a:p>
                  </a:txBody>
                  <a:tcPr>
                    <a:solidFill>
                      <a:srgbClr val="FFFFFF"/>
                    </a:solidFill>
                  </a:tcPr>
                </a:tc>
                <a:tc>
                  <a:txBody>
                    <a:bodyPr/>
                    <a:lstStyle/>
                    <a:p>
                      <a:r>
                        <a:rPr sz="1875" b="0" dirty="0">
                          <a:solidFill>
                            <a:srgbClr val="172D3C"/>
                          </a:solidFill>
                          <a:latin typeface="Helvetica Neue"/>
                          <a:ea typeface="Helvetica Neue"/>
                          <a:cs typeface="Helvetica Neue"/>
                        </a:rPr>
                        <a:t>296 unavailable after no growth</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twice</a:t>
                      </a:r>
                      <a:r>
                        <a:rPr lang="de-DE" sz="1875" b="0" dirty="0">
                          <a:solidFill>
                            <a:srgbClr val="172D3C"/>
                          </a:solidFill>
                          <a:latin typeface="Helvetica Neue"/>
                          <a:ea typeface="Helvetica Neue"/>
                          <a:cs typeface="Helvetica Neue"/>
                        </a:rPr>
                        <a:t>)</a:t>
                      </a:r>
                      <a:endParaRPr sz="1875" b="0" dirty="0">
                        <a:solidFill>
                          <a:srgbClr val="172D3C"/>
                        </a:solidFill>
                        <a:latin typeface="Helvetica Neue"/>
                        <a:ea typeface="Helvetica Neue"/>
                        <a:cs typeface="Helvetica Neue"/>
                      </a:endParaRPr>
                    </a:p>
                  </a:txBody>
                  <a:tcPr>
                    <a:solidFill>
                      <a:srgbClr val="FFFFFF"/>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7A2CE630-13DB-4965-B369-858037044657}"/>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G</a:t>
            </a:r>
            <a:r>
              <a:rPr sz="1650" b="0" dirty="0" err="1">
                <a:solidFill>
                  <a:srgbClr val="506574"/>
                </a:solidFill>
                <a:latin typeface="Helvetica Neue"/>
                <a:ea typeface="Helvetica Neue"/>
                <a:cs typeface="Helvetica Neue"/>
              </a:rPr>
              <a:t>enera</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Oerskovia</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Microbacterium</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Rhodococcus</a:t>
            </a:r>
            <a:r>
              <a:rPr sz="1650" b="0" dirty="0">
                <a:solidFill>
                  <a:srgbClr val="506574"/>
                </a:solidFill>
                <a:latin typeface="Helvetica Neue"/>
                <a:ea typeface="Helvetica Neue"/>
                <a:cs typeface="Helvetica Neue"/>
              </a:rPr>
              <a:t>, Lactococcus, Bacillus, </a:t>
            </a:r>
            <a:r>
              <a:rPr sz="1650" b="0" dirty="0" err="1">
                <a:solidFill>
                  <a:srgbClr val="506574"/>
                </a:solidFill>
                <a:latin typeface="Helvetica Neue"/>
                <a:ea typeface="Helvetica Neue"/>
                <a:cs typeface="Helvetica Neue"/>
              </a:rPr>
              <a:t>Paenibacillus</a:t>
            </a:r>
            <a:r>
              <a:rPr sz="1650" b="0" dirty="0">
                <a:solidFill>
                  <a:srgbClr val="506574"/>
                </a:solidFill>
                <a:latin typeface="Helvetica Neue"/>
                <a:ea typeface="Helvetica Neue"/>
                <a:cs typeface="Helvetica Neue"/>
              </a:rPr>
              <a:t> and Pseudomonas.</a:t>
            </a:r>
          </a:p>
        </p:txBody>
      </p:sp>
    </p:spTree>
    <p:extLst>
      <p:ext uri="{BB962C8B-B14F-4D97-AF65-F5344CB8AC3E}">
        <p14:creationId xmlns:p14="http://schemas.microsoft.com/office/powerpoint/2010/main" val="601530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C563667-D0C8-40DE-B775-9C2E03AC2C36}"/>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Community assembly and measurement</a:t>
            </a:r>
          </a:p>
        </p:txBody>
      </p:sp>
      <p:sp>
        <p:nvSpPr>
          <p:cNvPr id="2" name="Rechteck 1">
            <a:extLst>
              <a:ext uri="{FF2B5EF4-FFF2-40B4-BE49-F238E27FC236}">
                <a16:creationId xmlns:a16="http://schemas.microsoft.com/office/drawing/2014/main" id="{8691C269-01D4-446F-A3A9-DFD7648DE702}"/>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6</a:t>
            </a:r>
          </a:p>
        </p:txBody>
      </p:sp>
      <p:graphicFrame>
        <p:nvGraphicFramePr>
          <p:cNvPr id="7" name="Tabelle 6"/>
          <p:cNvGraphicFramePr/>
          <p:nvPr>
            <p:extLst>
              <p:ext uri="{D42A27DB-BD31-4B8C-83A1-F6EECF244321}">
                <p14:modId xmlns:p14="http://schemas.microsoft.com/office/powerpoint/2010/main" val="3897848636"/>
              </p:ext>
            </p:extLst>
          </p:nvPr>
        </p:nvGraphicFramePr>
        <p:xfrm>
          <a:off x="666750" y="1600200"/>
          <a:ext cx="10858500" cy="3619500"/>
        </p:xfrm>
        <a:graphic>
          <a:graphicData uri="http://schemas.openxmlformats.org/drawingml/2006/table">
            <a:tbl>
              <a:tblPr/>
              <a:tblGrid>
                <a:gridCol w="36195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603250">
                <a:tc>
                  <a:txBody>
                    <a:bodyPr/>
                    <a:lstStyle/>
                    <a:p>
                      <a:r>
                        <a:rPr sz="1875" b="1">
                          <a:solidFill>
                            <a:srgbClr val="FFFFFF"/>
                          </a:solidFill>
                          <a:latin typeface="Helvetica Neue"/>
                          <a:ea typeface="Helvetica Neue"/>
                          <a:cs typeface="Helvetica Neue"/>
                        </a:rPr>
                        <a:t>Step</a:t>
                      </a:r>
                    </a:p>
                  </a:txBody>
                  <a:tcPr>
                    <a:solidFill>
                      <a:srgbClr val="172D3C"/>
                    </a:solidFill>
                  </a:tcPr>
                </a:tc>
                <a:tc>
                  <a:txBody>
                    <a:bodyPr/>
                    <a:lstStyle/>
                    <a:p>
                      <a:r>
                        <a:rPr sz="1875" b="1">
                          <a:solidFill>
                            <a:srgbClr val="FFFFFF"/>
                          </a:solidFill>
                          <a:latin typeface="Helvetica Neue"/>
                          <a:ea typeface="Helvetica Neue"/>
                          <a:cs typeface="Helvetica Neue"/>
                        </a:rPr>
                        <a:t>Implementation</a:t>
                      </a:r>
                    </a:p>
                  </a:txBody>
                  <a:tcPr>
                    <a:solidFill>
                      <a:srgbClr val="172D3C"/>
                    </a:solidFill>
                  </a:tcPr>
                </a:tc>
                <a:extLst>
                  <a:ext uri="{0D108BD9-81ED-4DB2-BD59-A6C34878D82A}">
                    <a16:rowId xmlns:a16="http://schemas.microsoft.com/office/drawing/2014/main" val="10000"/>
                  </a:ext>
                </a:extLst>
              </a:tr>
              <a:tr h="603250">
                <a:tc>
                  <a:txBody>
                    <a:bodyPr/>
                    <a:lstStyle/>
                    <a:p>
                      <a:r>
                        <a:rPr sz="1875" b="0">
                          <a:solidFill>
                            <a:srgbClr val="172D3C"/>
                          </a:solidFill>
                          <a:latin typeface="Helvetica Neue"/>
                          <a:ea typeface="Helvetica Neue"/>
                          <a:cs typeface="Helvetica Neue"/>
                        </a:rPr>
                        <a:t>Community design</a:t>
                      </a:r>
                    </a:p>
                  </a:txBody>
                  <a:tcPr>
                    <a:solidFill>
                      <a:srgbClr val="F1F4F6"/>
                    </a:solidFill>
                  </a:tcPr>
                </a:tc>
                <a:tc>
                  <a:txBody>
                    <a:bodyPr/>
                    <a:lstStyle/>
                    <a:p>
                      <a:r>
                        <a:rPr sz="1875" b="0">
                          <a:solidFill>
                            <a:srgbClr val="172D3C"/>
                          </a:solidFill>
                          <a:latin typeface="Helvetica Neue"/>
                          <a:ea typeface="Helvetica Neue"/>
                          <a:cs typeface="Helvetica Neue"/>
                        </a:rPr>
                        <a:t>102 compositions per plate, each in three wells</a:t>
                      </a:r>
                    </a:p>
                  </a:txBody>
                  <a:tcPr>
                    <a:solidFill>
                      <a:srgbClr val="F1F4F6"/>
                    </a:solidFill>
                  </a:tcPr>
                </a:tc>
                <a:extLst>
                  <a:ext uri="{0D108BD9-81ED-4DB2-BD59-A6C34878D82A}">
                    <a16:rowId xmlns:a16="http://schemas.microsoft.com/office/drawing/2014/main" val="10001"/>
                  </a:ext>
                </a:extLst>
              </a:tr>
              <a:tr h="603250">
                <a:tc>
                  <a:txBody>
                    <a:bodyPr/>
                    <a:lstStyle/>
                    <a:p>
                      <a:r>
                        <a:rPr lang="de-DE" sz="1875" b="0" dirty="0">
                          <a:solidFill>
                            <a:srgbClr val="172D3C"/>
                          </a:solidFill>
                          <a:latin typeface="Helvetica Neue"/>
                          <a:ea typeface="Helvetica Neue"/>
                          <a:cs typeface="Helvetica Neue"/>
                        </a:rPr>
                        <a:t>A</a:t>
                      </a:r>
                      <a:r>
                        <a:rPr sz="1875" b="0" dirty="0" err="1">
                          <a:solidFill>
                            <a:srgbClr val="172D3C"/>
                          </a:solidFill>
                          <a:latin typeface="Helvetica Neue"/>
                          <a:ea typeface="Helvetica Neue"/>
                          <a:cs typeface="Helvetica Neue"/>
                        </a:rPr>
                        <a:t>ssembly</a:t>
                      </a:r>
                      <a:endParaRPr sz="1875" b="0" dirty="0">
                        <a:solidFill>
                          <a:srgbClr val="172D3C"/>
                        </a:solidFill>
                        <a:latin typeface="Helvetica Neue"/>
                        <a:ea typeface="Helvetica Neue"/>
                        <a:cs typeface="Helvetica Neue"/>
                      </a:endParaRPr>
                    </a:p>
                  </a:txBody>
                  <a:tcPr>
                    <a:solidFill>
                      <a:srgbClr val="FFFFFF"/>
                    </a:solidFill>
                  </a:tcPr>
                </a:tc>
                <a:tc>
                  <a:txBody>
                    <a:bodyPr/>
                    <a:lstStyle/>
                    <a:p>
                      <a:r>
                        <a:rPr sz="1875" b="0">
                          <a:solidFill>
                            <a:srgbClr val="172D3C"/>
                          </a:solidFill>
                          <a:latin typeface="Helvetica Neue"/>
                          <a:ea typeface="Helvetica Neue"/>
                          <a:cs typeface="Helvetica Neue"/>
                        </a:rPr>
                        <a:t>OD-adjusted species doses, rounded to 25 nL</a:t>
                      </a:r>
                    </a:p>
                  </a:txBody>
                  <a:tcPr>
                    <a:solidFill>
                      <a:srgbClr val="FFFFFF"/>
                    </a:solidFill>
                  </a:tcPr>
                </a:tc>
                <a:extLst>
                  <a:ext uri="{0D108BD9-81ED-4DB2-BD59-A6C34878D82A}">
                    <a16:rowId xmlns:a16="http://schemas.microsoft.com/office/drawing/2014/main" val="10002"/>
                  </a:ext>
                </a:extLst>
              </a:tr>
              <a:tr h="603250">
                <a:tc>
                  <a:txBody>
                    <a:bodyPr/>
                    <a:lstStyle/>
                    <a:p>
                      <a:r>
                        <a:rPr sz="1875" b="0">
                          <a:solidFill>
                            <a:srgbClr val="172D3C"/>
                          </a:solidFill>
                          <a:latin typeface="Helvetica Neue"/>
                          <a:ea typeface="Helvetica Neue"/>
                          <a:cs typeface="Helvetica Neue"/>
                        </a:rPr>
                        <a:t>Starting dose</a:t>
                      </a:r>
                    </a:p>
                  </a:txBody>
                  <a:tcPr>
                    <a:solidFill>
                      <a:srgbClr val="F1F4F6"/>
                    </a:solidFill>
                  </a:tcPr>
                </a:tc>
                <a:tc>
                  <a:txBody>
                    <a:bodyPr/>
                    <a:lstStyle/>
                    <a:p>
                      <a:r>
                        <a:rPr sz="1875" b="0">
                          <a:solidFill>
                            <a:srgbClr val="172D3C"/>
                          </a:solidFill>
                          <a:latin typeface="Helvetica Neue"/>
                          <a:ea typeface="Helvetica Neue"/>
                          <a:cs typeface="Helvetica Neue"/>
                        </a:rPr>
                        <a:t>0.100 OD600·µL target per species</a:t>
                      </a:r>
                    </a:p>
                  </a:txBody>
                  <a:tcPr>
                    <a:solidFill>
                      <a:srgbClr val="F1F4F6"/>
                    </a:solidFill>
                  </a:tcPr>
                </a:tc>
                <a:extLst>
                  <a:ext uri="{0D108BD9-81ED-4DB2-BD59-A6C34878D82A}">
                    <a16:rowId xmlns:a16="http://schemas.microsoft.com/office/drawing/2014/main" val="10003"/>
                  </a:ext>
                </a:extLst>
              </a:tr>
              <a:tr h="603250">
                <a:tc>
                  <a:txBody>
                    <a:bodyPr/>
                    <a:lstStyle/>
                    <a:p>
                      <a:r>
                        <a:rPr sz="1875" b="0">
                          <a:solidFill>
                            <a:srgbClr val="172D3C"/>
                          </a:solidFill>
                          <a:latin typeface="Helvetica Neue"/>
                          <a:ea typeface="Helvetica Neue"/>
                          <a:cs typeface="Helvetica Neue"/>
                        </a:rPr>
                        <a:t>Culture volume</a:t>
                      </a:r>
                    </a:p>
                  </a:txBody>
                  <a:tcPr>
                    <a:solidFill>
                      <a:srgbClr val="FFFFFF"/>
                    </a:solidFill>
                  </a:tcPr>
                </a:tc>
                <a:tc>
                  <a:txBody>
                    <a:bodyPr/>
                    <a:lstStyle/>
                    <a:p>
                      <a:r>
                        <a:rPr sz="1875" b="0">
                          <a:solidFill>
                            <a:srgbClr val="172D3C"/>
                          </a:solidFill>
                          <a:latin typeface="Helvetica Neue"/>
                          <a:ea typeface="Helvetica Neue"/>
                          <a:cs typeface="Helvetica Neue"/>
                        </a:rPr>
                        <a:t>50 µL media plus bacterial inoculum</a:t>
                      </a:r>
                    </a:p>
                  </a:txBody>
                  <a:tcPr>
                    <a:solidFill>
                      <a:srgbClr val="FFFFFF"/>
                    </a:solidFill>
                  </a:tcPr>
                </a:tc>
                <a:extLst>
                  <a:ext uri="{0D108BD9-81ED-4DB2-BD59-A6C34878D82A}">
                    <a16:rowId xmlns:a16="http://schemas.microsoft.com/office/drawing/2014/main" val="10004"/>
                  </a:ext>
                </a:extLst>
              </a:tr>
              <a:tr h="603250">
                <a:tc>
                  <a:txBody>
                    <a:bodyPr/>
                    <a:lstStyle/>
                    <a:p>
                      <a:r>
                        <a:rPr sz="1875" b="0">
                          <a:solidFill>
                            <a:srgbClr val="172D3C"/>
                          </a:solidFill>
                          <a:latin typeface="Helvetica Neue"/>
                          <a:ea typeface="Helvetica Neue"/>
                          <a:cs typeface="Helvetica Neue"/>
                        </a:rPr>
                        <a:t>Readout</a:t>
                      </a:r>
                    </a:p>
                  </a:txBody>
                  <a:tcPr>
                    <a:solidFill>
                      <a:srgbClr val="F1F4F6"/>
                    </a:solidFill>
                  </a:tcPr>
                </a:tc>
                <a:tc>
                  <a:txBody>
                    <a:bodyPr/>
                    <a:lstStyle/>
                    <a:p>
                      <a:r>
                        <a:rPr sz="1875" b="0" dirty="0">
                          <a:solidFill>
                            <a:srgbClr val="172D3C"/>
                          </a:solidFill>
                          <a:latin typeface="Helvetica Neue"/>
                          <a:ea typeface="Helvetica Neue"/>
                          <a:cs typeface="Helvetica Neue"/>
                        </a:rPr>
                        <a:t>Colorimetric L-lactate assay on supernatant</a:t>
                      </a:r>
                    </a:p>
                  </a:txBody>
                  <a:tcPr>
                    <a:solidFill>
                      <a:srgbClr val="F1F4F6"/>
                    </a:solidFill>
                  </a:tcPr>
                </a:tc>
                <a:extLst>
                  <a:ext uri="{0D108BD9-81ED-4DB2-BD59-A6C34878D82A}">
                    <a16:rowId xmlns:a16="http://schemas.microsoft.com/office/drawing/2014/main" val="10005"/>
                  </a:ext>
                </a:extLst>
              </a:tr>
            </a:tbl>
          </a:graphicData>
        </a:graphic>
      </p:graphicFrame>
      <p:sp>
        <p:nvSpPr>
          <p:cNvPr id="4" name="Rechteck 3">
            <a:extLst>
              <a:ext uri="{FF2B5EF4-FFF2-40B4-BE49-F238E27FC236}">
                <a16:creationId xmlns:a16="http://schemas.microsoft.com/office/drawing/2014/main" id="{ED715CD1-9896-4180-93D0-FD30B9BAE40B}"/>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Measurement </a:t>
            </a:r>
            <a:r>
              <a:rPr lang="de-DE" sz="1650" b="0" dirty="0" err="1">
                <a:solidFill>
                  <a:srgbClr val="506574"/>
                </a:solidFill>
                <a:latin typeface="Helvetica Neue"/>
                <a:ea typeface="Helvetica Neue"/>
                <a:cs typeface="Helvetica Neue"/>
              </a:rPr>
              <a:t>of</a:t>
            </a:r>
            <a:r>
              <a:rPr lang="de-DE" sz="1650" b="0" dirty="0">
                <a:solidFill>
                  <a:srgbClr val="506574"/>
                </a:solidFill>
                <a:latin typeface="Helvetica Neue"/>
                <a:ea typeface="Helvetica Neue"/>
                <a:cs typeface="Helvetica Neue"/>
              </a:rPr>
              <a:t> </a:t>
            </a:r>
            <a:r>
              <a:rPr lang="de-DE" sz="1650" dirty="0">
                <a:solidFill>
                  <a:srgbClr val="506574"/>
                </a:solidFill>
                <a:latin typeface="Helvetica Neue"/>
                <a:ea typeface="Helvetica Neue"/>
                <a:cs typeface="Helvetica Neue"/>
              </a:rPr>
              <a:t>t</a:t>
            </a:r>
            <a:r>
              <a:rPr sz="1650" b="0" dirty="0" err="1">
                <a:solidFill>
                  <a:srgbClr val="506574"/>
                </a:solidFill>
                <a:latin typeface="Helvetica Neue"/>
                <a:ea typeface="Helvetica Neue"/>
                <a:cs typeface="Helvetica Neue"/>
              </a:rPr>
              <a:t>echnical</a:t>
            </a:r>
            <a:r>
              <a:rPr sz="1650" b="0" dirty="0">
                <a:solidFill>
                  <a:srgbClr val="506574"/>
                </a:solidFill>
                <a:latin typeface="Helvetica Neue"/>
                <a:ea typeface="Helvetica Neue"/>
                <a:cs typeface="Helvetica Neue"/>
              </a:rPr>
              <a:t> triplicates</a:t>
            </a:r>
            <a:r>
              <a:rPr lang="de-DE" sz="1650" b="0" dirty="0">
                <a:solidFill>
                  <a:srgbClr val="506574"/>
                </a:solidFill>
                <a:latin typeface="Helvetica Neue"/>
                <a:ea typeface="Helvetica Neue"/>
                <a:cs typeface="Helvetica Neue"/>
              </a:rPr>
              <a:t>.</a:t>
            </a: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153763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BD05E1D3-AE98-44EB-8EA3-D09686E6EC96}"/>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Incubation: oxygen supply and a 48h endpoint</a:t>
            </a:r>
          </a:p>
        </p:txBody>
      </p:sp>
      <p:sp>
        <p:nvSpPr>
          <p:cNvPr id="2" name="Rechteck 1">
            <a:extLst>
              <a:ext uri="{FF2B5EF4-FFF2-40B4-BE49-F238E27FC236}">
                <a16:creationId xmlns:a16="http://schemas.microsoft.com/office/drawing/2014/main" id="{8AB3AEB6-8F56-4971-99EB-06F03206C463}"/>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7</a:t>
            </a:r>
          </a:p>
        </p:txBody>
      </p:sp>
      <p:sp>
        <p:nvSpPr>
          <p:cNvPr id="3" name="Rechteck 2">
            <a:extLst>
              <a:ext uri="{FF2B5EF4-FFF2-40B4-BE49-F238E27FC236}">
                <a16:creationId xmlns:a16="http://schemas.microsoft.com/office/drawing/2014/main" id="{ABCA06AD-C381-4C02-99F1-B8690472E413}"/>
              </a:ext>
            </a:extLst>
          </p:cNvPr>
          <p:cNvSpPr>
            <a:spLocks noGrp="1"/>
          </p:cNvSpPr>
          <p:nvPr/>
        </p:nvSpPr>
        <p:spPr>
          <a:xfrm>
            <a:off x="704850" y="17145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dirty="0">
                <a:solidFill>
                  <a:srgbClr val="172D3C"/>
                </a:solidFill>
                <a:latin typeface="Helvetica Neue"/>
                <a:ea typeface="Helvetica Neue"/>
                <a:cs typeface="Helvetica Neue"/>
              </a:rPr>
              <a:t>Why </a:t>
            </a:r>
            <a:r>
              <a:rPr lang="de-DE" sz="2250" b="1" dirty="0" err="1">
                <a:solidFill>
                  <a:srgbClr val="172D3C"/>
                </a:solidFill>
                <a:latin typeface="Helvetica Neue"/>
                <a:ea typeface="Helvetica Neue"/>
                <a:cs typeface="Helvetica Neue"/>
              </a:rPr>
              <a:t>aerobic</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conditions</a:t>
            </a:r>
            <a:r>
              <a:rPr sz="2250" b="1" dirty="0">
                <a:solidFill>
                  <a:srgbClr val="172D3C"/>
                </a:solidFill>
                <a:latin typeface="Helvetica Neue"/>
                <a:ea typeface="Helvetica Neue"/>
                <a:cs typeface="Helvetica Neue"/>
              </a:rPr>
              <a:t>?</a:t>
            </a:r>
          </a:p>
        </p:txBody>
      </p:sp>
      <p:sp>
        <p:nvSpPr>
          <p:cNvPr id="4" name="Rechteck 3">
            <a:extLst>
              <a:ext uri="{FF2B5EF4-FFF2-40B4-BE49-F238E27FC236}">
                <a16:creationId xmlns:a16="http://schemas.microsoft.com/office/drawing/2014/main" id="{87ECADBE-9104-4365-894F-6F3EF8561692}"/>
              </a:ext>
            </a:extLst>
          </p:cNvPr>
          <p:cNvSpPr>
            <a:spLocks noGrp="1"/>
          </p:cNvSpPr>
          <p:nvPr/>
        </p:nvSpPr>
        <p:spPr>
          <a:xfrm>
            <a:off x="704850" y="22002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Respiration can remove surplus electrons from glycerol metabolism</a:t>
            </a:r>
            <a:r>
              <a:rPr lang="de-DE" sz="1950" b="0" dirty="0">
                <a:solidFill>
                  <a:srgbClr val="506574"/>
                </a:solidFill>
                <a:latin typeface="Helvetica Neue"/>
                <a:ea typeface="Helvetica Neue"/>
                <a:cs typeface="Helvetica Neue"/>
              </a:rPr>
              <a:t>, </a:t>
            </a:r>
            <a:r>
              <a:rPr sz="1950" b="0" dirty="0">
                <a:solidFill>
                  <a:srgbClr val="506574"/>
                </a:solidFill>
                <a:latin typeface="Helvetica Neue"/>
                <a:ea typeface="Helvetica Neue"/>
                <a:cs typeface="Helvetica Neue"/>
              </a:rPr>
              <a:t>LDH </a:t>
            </a:r>
            <a:r>
              <a:rPr sz="1950" b="0" dirty="0" err="1">
                <a:solidFill>
                  <a:srgbClr val="506574"/>
                </a:solidFill>
                <a:latin typeface="Helvetica Neue"/>
                <a:ea typeface="Helvetica Neue"/>
                <a:cs typeface="Helvetica Neue"/>
              </a:rPr>
              <a:t>conver</a:t>
            </a:r>
            <a:r>
              <a:rPr lang="de-DE" sz="1950" dirty="0" err="1">
                <a:solidFill>
                  <a:srgbClr val="506574"/>
                </a:solidFill>
                <a:latin typeface="Helvetica Neue"/>
                <a:ea typeface="Helvetica Neue"/>
                <a:cs typeface="Helvetica Neue"/>
              </a:rPr>
              <a:t>ts</a:t>
            </a:r>
            <a:r>
              <a:rPr sz="1950" b="0" dirty="0">
                <a:solidFill>
                  <a:srgbClr val="506574"/>
                </a:solidFill>
                <a:latin typeface="Helvetica Neue"/>
                <a:ea typeface="Helvetica Neue"/>
                <a:cs typeface="Helvetica Neue"/>
              </a:rPr>
              <a:t> pyruvate to lactate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as</a:t>
            </a:r>
            <a:r>
              <a:rPr lang="de-DE" sz="1950" b="0" dirty="0">
                <a:solidFill>
                  <a:srgbClr val="506574"/>
                </a:solidFill>
                <a:latin typeface="Helvetica Neue"/>
                <a:ea typeface="Helvetica Neue"/>
                <a:cs typeface="Helvetica Neue"/>
              </a:rPr>
              <a:t> an </a:t>
            </a:r>
            <a:r>
              <a:rPr lang="de-DE" sz="1950" b="0" dirty="0" err="1">
                <a:solidFill>
                  <a:srgbClr val="506574"/>
                </a:solidFill>
                <a:latin typeface="Helvetica Neue"/>
                <a:ea typeface="Helvetica Neue"/>
                <a:cs typeface="Helvetica Neue"/>
              </a:rPr>
              <a:t>electro</a:t>
            </a:r>
            <a:r>
              <a:rPr lang="de-DE" sz="1950" dirty="0" err="1">
                <a:solidFill>
                  <a:srgbClr val="506574"/>
                </a:solidFill>
                <a:latin typeface="Helvetica Neue"/>
                <a:ea typeface="Helvetica Neue"/>
                <a:cs typeface="Helvetica Neue"/>
              </a:rPr>
              <a:t>n</a:t>
            </a:r>
            <a:r>
              <a:rPr lang="de-DE" sz="1950" dirty="0">
                <a:solidFill>
                  <a:srgbClr val="506574"/>
                </a:solidFill>
                <a:latin typeface="Helvetica Neue"/>
                <a:ea typeface="Helvetica Neue"/>
                <a:cs typeface="Helvetica Neue"/>
              </a:rPr>
              <a:t> sink</a:t>
            </a:r>
            <a:r>
              <a:rPr sz="1950" b="0" dirty="0">
                <a:solidFill>
                  <a:srgbClr val="506574"/>
                </a:solidFill>
                <a:latin typeface="Helvetica Neue"/>
                <a:ea typeface="Helvetica Neue"/>
                <a:cs typeface="Helvetica Neue"/>
              </a:rPr>
              <a:t>.</a:t>
            </a:r>
          </a:p>
        </p:txBody>
      </p:sp>
      <p:sp>
        <p:nvSpPr>
          <p:cNvPr id="5" name="Rechteck 4">
            <a:extLst>
              <a:ext uri="{FF2B5EF4-FFF2-40B4-BE49-F238E27FC236}">
                <a16:creationId xmlns:a16="http://schemas.microsoft.com/office/drawing/2014/main" id="{987B05BD-62DB-4634-A595-150E2AF0AC34}"/>
              </a:ext>
            </a:extLst>
          </p:cNvPr>
          <p:cNvSpPr>
            <a:spLocks noGrp="1"/>
          </p:cNvSpPr>
          <p:nvPr/>
        </p:nvSpPr>
        <p:spPr>
          <a:xfrm>
            <a:off x="704850" y="3324225"/>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Why 48 hours?</a:t>
            </a:r>
          </a:p>
        </p:txBody>
      </p:sp>
      <p:sp>
        <p:nvSpPr>
          <p:cNvPr id="6" name="Rechteck 5">
            <a:extLst>
              <a:ext uri="{FF2B5EF4-FFF2-40B4-BE49-F238E27FC236}">
                <a16:creationId xmlns:a16="http://schemas.microsoft.com/office/drawing/2014/main" id="{44F97B15-2ACD-4295-85ED-C549049622C0}"/>
              </a:ext>
            </a:extLst>
          </p:cNvPr>
          <p:cNvSpPr>
            <a:spLocks noGrp="1"/>
          </p:cNvSpPr>
          <p:nvPr/>
        </p:nvSpPr>
        <p:spPr>
          <a:xfrm>
            <a:off x="704850" y="381000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lang="de-DE" sz="1950" b="0" dirty="0">
                <a:solidFill>
                  <a:srgbClr val="506574"/>
                </a:solidFill>
                <a:latin typeface="Helvetica Neue"/>
                <a:ea typeface="Helvetica Neue"/>
                <a:cs typeface="Helvetica Neue"/>
              </a:rPr>
              <a:t>Lactate </a:t>
            </a:r>
            <a:r>
              <a:rPr lang="de-DE" sz="1950" b="0" dirty="0" err="1">
                <a:solidFill>
                  <a:srgbClr val="506574"/>
                </a:solidFill>
                <a:latin typeface="Helvetica Neue"/>
                <a:ea typeface="Helvetica Neue"/>
                <a:cs typeface="Helvetica Neue"/>
              </a:rPr>
              <a:t>production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mainly</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happens</a:t>
            </a:r>
            <a:r>
              <a:rPr lang="de-DE" sz="1950" b="0" dirty="0">
                <a:solidFill>
                  <a:srgbClr val="506574"/>
                </a:solidFill>
                <a:latin typeface="Helvetica Neue"/>
                <a:ea typeface="Helvetica Neue"/>
                <a:cs typeface="Helvetica Neue"/>
              </a:rPr>
              <a:t> in </a:t>
            </a:r>
            <a:r>
              <a:rPr sz="1950" b="0" dirty="0">
                <a:solidFill>
                  <a:srgbClr val="506574"/>
                </a:solidFill>
                <a:latin typeface="Helvetica Neue"/>
                <a:ea typeface="Helvetica Neue"/>
                <a:cs typeface="Helvetica Neue"/>
              </a:rPr>
              <a:t>stationary-phase.</a:t>
            </a:r>
          </a:p>
        </p:txBody>
      </p:sp>
      <p:sp>
        <p:nvSpPr>
          <p:cNvPr id="7" name="Rechteck 6">
            <a:extLst>
              <a:ext uri="{FF2B5EF4-FFF2-40B4-BE49-F238E27FC236}">
                <a16:creationId xmlns:a16="http://schemas.microsoft.com/office/drawing/2014/main" id="{33047557-8430-4726-91AA-A78CB53F1D88}"/>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The screen measures accumulation after 48h.</a:t>
            </a:r>
          </a:p>
        </p:txBody>
      </p:sp>
    </p:spTree>
    <p:extLst>
      <p:ext uri="{BB962C8B-B14F-4D97-AF65-F5344CB8AC3E}">
        <p14:creationId xmlns:p14="http://schemas.microsoft.com/office/powerpoint/2010/main" val="76563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B1DDBAF7-FF85-4C7A-8A55-6015266E4430}"/>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Three rounds expanded the intended community space</a:t>
            </a:r>
          </a:p>
        </p:txBody>
      </p:sp>
      <p:sp>
        <p:nvSpPr>
          <p:cNvPr id="2" name="Rechteck 1">
            <a:extLst>
              <a:ext uri="{FF2B5EF4-FFF2-40B4-BE49-F238E27FC236}">
                <a16:creationId xmlns:a16="http://schemas.microsoft.com/office/drawing/2014/main" id="{D2595615-F84A-4954-B1A5-3721CC884C82}"/>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8</a:t>
            </a:r>
          </a:p>
        </p:txBody>
      </p:sp>
      <p:graphicFrame>
        <p:nvGraphicFramePr>
          <p:cNvPr id="8" name="Tabelle 7"/>
          <p:cNvGraphicFramePr/>
          <p:nvPr>
            <p:extLst>
              <p:ext uri="{D42A27DB-BD31-4B8C-83A1-F6EECF244321}">
                <p14:modId xmlns:p14="http://schemas.microsoft.com/office/powerpoint/2010/main" val="492904730"/>
              </p:ext>
            </p:extLst>
          </p:nvPr>
        </p:nvGraphicFramePr>
        <p:xfrm>
          <a:off x="666750" y="1838325"/>
          <a:ext cx="10858500" cy="2743200"/>
        </p:xfrm>
        <a:graphic>
          <a:graphicData uri="http://schemas.openxmlformats.org/drawingml/2006/table">
            <a:tbl>
              <a:tblPr/>
              <a:tblGrid>
                <a:gridCol w="233362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58102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85800">
                <a:tc>
                  <a:txBody>
                    <a:bodyPr/>
                    <a:lstStyle/>
                    <a:p>
                      <a:r>
                        <a:rPr sz="1875" b="1">
                          <a:solidFill>
                            <a:srgbClr val="FFFFFF"/>
                          </a:solidFill>
                          <a:latin typeface="Helvetica Neue"/>
                          <a:ea typeface="Helvetica Neue"/>
                          <a:cs typeface="Helvetica Neue"/>
                        </a:rPr>
                        <a:t>Readout date</a:t>
                      </a:r>
                    </a:p>
                  </a:txBody>
                  <a:tcPr>
                    <a:solidFill>
                      <a:srgbClr val="172D3C"/>
                    </a:solidFill>
                  </a:tcPr>
                </a:tc>
                <a:tc>
                  <a:txBody>
                    <a:bodyPr/>
                    <a:lstStyle/>
                    <a:p>
                      <a:r>
                        <a:rPr sz="1875" b="1">
                          <a:solidFill>
                            <a:srgbClr val="FFFFFF"/>
                          </a:solidFill>
                          <a:latin typeface="Helvetica Neue"/>
                          <a:ea typeface="Helvetica Neue"/>
                          <a:cs typeface="Helvetica Neue"/>
                        </a:rPr>
                        <a:t>Plates</a:t>
                      </a:r>
                    </a:p>
                  </a:txBody>
                  <a:tcPr>
                    <a:solidFill>
                      <a:srgbClr val="172D3C"/>
                    </a:solidFill>
                  </a:tcPr>
                </a:tc>
                <a:tc>
                  <a:txBody>
                    <a:bodyPr/>
                    <a:lstStyle/>
                    <a:p>
                      <a:r>
                        <a:rPr sz="1875" b="1">
                          <a:solidFill>
                            <a:srgbClr val="FFFFFF"/>
                          </a:solidFill>
                          <a:latin typeface="Helvetica Neue"/>
                          <a:ea typeface="Helvetica Neue"/>
                          <a:cs typeface="Helvetica Neue"/>
                        </a:rPr>
                        <a:t>Compositions in the round</a:t>
                      </a:r>
                    </a:p>
                  </a:txBody>
                  <a:tcPr>
                    <a:solidFill>
                      <a:srgbClr val="172D3C"/>
                    </a:solidFill>
                  </a:tcPr>
                </a:tc>
                <a:tc>
                  <a:txBody>
                    <a:bodyPr/>
                    <a:lstStyle/>
                    <a:p>
                      <a:r>
                        <a:rPr sz="1875" b="1">
                          <a:solidFill>
                            <a:srgbClr val="FFFFFF"/>
                          </a:solidFill>
                          <a:latin typeface="Helvetica Neue"/>
                          <a:ea typeface="Helvetica Neue"/>
                          <a:cs typeface="Helvetica Neue"/>
                        </a:rPr>
                        <a:t>Active species</a:t>
                      </a:r>
                    </a:p>
                  </a:txBody>
                  <a:tcPr>
                    <a:solidFill>
                      <a:srgbClr val="172D3C"/>
                    </a:solidFill>
                  </a:tcPr>
                </a:tc>
                <a:extLst>
                  <a:ext uri="{0D108BD9-81ED-4DB2-BD59-A6C34878D82A}">
                    <a16:rowId xmlns:a16="http://schemas.microsoft.com/office/drawing/2014/main" val="10000"/>
                  </a:ext>
                </a:extLst>
              </a:tr>
              <a:tr h="685800">
                <a:tc>
                  <a:txBody>
                    <a:bodyPr/>
                    <a:lstStyle/>
                    <a:p>
                      <a:r>
                        <a:rPr sz="1875" b="0">
                          <a:solidFill>
                            <a:srgbClr val="172D3C"/>
                          </a:solidFill>
                          <a:latin typeface="Helvetica Neue"/>
                          <a:ea typeface="Helvetica Neue"/>
                          <a:cs typeface="Helvetica Neue"/>
                        </a:rPr>
                        <a:t>30 August</a:t>
                      </a:r>
                    </a:p>
                  </a:txBody>
                  <a:tcPr>
                    <a:solidFill>
                      <a:srgbClr val="F1F4F6"/>
                    </a:solidFill>
                  </a:tcPr>
                </a:tc>
                <a:tc>
                  <a:txBody>
                    <a:bodyPr/>
                    <a:lstStyle/>
                    <a:p>
                      <a:r>
                        <a:rPr sz="1875" b="0">
                          <a:solidFill>
                            <a:srgbClr val="172D3C"/>
                          </a:solidFill>
                          <a:latin typeface="Helvetica Neue"/>
                          <a:ea typeface="Helvetica Neue"/>
                          <a:cs typeface="Helvetica Neue"/>
                        </a:rPr>
                        <a:t>1</a:t>
                      </a:r>
                    </a:p>
                  </a:txBody>
                  <a:tcPr>
                    <a:solidFill>
                      <a:srgbClr val="F1F4F6"/>
                    </a:solidFill>
                  </a:tcPr>
                </a:tc>
                <a:tc>
                  <a:txBody>
                    <a:bodyPr/>
                    <a:lstStyle/>
                    <a:p>
                      <a:r>
                        <a:rPr sz="1875" b="0">
                          <a:solidFill>
                            <a:srgbClr val="172D3C"/>
                          </a:solidFill>
                          <a:latin typeface="Helvetica Neue"/>
                          <a:ea typeface="Helvetica Neue"/>
                          <a:cs typeface="Helvetica Neue"/>
                        </a:rPr>
                        <a:t>102</a:t>
                      </a:r>
                    </a:p>
                  </a:txBody>
                  <a:tcPr>
                    <a:solidFill>
                      <a:srgbClr val="F1F4F6"/>
                    </a:solidFill>
                  </a:tcPr>
                </a:tc>
                <a:tc>
                  <a:txBody>
                    <a:bodyPr/>
                    <a:lstStyle/>
                    <a:p>
                      <a:r>
                        <a:rPr sz="1875" b="0">
                          <a:solidFill>
                            <a:srgbClr val="172D3C"/>
                          </a:solidFill>
                          <a:latin typeface="Helvetica Neue"/>
                          <a:ea typeface="Helvetica Neue"/>
                          <a:cs typeface="Helvetica Neue"/>
                        </a:rPr>
                        <a:t>13</a:t>
                      </a:r>
                    </a:p>
                  </a:txBody>
                  <a:tcPr>
                    <a:solidFill>
                      <a:srgbClr val="F1F4F6"/>
                    </a:solidFill>
                  </a:tcPr>
                </a:tc>
                <a:extLst>
                  <a:ext uri="{0D108BD9-81ED-4DB2-BD59-A6C34878D82A}">
                    <a16:rowId xmlns:a16="http://schemas.microsoft.com/office/drawing/2014/main" val="10001"/>
                  </a:ext>
                </a:extLst>
              </a:tr>
              <a:tr h="685800">
                <a:tc>
                  <a:txBody>
                    <a:bodyPr/>
                    <a:lstStyle/>
                    <a:p>
                      <a:r>
                        <a:rPr sz="1875" b="0">
                          <a:solidFill>
                            <a:srgbClr val="172D3C"/>
                          </a:solidFill>
                          <a:latin typeface="Helvetica Neue"/>
                          <a:ea typeface="Helvetica Neue"/>
                          <a:cs typeface="Helvetica Neue"/>
                        </a:rPr>
                        <a:t>4 September</a:t>
                      </a:r>
                    </a:p>
                  </a:txBody>
                  <a:tcPr>
                    <a:solidFill>
                      <a:srgbClr val="FFFFFF"/>
                    </a:solidFill>
                  </a:tcPr>
                </a:tc>
                <a:tc>
                  <a:txBody>
                    <a:bodyPr/>
                    <a:lstStyle/>
                    <a:p>
                      <a:r>
                        <a:rPr sz="1875" b="0">
                          <a:solidFill>
                            <a:srgbClr val="172D3C"/>
                          </a:solidFill>
                          <a:latin typeface="Helvetica Neue"/>
                          <a:ea typeface="Helvetica Neue"/>
                          <a:cs typeface="Helvetica Neue"/>
                        </a:rPr>
                        <a:t>4</a:t>
                      </a:r>
                    </a:p>
                  </a:txBody>
                  <a:tcPr>
                    <a:solidFill>
                      <a:srgbClr val="FFFFFF"/>
                    </a:solidFill>
                  </a:tcPr>
                </a:tc>
                <a:tc>
                  <a:txBody>
                    <a:bodyPr/>
                    <a:lstStyle/>
                    <a:p>
                      <a:r>
                        <a:rPr sz="1875" b="0" dirty="0">
                          <a:solidFill>
                            <a:srgbClr val="172D3C"/>
                          </a:solidFill>
                          <a:latin typeface="Helvetica Neue"/>
                          <a:ea typeface="Helvetica Neue"/>
                          <a:cs typeface="Helvetica Neue"/>
                        </a:rPr>
                        <a:t>408, including 54 repeats</a:t>
                      </a:r>
                      <a:r>
                        <a:rPr lang="de-DE" sz="1875" b="0" dirty="0">
                          <a:solidFill>
                            <a:srgbClr val="172D3C"/>
                          </a:solidFill>
                          <a:latin typeface="Helvetica Neue"/>
                          <a:ea typeface="Helvetica Neue"/>
                          <a:cs typeface="Helvetica Neue"/>
                        </a:rPr>
                        <a:t> (296 </a:t>
                      </a:r>
                      <a:r>
                        <a:rPr lang="de-DE" sz="1875" b="0" dirty="0" err="1">
                          <a:solidFill>
                            <a:srgbClr val="172D3C"/>
                          </a:solidFill>
                          <a:latin typeface="Helvetica Neue"/>
                          <a:ea typeface="Helvetica Neue"/>
                          <a:cs typeface="Helvetica Neue"/>
                        </a:rPr>
                        <a:t>missing</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from</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here</a:t>
                      </a:r>
                      <a:r>
                        <a:rPr lang="de-DE" sz="1875" b="0" dirty="0">
                          <a:solidFill>
                            <a:srgbClr val="172D3C"/>
                          </a:solidFill>
                          <a:latin typeface="Helvetica Neue"/>
                          <a:ea typeface="Helvetica Neue"/>
                          <a:cs typeface="Helvetica Neue"/>
                        </a:rPr>
                        <a:t> on)</a:t>
                      </a:r>
                      <a:endParaRPr sz="1875" b="0" dirty="0">
                        <a:solidFill>
                          <a:srgbClr val="172D3C"/>
                        </a:solidFill>
                        <a:latin typeface="Helvetica Neue"/>
                        <a:ea typeface="Helvetica Neue"/>
                        <a:cs typeface="Helvetica Neue"/>
                      </a:endParaRPr>
                    </a:p>
                  </a:txBody>
                  <a:tcPr>
                    <a:solidFill>
                      <a:srgbClr val="FFFFFF"/>
                    </a:solidFill>
                  </a:tcPr>
                </a:tc>
                <a:tc>
                  <a:txBody>
                    <a:bodyPr/>
                    <a:lstStyle/>
                    <a:p>
                      <a:r>
                        <a:rPr sz="1875" b="0">
                          <a:solidFill>
                            <a:srgbClr val="172D3C"/>
                          </a:solidFill>
                          <a:latin typeface="Helvetica Neue"/>
                          <a:ea typeface="Helvetica Neue"/>
                          <a:cs typeface="Helvetica Neue"/>
                        </a:rPr>
                        <a:t>12</a:t>
                      </a:r>
                    </a:p>
                  </a:txBody>
                  <a:tcPr>
                    <a:solidFill>
                      <a:srgbClr val="FFFFFF"/>
                    </a:solidFill>
                  </a:tcPr>
                </a:tc>
                <a:extLst>
                  <a:ext uri="{0D108BD9-81ED-4DB2-BD59-A6C34878D82A}">
                    <a16:rowId xmlns:a16="http://schemas.microsoft.com/office/drawing/2014/main" val="10002"/>
                  </a:ext>
                </a:extLst>
              </a:tr>
              <a:tr h="685800">
                <a:tc>
                  <a:txBody>
                    <a:bodyPr/>
                    <a:lstStyle/>
                    <a:p>
                      <a:r>
                        <a:rPr sz="1875" b="0">
                          <a:solidFill>
                            <a:srgbClr val="172D3C"/>
                          </a:solidFill>
                          <a:latin typeface="Helvetica Neue"/>
                          <a:ea typeface="Helvetica Neue"/>
                          <a:cs typeface="Helvetica Neue"/>
                        </a:rPr>
                        <a:t>11 September</a:t>
                      </a:r>
                    </a:p>
                  </a:txBody>
                  <a:tcPr>
                    <a:solidFill>
                      <a:srgbClr val="F1F4F6"/>
                    </a:solidFill>
                  </a:tcPr>
                </a:tc>
                <a:tc>
                  <a:txBody>
                    <a:bodyPr/>
                    <a:lstStyle/>
                    <a:p>
                      <a:r>
                        <a:rPr sz="1875" b="0">
                          <a:solidFill>
                            <a:srgbClr val="172D3C"/>
                          </a:solidFill>
                          <a:latin typeface="Helvetica Neue"/>
                          <a:ea typeface="Helvetica Neue"/>
                          <a:cs typeface="Helvetica Neue"/>
                        </a:rPr>
                        <a:t>4</a:t>
                      </a:r>
                    </a:p>
                  </a:txBody>
                  <a:tcPr>
                    <a:solidFill>
                      <a:srgbClr val="F1F4F6"/>
                    </a:solidFill>
                  </a:tcPr>
                </a:tc>
                <a:tc>
                  <a:txBody>
                    <a:bodyPr/>
                    <a:lstStyle/>
                    <a:p>
                      <a:r>
                        <a:rPr sz="1875" b="0">
                          <a:solidFill>
                            <a:srgbClr val="172D3C"/>
                          </a:solidFill>
                          <a:latin typeface="Helvetica Neue"/>
                          <a:ea typeface="Helvetica Neue"/>
                          <a:cs typeface="Helvetica Neue"/>
                        </a:rPr>
                        <a:t>408 new intended compositions</a:t>
                      </a:r>
                    </a:p>
                  </a:txBody>
                  <a:tcPr>
                    <a:solidFill>
                      <a:srgbClr val="F1F4F6"/>
                    </a:solidFill>
                  </a:tcPr>
                </a:tc>
                <a:tc>
                  <a:txBody>
                    <a:bodyPr/>
                    <a:lstStyle/>
                    <a:p>
                      <a:r>
                        <a:rPr sz="1875" b="0" dirty="0">
                          <a:solidFill>
                            <a:srgbClr val="172D3C"/>
                          </a:solidFill>
                          <a:latin typeface="Helvetica Neue"/>
                          <a:ea typeface="Helvetica Neue"/>
                          <a:cs typeface="Helvetica Neue"/>
                        </a:rPr>
                        <a:t>12</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6BB78507-2B38-412D-908F-0CEE8FF6376E}"/>
              </a:ext>
            </a:extLst>
          </p:cNvPr>
          <p:cNvSpPr>
            <a:spLocks noGrp="1"/>
          </p:cNvSpPr>
          <p:nvPr/>
        </p:nvSpPr>
        <p:spPr>
          <a:xfrm>
            <a:off x="723900" y="4972050"/>
            <a:ext cx="10572750" cy="495300"/>
          </a:xfrm>
          <a:prstGeom prst="rect">
            <a:avLst/>
          </a:prstGeom>
          <a:noFill/>
          <a:ln w="0">
            <a:noFill/>
          </a:ln>
        </p:spPr>
        <p:txBody>
          <a:bodyPr>
            <a:noAutofit/>
          </a:bodyPr>
          <a:lstStyle/>
          <a:p>
            <a:pPr>
              <a:defRPr sz="2700" b="1">
                <a:solidFill>
                  <a:srgbClr val="266B9B"/>
                </a:solidFill>
                <a:latin typeface="Helvetica Neue"/>
                <a:ea typeface="Helvetica Neue"/>
                <a:cs typeface="Helvetica Neue"/>
              </a:defRPr>
            </a:pPr>
            <a:r>
              <a:rPr sz="2700" b="1">
                <a:solidFill>
                  <a:srgbClr val="266B9B"/>
                </a:solidFill>
                <a:latin typeface="Helvetica Neue"/>
                <a:ea typeface="Helvetica Neue"/>
                <a:cs typeface="Helvetica Neue"/>
              </a:rPr>
              <a:t>864 distinct intended compositions</a:t>
            </a:r>
          </a:p>
        </p:txBody>
      </p:sp>
      <p:sp>
        <p:nvSpPr>
          <p:cNvPr id="5" name="Rechteck 4">
            <a:extLst>
              <a:ext uri="{FF2B5EF4-FFF2-40B4-BE49-F238E27FC236}">
                <a16:creationId xmlns:a16="http://schemas.microsoft.com/office/drawing/2014/main" id="{9017640D-55CE-495B-A074-AF8002E7E875}"/>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373054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E109E442-2119-47A1-83DB-EEE4AA6448CF}"/>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September 4 produced candidates supported by all three wells</a:t>
            </a:r>
          </a:p>
        </p:txBody>
      </p:sp>
      <p:sp>
        <p:nvSpPr>
          <p:cNvPr id="2" name="Rechteck 1">
            <a:extLst>
              <a:ext uri="{FF2B5EF4-FFF2-40B4-BE49-F238E27FC236}">
                <a16:creationId xmlns:a16="http://schemas.microsoft.com/office/drawing/2014/main" id="{88492001-A03E-45C0-B310-D7F0BC3C526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9</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C810FFE1-F4CB-4714-95F9-70043F490703}"/>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294 + 196 + 291 + 264: lowest community reading 0.529. Highest constituent-monoculture reading 0.258.</a:t>
            </a:r>
          </a:p>
        </p:txBody>
      </p:sp>
    </p:spTree>
    <p:extLst>
      <p:ext uri="{BB962C8B-B14F-4D97-AF65-F5344CB8AC3E}">
        <p14:creationId xmlns:p14="http://schemas.microsoft.com/office/powerpoint/2010/main" val="68806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17DA64B8-BF54-4A23-814C-7391315819B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candidate evidence still needs biological validation</a:t>
            </a:r>
          </a:p>
        </p:txBody>
      </p:sp>
      <p:sp>
        <p:nvSpPr>
          <p:cNvPr id="2" name="Rechteck 1">
            <a:extLst>
              <a:ext uri="{FF2B5EF4-FFF2-40B4-BE49-F238E27FC236}">
                <a16:creationId xmlns:a16="http://schemas.microsoft.com/office/drawing/2014/main" id="{1E5BD47E-D18A-4C0A-A497-87E50E05494B}"/>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10</a:t>
            </a:r>
          </a:p>
        </p:txBody>
      </p:sp>
      <p:sp>
        <p:nvSpPr>
          <p:cNvPr id="3" name="Rechteck 2">
            <a:extLst>
              <a:ext uri="{FF2B5EF4-FFF2-40B4-BE49-F238E27FC236}">
                <a16:creationId xmlns:a16="http://schemas.microsoft.com/office/drawing/2014/main" id="{4BC9194C-9368-49E0-8E1F-00B7C77BA182}"/>
              </a:ext>
            </a:extLst>
          </p:cNvPr>
          <p:cNvSpPr>
            <a:spLocks noGrp="1"/>
          </p:cNvSpPr>
          <p:nvPr/>
        </p:nvSpPr>
        <p:spPr>
          <a:xfrm>
            <a:off x="704850" y="17145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Supported observation</a:t>
            </a:r>
          </a:p>
        </p:txBody>
      </p:sp>
      <p:sp>
        <p:nvSpPr>
          <p:cNvPr id="4" name="Rechteck 3">
            <a:extLst>
              <a:ext uri="{FF2B5EF4-FFF2-40B4-BE49-F238E27FC236}">
                <a16:creationId xmlns:a16="http://schemas.microsoft.com/office/drawing/2014/main" id="{2A7552CC-196C-4E6D-8733-D9B47BD674AE}"/>
              </a:ext>
            </a:extLst>
          </p:cNvPr>
          <p:cNvSpPr>
            <a:spLocks noGrp="1"/>
          </p:cNvSpPr>
          <p:nvPr/>
        </p:nvSpPr>
        <p:spPr>
          <a:xfrm>
            <a:off x="704850" y="22002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four-member mixture exceeded its constituent monocultures in this assay.</a:t>
            </a:r>
          </a:p>
        </p:txBody>
      </p:sp>
      <p:sp>
        <p:nvSpPr>
          <p:cNvPr id="5" name="Rechteck 4">
            <a:extLst>
              <a:ext uri="{FF2B5EF4-FFF2-40B4-BE49-F238E27FC236}">
                <a16:creationId xmlns:a16="http://schemas.microsoft.com/office/drawing/2014/main" id="{67AC5C4C-1378-4934-8033-DE31101E5862}"/>
              </a:ext>
            </a:extLst>
          </p:cNvPr>
          <p:cNvSpPr>
            <a:spLocks noGrp="1"/>
          </p:cNvSpPr>
          <p:nvPr/>
        </p:nvSpPr>
        <p:spPr>
          <a:xfrm>
            <a:off x="704850" y="31242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dirty="0">
                <a:solidFill>
                  <a:srgbClr val="172D3C"/>
                </a:solidFill>
                <a:latin typeface="Helvetica Neue"/>
                <a:ea typeface="Helvetica Neue"/>
                <a:cs typeface="Helvetica Neue"/>
              </a:rPr>
              <a:t>Unresolved </a:t>
            </a:r>
            <a:r>
              <a:rPr lang="de-DE" sz="2250" b="1" dirty="0" err="1">
                <a:solidFill>
                  <a:srgbClr val="172D3C"/>
                </a:solidFill>
                <a:latin typeface="Helvetica Neue"/>
                <a:ea typeface="Helvetica Neue"/>
                <a:cs typeface="Helvetica Neue"/>
              </a:rPr>
              <a:t>issues</a:t>
            </a:r>
            <a:endParaRPr sz="2250" b="1" dirty="0">
              <a:solidFill>
                <a:srgbClr val="172D3C"/>
              </a:solidFill>
              <a:latin typeface="Helvetica Neue"/>
              <a:ea typeface="Helvetica Neue"/>
              <a:cs typeface="Helvetica Neue"/>
            </a:endParaRPr>
          </a:p>
        </p:txBody>
      </p:sp>
      <p:sp>
        <p:nvSpPr>
          <p:cNvPr id="6" name="Rechteck 5">
            <a:extLst>
              <a:ext uri="{FF2B5EF4-FFF2-40B4-BE49-F238E27FC236}">
                <a16:creationId xmlns:a16="http://schemas.microsoft.com/office/drawing/2014/main" id="{8C4EF91D-F7DC-450E-9C6A-49E95CF89BF6}"/>
              </a:ext>
            </a:extLst>
          </p:cNvPr>
          <p:cNvSpPr>
            <a:spLocks noGrp="1"/>
          </p:cNvSpPr>
          <p:nvPr/>
        </p:nvSpPr>
        <p:spPr>
          <a:xfrm>
            <a:off x="704850" y="36099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lang="de-DE" sz="1950" b="0" dirty="0">
                <a:solidFill>
                  <a:srgbClr val="506574"/>
                </a:solidFill>
                <a:latin typeface="Helvetica Neue"/>
                <a:ea typeface="Helvetica Neue"/>
                <a:cs typeface="Helvetica Neue"/>
              </a:rPr>
              <a:t>Error in source </a:t>
            </a:r>
            <a:r>
              <a:rPr lang="de-DE" sz="1950" b="0" dirty="0" err="1">
                <a:solidFill>
                  <a:srgbClr val="506574"/>
                </a:solidFill>
                <a:latin typeface="Helvetica Neue"/>
                <a:ea typeface="Helvetica Neue"/>
                <a:cs typeface="Helvetica Neue"/>
              </a:rPr>
              <a:t>plate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volume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requirements</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affects</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actual</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composition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of</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destination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plate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cultures</a:t>
            </a:r>
            <a:r>
              <a:rPr lang="de-DE" sz="1950" b="0" dirty="0">
                <a:solidFill>
                  <a:srgbClr val="506574"/>
                </a:solidFill>
                <a:latin typeface="Helvetica Neue"/>
                <a:ea typeface="Helvetica Neue"/>
                <a:cs typeface="Helvetica Neue"/>
              </a:rPr>
              <a:t> – will </a:t>
            </a:r>
            <a:r>
              <a:rPr lang="de-DE" sz="1950" b="0" dirty="0" err="1">
                <a:solidFill>
                  <a:srgbClr val="506574"/>
                </a:solidFill>
                <a:latin typeface="Helvetica Neue"/>
                <a:ea typeface="Helvetica Neue"/>
                <a:cs typeface="Helvetica Neue"/>
              </a:rPr>
              <a:t>attempt</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to</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resolve</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based</a:t>
            </a:r>
            <a:r>
              <a:rPr lang="de-DE" sz="1950" dirty="0">
                <a:solidFill>
                  <a:srgbClr val="506574"/>
                </a:solidFill>
                <a:latin typeface="Helvetica Neue"/>
                <a:ea typeface="Helvetica Neue"/>
                <a:cs typeface="Helvetica Neue"/>
              </a:rPr>
              <a:t> on echo </a:t>
            </a:r>
            <a:r>
              <a:rPr lang="de-DE" sz="1950" dirty="0" err="1">
                <a:solidFill>
                  <a:srgbClr val="506574"/>
                </a:solidFill>
                <a:latin typeface="Helvetica Neue"/>
                <a:ea typeface="Helvetica Neue"/>
                <a:cs typeface="Helvetica Neue"/>
              </a:rPr>
              <a:t>error</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output</a:t>
            </a:r>
            <a:r>
              <a:rPr lang="de-DE" sz="1950" dirty="0">
                <a:solidFill>
                  <a:srgbClr val="506574"/>
                </a:solidFill>
                <a:latin typeface="Helvetica Neue"/>
                <a:ea typeface="Helvetica Neue"/>
                <a:cs typeface="Helvetica Neue"/>
              </a:rPr>
              <a:t>.</a:t>
            </a:r>
            <a:endParaRPr sz="19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046381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53142371-11C2-4D2D-93BF-A20447BCF592}"/>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Four acquisition paths test different selection rules</a:t>
            </a:r>
          </a:p>
        </p:txBody>
      </p:sp>
      <p:sp>
        <p:nvSpPr>
          <p:cNvPr id="2" name="Rechteck 1">
            <a:extLst>
              <a:ext uri="{FF2B5EF4-FFF2-40B4-BE49-F238E27FC236}">
                <a16:creationId xmlns:a16="http://schemas.microsoft.com/office/drawing/2014/main" id="{287E235F-152C-49ED-8842-28AC7F25470E}"/>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11</a:t>
            </a:r>
          </a:p>
        </p:txBody>
      </p:sp>
      <p:graphicFrame>
        <p:nvGraphicFramePr>
          <p:cNvPr id="7" name="Tabelle 6"/>
          <p:cNvGraphicFramePr/>
          <p:nvPr>
            <p:extLst>
              <p:ext uri="{D42A27DB-BD31-4B8C-83A1-F6EECF244321}">
                <p14:modId xmlns:p14="http://schemas.microsoft.com/office/powerpoint/2010/main" val="2760386324"/>
              </p:ext>
            </p:extLst>
          </p:nvPr>
        </p:nvGraphicFramePr>
        <p:xfrm>
          <a:off x="666750" y="1657350"/>
          <a:ext cx="10858500" cy="3638550"/>
        </p:xfrm>
        <a:graphic>
          <a:graphicData uri="http://schemas.openxmlformats.org/drawingml/2006/table">
            <a:tbl>
              <a:tblPr/>
              <a:tblGrid>
                <a:gridCol w="9525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6762750">
                  <a:extLst>
                    <a:ext uri="{9D8B030D-6E8A-4147-A177-3AD203B41FA5}">
                      <a16:colId xmlns:a16="http://schemas.microsoft.com/office/drawing/2014/main" val="20002"/>
                    </a:ext>
                  </a:extLst>
                </a:gridCol>
              </a:tblGrid>
              <a:tr h="727710">
                <a:tc>
                  <a:txBody>
                    <a:bodyPr/>
                    <a:lstStyle/>
                    <a:p>
                      <a:r>
                        <a:rPr sz="1800" b="1">
                          <a:solidFill>
                            <a:srgbClr val="FFFFFF"/>
                          </a:solidFill>
                          <a:latin typeface="Helvetica Neue"/>
                          <a:ea typeface="Helvetica Neue"/>
                          <a:cs typeface="Helvetica Neue"/>
                        </a:rPr>
                        <a:t>Plate</a:t>
                      </a:r>
                    </a:p>
                  </a:txBody>
                  <a:tcPr>
                    <a:solidFill>
                      <a:srgbClr val="172D3C"/>
                    </a:solidFill>
                  </a:tcPr>
                </a:tc>
                <a:tc>
                  <a:txBody>
                    <a:bodyPr/>
                    <a:lstStyle/>
                    <a:p>
                      <a:r>
                        <a:rPr sz="1800" b="1">
                          <a:solidFill>
                            <a:srgbClr val="FFFFFF"/>
                          </a:solidFill>
                          <a:latin typeface="Helvetica Neue"/>
                          <a:ea typeface="Helvetica Neue"/>
                          <a:cs typeface="Helvetica Neue"/>
                        </a:rPr>
                        <a:t>Path</a:t>
                      </a:r>
                    </a:p>
                  </a:txBody>
                  <a:tcPr>
                    <a:solidFill>
                      <a:srgbClr val="172D3C"/>
                    </a:solidFill>
                  </a:tcPr>
                </a:tc>
                <a:tc>
                  <a:txBody>
                    <a:bodyPr/>
                    <a:lstStyle/>
                    <a:p>
                      <a:r>
                        <a:rPr sz="1800" b="1">
                          <a:solidFill>
                            <a:srgbClr val="FFFFFF"/>
                          </a:solidFill>
                          <a:latin typeface="Helvetica Neue"/>
                          <a:ea typeface="Helvetica Neue"/>
                          <a:cs typeface="Helvetica Neue"/>
                        </a:rPr>
                        <a:t>Selection criterion</a:t>
                      </a:r>
                    </a:p>
                  </a:txBody>
                  <a:tcPr>
                    <a:solidFill>
                      <a:srgbClr val="172D3C"/>
                    </a:solidFill>
                  </a:tcPr>
                </a:tc>
                <a:extLst>
                  <a:ext uri="{0D108BD9-81ED-4DB2-BD59-A6C34878D82A}">
                    <a16:rowId xmlns:a16="http://schemas.microsoft.com/office/drawing/2014/main" val="10000"/>
                  </a:ext>
                </a:extLst>
              </a:tr>
              <a:tr h="727710">
                <a:tc>
                  <a:txBody>
                    <a:bodyPr/>
                    <a:lstStyle/>
                    <a:p>
                      <a:r>
                        <a:rPr sz="1800" b="0">
                          <a:solidFill>
                            <a:srgbClr val="172D3C"/>
                          </a:solidFill>
                          <a:latin typeface="Helvetica Neue"/>
                          <a:ea typeface="Helvetica Neue"/>
                          <a:cs typeface="Helvetica Neue"/>
                        </a:rPr>
                        <a:t>1</a:t>
                      </a:r>
                    </a:p>
                  </a:txBody>
                  <a:tcPr>
                    <a:solidFill>
                      <a:srgbClr val="F1F4F6"/>
                    </a:solidFill>
                  </a:tcPr>
                </a:tc>
                <a:tc>
                  <a:txBody>
                    <a:bodyPr/>
                    <a:lstStyle/>
                    <a:p>
                      <a:r>
                        <a:rPr lang="de-DE" sz="1800" b="0" dirty="0" err="1">
                          <a:solidFill>
                            <a:srgbClr val="172D3C"/>
                          </a:solidFill>
                          <a:latin typeface="Helvetica Neue"/>
                          <a:ea typeface="Helvetica Neue"/>
                          <a:cs typeface="Helvetica Neue"/>
                        </a:rPr>
                        <a:t>Bayesian</a:t>
                      </a:r>
                      <a:r>
                        <a:rPr lang="de-DE" sz="1800" b="0" dirty="0">
                          <a:solidFill>
                            <a:srgbClr val="172D3C"/>
                          </a:solidFill>
                          <a:latin typeface="Helvetica Neue"/>
                          <a:ea typeface="Helvetica Neue"/>
                          <a:cs typeface="Helvetica Neue"/>
                        </a:rPr>
                        <a:t> </a:t>
                      </a:r>
                      <a:r>
                        <a:rPr lang="de-DE" sz="1800" b="0" dirty="0" err="1">
                          <a:solidFill>
                            <a:srgbClr val="172D3C"/>
                          </a:solidFill>
                          <a:latin typeface="Helvetica Neue"/>
                          <a:ea typeface="Helvetica Neue"/>
                          <a:cs typeface="Helvetica Neue"/>
                        </a:rPr>
                        <a:t>e</a:t>
                      </a:r>
                      <a:r>
                        <a:rPr sz="1800" b="0" dirty="0" err="1">
                          <a:solidFill>
                            <a:srgbClr val="172D3C"/>
                          </a:solidFill>
                          <a:latin typeface="Helvetica Neue"/>
                          <a:ea typeface="Helvetica Neue"/>
                          <a:cs typeface="Helvetica Neue"/>
                        </a:rPr>
                        <a:t>xpected</a:t>
                      </a:r>
                      <a:r>
                        <a:rPr sz="1800" b="0" dirty="0">
                          <a:solidFill>
                            <a:srgbClr val="172D3C"/>
                          </a:solidFill>
                          <a:latin typeface="Helvetica Neue"/>
                          <a:ea typeface="Helvetica Neue"/>
                          <a:cs typeface="Helvetica Neue"/>
                        </a:rPr>
                        <a:t> improvement</a:t>
                      </a:r>
                    </a:p>
                  </a:txBody>
                  <a:tcPr>
                    <a:solidFill>
                      <a:srgbClr val="F1F4F6"/>
                    </a:solidFill>
                  </a:tcPr>
                </a:tc>
                <a:tc>
                  <a:txBody>
                    <a:bodyPr/>
                    <a:lstStyle/>
                    <a:p>
                      <a:r>
                        <a:rPr sz="1800" b="0">
                          <a:solidFill>
                            <a:srgbClr val="172D3C"/>
                          </a:solidFill>
                          <a:latin typeface="Helvetica Neue"/>
                          <a:ea typeface="Helvetica Neue"/>
                          <a:cs typeface="Helvetica Neue"/>
                        </a:rPr>
                        <a:t>Predicted improvement, accounting for uncertainty</a:t>
                      </a:r>
                    </a:p>
                  </a:txBody>
                  <a:tcPr>
                    <a:solidFill>
                      <a:srgbClr val="F1F4F6"/>
                    </a:solidFill>
                  </a:tcPr>
                </a:tc>
                <a:extLst>
                  <a:ext uri="{0D108BD9-81ED-4DB2-BD59-A6C34878D82A}">
                    <a16:rowId xmlns:a16="http://schemas.microsoft.com/office/drawing/2014/main" val="10001"/>
                  </a:ext>
                </a:extLst>
              </a:tr>
              <a:tr h="727710">
                <a:tc>
                  <a:txBody>
                    <a:bodyPr/>
                    <a:lstStyle/>
                    <a:p>
                      <a:r>
                        <a:rPr sz="1800" b="0">
                          <a:solidFill>
                            <a:srgbClr val="172D3C"/>
                          </a:solidFill>
                          <a:latin typeface="Helvetica Neue"/>
                          <a:ea typeface="Helvetica Neue"/>
                          <a:cs typeface="Helvetica Neue"/>
                        </a:rPr>
                        <a:t>2</a:t>
                      </a:r>
                    </a:p>
                  </a:txBody>
                  <a:tcPr>
                    <a:solidFill>
                      <a:srgbClr val="FFFFFF"/>
                    </a:solidFill>
                  </a:tcPr>
                </a:tc>
                <a:tc>
                  <a:txBody>
                    <a:bodyPr/>
                    <a:lstStyle/>
                    <a:p>
                      <a:r>
                        <a:rPr sz="1800" b="0">
                          <a:solidFill>
                            <a:srgbClr val="172D3C"/>
                          </a:solidFill>
                          <a:latin typeface="Helvetica Neue"/>
                          <a:ea typeface="Helvetica Neue"/>
                          <a:cs typeface="Helvetica Neue"/>
                        </a:rPr>
                        <a:t>Continued max diversity</a:t>
                      </a:r>
                    </a:p>
                  </a:txBody>
                  <a:tcPr>
                    <a:solidFill>
                      <a:srgbClr val="FFFFFF"/>
                    </a:solidFill>
                  </a:tcPr>
                </a:tc>
                <a:tc>
                  <a:txBody>
                    <a:bodyPr/>
                    <a:lstStyle/>
                    <a:p>
                      <a:r>
                        <a:rPr sz="1800" b="0">
                          <a:solidFill>
                            <a:srgbClr val="172D3C"/>
                          </a:solidFill>
                          <a:latin typeface="Helvetica Neue"/>
                          <a:ea typeface="Helvetica Neue"/>
                          <a:cs typeface="Helvetica Neue"/>
                        </a:rPr>
                        <a:t>Spread across compositions and richness</a:t>
                      </a:r>
                    </a:p>
                  </a:txBody>
                  <a:tcPr>
                    <a:solidFill>
                      <a:srgbClr val="FFFFFF"/>
                    </a:solidFill>
                  </a:tcPr>
                </a:tc>
                <a:extLst>
                  <a:ext uri="{0D108BD9-81ED-4DB2-BD59-A6C34878D82A}">
                    <a16:rowId xmlns:a16="http://schemas.microsoft.com/office/drawing/2014/main" val="10002"/>
                  </a:ext>
                </a:extLst>
              </a:tr>
              <a:tr h="727710">
                <a:tc>
                  <a:txBody>
                    <a:bodyPr/>
                    <a:lstStyle/>
                    <a:p>
                      <a:r>
                        <a:rPr sz="1800" b="0">
                          <a:solidFill>
                            <a:srgbClr val="172D3C"/>
                          </a:solidFill>
                          <a:latin typeface="Helvetica Neue"/>
                          <a:ea typeface="Helvetica Neue"/>
                          <a:cs typeface="Helvetica Neue"/>
                        </a:rPr>
                        <a:t>3</a:t>
                      </a:r>
                    </a:p>
                  </a:txBody>
                  <a:tcPr>
                    <a:solidFill>
                      <a:srgbClr val="F1F4F6"/>
                    </a:solidFill>
                  </a:tcPr>
                </a:tc>
                <a:tc>
                  <a:txBody>
                    <a:bodyPr/>
                    <a:lstStyle/>
                    <a:p>
                      <a:r>
                        <a:rPr lang="de-DE" sz="1800" b="0" dirty="0" err="1">
                          <a:solidFill>
                            <a:srgbClr val="172D3C"/>
                          </a:solidFill>
                          <a:latin typeface="Helvetica Neue"/>
                          <a:ea typeface="Helvetica Neue"/>
                          <a:cs typeface="Helvetica Neue"/>
                        </a:rPr>
                        <a:t>Bayesian</a:t>
                      </a:r>
                      <a:r>
                        <a:rPr lang="de-DE" sz="1800" b="0" dirty="0">
                          <a:solidFill>
                            <a:srgbClr val="172D3C"/>
                          </a:solidFill>
                          <a:latin typeface="Helvetica Neue"/>
                          <a:ea typeface="Helvetica Neue"/>
                          <a:cs typeface="Helvetica Neue"/>
                        </a:rPr>
                        <a:t> p</a:t>
                      </a:r>
                      <a:r>
                        <a:rPr sz="1800" b="0" dirty="0" err="1">
                          <a:solidFill>
                            <a:srgbClr val="172D3C"/>
                          </a:solidFill>
                          <a:latin typeface="Helvetica Neue"/>
                          <a:ea typeface="Helvetica Neue"/>
                          <a:cs typeface="Helvetica Neue"/>
                        </a:rPr>
                        <a:t>osterior</a:t>
                      </a:r>
                      <a:r>
                        <a:rPr sz="1800" b="0" dirty="0">
                          <a:solidFill>
                            <a:srgbClr val="172D3C"/>
                          </a:solidFill>
                          <a:latin typeface="Helvetica Neue"/>
                          <a:ea typeface="Helvetica Neue"/>
                          <a:cs typeface="Helvetica Neue"/>
                        </a:rPr>
                        <a:t> mean</a:t>
                      </a:r>
                    </a:p>
                  </a:txBody>
                  <a:tcPr>
                    <a:solidFill>
                      <a:srgbClr val="F1F4F6"/>
                    </a:solidFill>
                  </a:tcPr>
                </a:tc>
                <a:tc>
                  <a:txBody>
                    <a:bodyPr/>
                    <a:lstStyle/>
                    <a:p>
                      <a:r>
                        <a:rPr sz="1800" b="0">
                          <a:solidFill>
                            <a:srgbClr val="172D3C"/>
                          </a:solidFill>
                          <a:latin typeface="Helvetica Neue"/>
                          <a:ea typeface="Helvetica Neue"/>
                          <a:cs typeface="Helvetica Neue"/>
                        </a:rPr>
                        <a:t>Highest predicted response</a:t>
                      </a:r>
                    </a:p>
                  </a:txBody>
                  <a:tcPr>
                    <a:solidFill>
                      <a:srgbClr val="F1F4F6"/>
                    </a:solidFill>
                  </a:tcPr>
                </a:tc>
                <a:extLst>
                  <a:ext uri="{0D108BD9-81ED-4DB2-BD59-A6C34878D82A}">
                    <a16:rowId xmlns:a16="http://schemas.microsoft.com/office/drawing/2014/main" val="10003"/>
                  </a:ext>
                </a:extLst>
              </a:tr>
              <a:tr h="727710">
                <a:tc>
                  <a:txBody>
                    <a:bodyPr/>
                    <a:lstStyle/>
                    <a:p>
                      <a:r>
                        <a:rPr sz="1800" b="0">
                          <a:solidFill>
                            <a:srgbClr val="172D3C"/>
                          </a:solidFill>
                          <a:latin typeface="Helvetica Neue"/>
                          <a:ea typeface="Helvetica Neue"/>
                          <a:cs typeface="Helvetica Neue"/>
                        </a:rPr>
                        <a:t>4</a:t>
                      </a:r>
                    </a:p>
                  </a:txBody>
                  <a:tcPr>
                    <a:solidFill>
                      <a:srgbClr val="FFFFFF"/>
                    </a:solidFill>
                  </a:tcPr>
                </a:tc>
                <a:tc>
                  <a:txBody>
                    <a:bodyPr/>
                    <a:lstStyle/>
                    <a:p>
                      <a:r>
                        <a:rPr sz="1800" b="0">
                          <a:solidFill>
                            <a:srgbClr val="172D3C"/>
                          </a:solidFill>
                          <a:latin typeface="Helvetica Neue"/>
                          <a:ea typeface="Helvetica Neue"/>
                          <a:cs typeface="Helvetica Neue"/>
                        </a:rPr>
                        <a:t>Random</a:t>
                      </a:r>
                    </a:p>
                  </a:txBody>
                  <a:tcPr>
                    <a:solidFill>
                      <a:srgbClr val="FFFFFF"/>
                    </a:solidFill>
                  </a:tcPr>
                </a:tc>
                <a:tc>
                  <a:txBody>
                    <a:bodyPr/>
                    <a:lstStyle/>
                    <a:p>
                      <a:r>
                        <a:rPr sz="1800" b="0" dirty="0">
                          <a:solidFill>
                            <a:srgbClr val="172D3C"/>
                          </a:solidFill>
                          <a:latin typeface="Helvetica Neue"/>
                          <a:ea typeface="Helvetica Neue"/>
                          <a:cs typeface="Helvetica Neue"/>
                        </a:rPr>
                        <a:t>Uniform sample from remaining unseen compositions</a:t>
                      </a:r>
                    </a:p>
                  </a:txBody>
                  <a:tcPr>
                    <a:solidFill>
                      <a:srgbClr val="FFFFFF"/>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6619C540-30FA-4D9B-8929-7C8E9CE4DA30}"/>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Each path gets 102 compositions in triplicate. </a:t>
            </a:r>
          </a:p>
        </p:txBody>
      </p:sp>
    </p:spTree>
    <p:extLst>
      <p:ext uri="{BB962C8B-B14F-4D97-AF65-F5344CB8AC3E}">
        <p14:creationId xmlns:p14="http://schemas.microsoft.com/office/powerpoint/2010/main" val="2098771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03D5E76-3953-4C73-B4A9-4BDC5F3418EF}"/>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latest models have separate acquisition histories</a:t>
            </a:r>
          </a:p>
        </p:txBody>
      </p:sp>
      <p:sp>
        <p:nvSpPr>
          <p:cNvPr id="2" name="Rechteck 1">
            <a:extLst>
              <a:ext uri="{FF2B5EF4-FFF2-40B4-BE49-F238E27FC236}">
                <a16:creationId xmlns:a16="http://schemas.microsoft.com/office/drawing/2014/main" id="{E4A53730-A5FE-4AE8-BCD2-52F699AB57E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12</a:t>
            </a:r>
          </a:p>
        </p:txBody>
      </p:sp>
      <p:graphicFrame>
        <p:nvGraphicFramePr>
          <p:cNvPr id="7" name="Tabelle 6"/>
          <p:cNvGraphicFramePr/>
          <p:nvPr>
            <p:extLst>
              <p:ext uri="{D42A27DB-BD31-4B8C-83A1-F6EECF244321}">
                <p14:modId xmlns:p14="http://schemas.microsoft.com/office/powerpoint/2010/main" val="1432379334"/>
              </p:ext>
            </p:extLst>
          </p:nvPr>
        </p:nvGraphicFramePr>
        <p:xfrm>
          <a:off x="666750" y="1847850"/>
          <a:ext cx="10858500" cy="2886076"/>
        </p:xfrm>
        <a:graphic>
          <a:graphicData uri="http://schemas.openxmlformats.org/drawingml/2006/table">
            <a:tbl>
              <a:tblPr/>
              <a:tblGrid>
                <a:gridCol w="619125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tblGrid>
              <a:tr h="721519">
                <a:tc>
                  <a:txBody>
                    <a:bodyPr/>
                    <a:lstStyle/>
                    <a:p>
                      <a:r>
                        <a:rPr sz="1950" b="1">
                          <a:solidFill>
                            <a:srgbClr val="FFFFFF"/>
                          </a:solidFill>
                          <a:latin typeface="Helvetica Neue"/>
                          <a:ea typeface="Helvetica Neue"/>
                          <a:cs typeface="Helvetica Neue"/>
                        </a:rPr>
                        <a:t>Training data</a:t>
                      </a:r>
                    </a:p>
                  </a:txBody>
                  <a:tcPr>
                    <a:solidFill>
                      <a:srgbClr val="172D3C"/>
                    </a:solidFill>
                  </a:tcPr>
                </a:tc>
                <a:tc>
                  <a:txBody>
                    <a:bodyPr/>
                    <a:lstStyle/>
                    <a:p>
                      <a:r>
                        <a:rPr sz="1950" b="1">
                          <a:solidFill>
                            <a:srgbClr val="FFFFFF"/>
                          </a:solidFill>
                          <a:latin typeface="Helvetica Neue"/>
                          <a:ea typeface="Helvetica Neue"/>
                          <a:cs typeface="Helvetica Neue"/>
                        </a:rPr>
                        <a:t>EI model</a:t>
                      </a:r>
                    </a:p>
                  </a:txBody>
                  <a:tcPr>
                    <a:solidFill>
                      <a:srgbClr val="172D3C"/>
                    </a:solidFill>
                  </a:tcPr>
                </a:tc>
                <a:tc>
                  <a:txBody>
                    <a:bodyPr/>
                    <a:lstStyle/>
                    <a:p>
                      <a:r>
                        <a:rPr sz="1950" b="1">
                          <a:solidFill>
                            <a:srgbClr val="FFFFFF"/>
                          </a:solidFill>
                          <a:latin typeface="Helvetica Neue"/>
                          <a:ea typeface="Helvetica Neue"/>
                          <a:cs typeface="Helvetica Neue"/>
                        </a:rPr>
                        <a:t>Posterior-mean model</a:t>
                      </a:r>
                    </a:p>
                  </a:txBody>
                  <a:tcPr>
                    <a:solidFill>
                      <a:srgbClr val="172D3C"/>
                    </a:solidFill>
                  </a:tcPr>
                </a:tc>
                <a:extLst>
                  <a:ext uri="{0D108BD9-81ED-4DB2-BD59-A6C34878D82A}">
                    <a16:rowId xmlns:a16="http://schemas.microsoft.com/office/drawing/2014/main" val="10000"/>
                  </a:ext>
                </a:extLst>
              </a:tr>
              <a:tr h="721519">
                <a:tc>
                  <a:txBody>
                    <a:bodyPr/>
                    <a:lstStyle/>
                    <a:p>
                      <a:r>
                        <a:rPr sz="1950" b="0" dirty="0">
                          <a:solidFill>
                            <a:srgbClr val="172D3C"/>
                          </a:solidFill>
                          <a:latin typeface="Helvetica Neue"/>
                          <a:ea typeface="Helvetica Neue"/>
                          <a:cs typeface="Helvetica Neue"/>
                        </a:rPr>
                        <a:t>Shared max-diversity observations</a:t>
                      </a:r>
                      <a:r>
                        <a:rPr lang="de-DE" sz="1950" b="0" dirty="0">
                          <a:solidFill>
                            <a:srgbClr val="172D3C"/>
                          </a:solidFill>
                          <a:latin typeface="Helvetica Neue"/>
                          <a:ea typeface="Helvetica Neue"/>
                          <a:cs typeface="Helvetica Neue"/>
                        </a:rPr>
                        <a:t> (</a:t>
                      </a:r>
                      <a:r>
                        <a:rPr lang="de-DE" sz="1950" b="0" dirty="0" err="1">
                          <a:solidFill>
                            <a:srgbClr val="172D3C"/>
                          </a:solidFill>
                          <a:latin typeface="Helvetica Neue"/>
                          <a:ea typeface="Helvetica Neue"/>
                          <a:cs typeface="Helvetica Neue"/>
                        </a:rPr>
                        <a:t>first</a:t>
                      </a:r>
                      <a:r>
                        <a:rPr lang="de-DE" sz="1950" b="0" dirty="0">
                          <a:solidFill>
                            <a:srgbClr val="172D3C"/>
                          </a:solidFill>
                          <a:latin typeface="Helvetica Neue"/>
                          <a:ea typeface="Helvetica Neue"/>
                          <a:cs typeface="Helvetica Neue"/>
                        </a:rPr>
                        <a:t> </a:t>
                      </a:r>
                      <a:r>
                        <a:rPr lang="de-DE" sz="1950" b="0" dirty="0" err="1">
                          <a:solidFill>
                            <a:srgbClr val="172D3C"/>
                          </a:solidFill>
                          <a:latin typeface="Helvetica Neue"/>
                          <a:ea typeface="Helvetica Neue"/>
                          <a:cs typeface="Helvetica Neue"/>
                        </a:rPr>
                        <a:t>round</a:t>
                      </a:r>
                      <a:r>
                        <a:rPr lang="de-DE" sz="1950" b="0" dirty="0">
                          <a:solidFill>
                            <a:srgbClr val="172D3C"/>
                          </a:solidFill>
                          <a:latin typeface="Helvetica Neue"/>
                          <a:ea typeface="Helvetica Neue"/>
                          <a:cs typeface="Helvetica Neue"/>
                        </a:rPr>
                        <a:t> + </a:t>
                      </a:r>
                      <a:r>
                        <a:rPr lang="de-DE" sz="1950" b="0" dirty="0" err="1">
                          <a:solidFill>
                            <a:srgbClr val="172D3C"/>
                          </a:solidFill>
                          <a:latin typeface="Helvetica Neue"/>
                          <a:ea typeface="Helvetica Neue"/>
                          <a:cs typeface="Helvetica Neue"/>
                        </a:rPr>
                        <a:t>repeat</a:t>
                      </a:r>
                      <a:r>
                        <a:rPr lang="de-DE" sz="1950" b="0" dirty="0">
                          <a:solidFill>
                            <a:srgbClr val="172D3C"/>
                          </a:solidFill>
                          <a:latin typeface="Helvetica Neue"/>
                          <a:ea typeface="Helvetica Neue"/>
                          <a:cs typeface="Helvetica Neue"/>
                        </a:rPr>
                        <a:t>)</a:t>
                      </a:r>
                      <a:endParaRPr sz="1950" b="0" dirty="0">
                        <a:solidFill>
                          <a:srgbClr val="172D3C"/>
                        </a:solidFill>
                        <a:latin typeface="Helvetica Neue"/>
                        <a:ea typeface="Helvetica Neue"/>
                        <a:cs typeface="Helvetica Neue"/>
                      </a:endParaRPr>
                    </a:p>
                  </a:txBody>
                  <a:tcPr>
                    <a:solidFill>
                      <a:srgbClr val="F1F4F6"/>
                    </a:solidFill>
                  </a:tcPr>
                </a:tc>
                <a:tc>
                  <a:txBody>
                    <a:bodyPr/>
                    <a:lstStyle/>
                    <a:p>
                      <a:r>
                        <a:rPr sz="1950" b="0">
                          <a:solidFill>
                            <a:srgbClr val="172D3C"/>
                          </a:solidFill>
                          <a:latin typeface="Helvetica Neue"/>
                          <a:ea typeface="Helvetica Neue"/>
                          <a:cs typeface="Helvetica Neue"/>
                        </a:rPr>
                        <a:t>204</a:t>
                      </a:r>
                    </a:p>
                  </a:txBody>
                  <a:tcPr>
                    <a:solidFill>
                      <a:srgbClr val="F1F4F6"/>
                    </a:solidFill>
                  </a:tcPr>
                </a:tc>
                <a:tc>
                  <a:txBody>
                    <a:bodyPr/>
                    <a:lstStyle/>
                    <a:p>
                      <a:r>
                        <a:rPr sz="1950" b="0">
                          <a:solidFill>
                            <a:srgbClr val="172D3C"/>
                          </a:solidFill>
                          <a:latin typeface="Helvetica Neue"/>
                          <a:ea typeface="Helvetica Neue"/>
                          <a:cs typeface="Helvetica Neue"/>
                        </a:rPr>
                        <a:t>204</a:t>
                      </a:r>
                    </a:p>
                  </a:txBody>
                  <a:tcPr>
                    <a:solidFill>
                      <a:srgbClr val="F1F4F6"/>
                    </a:solidFill>
                  </a:tcPr>
                </a:tc>
                <a:extLst>
                  <a:ext uri="{0D108BD9-81ED-4DB2-BD59-A6C34878D82A}">
                    <a16:rowId xmlns:a16="http://schemas.microsoft.com/office/drawing/2014/main" val="10001"/>
                  </a:ext>
                </a:extLst>
              </a:tr>
              <a:tr h="721519">
                <a:tc>
                  <a:txBody>
                    <a:bodyPr/>
                    <a:lstStyle/>
                    <a:p>
                      <a:r>
                        <a:rPr sz="1950" b="0">
                          <a:solidFill>
                            <a:srgbClr val="172D3C"/>
                          </a:solidFill>
                          <a:latin typeface="Helvetica Neue"/>
                          <a:ea typeface="Helvetica Neue"/>
                          <a:cs typeface="Helvetica Neue"/>
                        </a:rPr>
                        <a:t>Own-path acquired observations</a:t>
                      </a:r>
                    </a:p>
                  </a:txBody>
                  <a:tcPr>
                    <a:solidFill>
                      <a:srgbClr val="FFFFFF"/>
                    </a:solidFill>
                  </a:tcPr>
                </a:tc>
                <a:tc>
                  <a:txBody>
                    <a:bodyPr/>
                    <a:lstStyle/>
                    <a:p>
                      <a:r>
                        <a:rPr sz="1950" b="0">
                          <a:solidFill>
                            <a:srgbClr val="172D3C"/>
                          </a:solidFill>
                          <a:latin typeface="Helvetica Neue"/>
                          <a:ea typeface="Helvetica Neue"/>
                          <a:cs typeface="Helvetica Neue"/>
                        </a:rPr>
                        <a:t>102 EI</a:t>
                      </a:r>
                    </a:p>
                  </a:txBody>
                  <a:tcPr>
                    <a:solidFill>
                      <a:srgbClr val="FFFFFF"/>
                    </a:solidFill>
                  </a:tcPr>
                </a:tc>
                <a:tc>
                  <a:txBody>
                    <a:bodyPr/>
                    <a:lstStyle/>
                    <a:p>
                      <a:r>
                        <a:rPr sz="1950" b="0">
                          <a:solidFill>
                            <a:srgbClr val="172D3C"/>
                          </a:solidFill>
                          <a:latin typeface="Helvetica Neue"/>
                          <a:ea typeface="Helvetica Neue"/>
                          <a:cs typeface="Helvetica Neue"/>
                        </a:rPr>
                        <a:t>102 posterior mean</a:t>
                      </a:r>
                    </a:p>
                  </a:txBody>
                  <a:tcPr>
                    <a:solidFill>
                      <a:srgbClr val="FFFFFF"/>
                    </a:solidFill>
                  </a:tcPr>
                </a:tc>
                <a:extLst>
                  <a:ext uri="{0D108BD9-81ED-4DB2-BD59-A6C34878D82A}">
                    <a16:rowId xmlns:a16="http://schemas.microsoft.com/office/drawing/2014/main" val="10002"/>
                  </a:ext>
                </a:extLst>
              </a:tr>
              <a:tr h="721519">
                <a:tc>
                  <a:txBody>
                    <a:bodyPr/>
                    <a:lstStyle/>
                    <a:p>
                      <a:r>
                        <a:rPr sz="1950" b="0">
                          <a:solidFill>
                            <a:srgbClr val="172D3C"/>
                          </a:solidFill>
                          <a:latin typeface="Helvetica Neue"/>
                          <a:ea typeface="Helvetica Neue"/>
                          <a:cs typeface="Helvetica Neue"/>
                        </a:rPr>
                        <a:t>Unique training compositions</a:t>
                      </a:r>
                    </a:p>
                  </a:txBody>
                  <a:tcPr>
                    <a:solidFill>
                      <a:srgbClr val="F1F4F6"/>
                    </a:solidFill>
                  </a:tcPr>
                </a:tc>
                <a:tc>
                  <a:txBody>
                    <a:bodyPr/>
                    <a:lstStyle/>
                    <a:p>
                      <a:r>
                        <a:rPr sz="1950" b="0">
                          <a:solidFill>
                            <a:srgbClr val="172D3C"/>
                          </a:solidFill>
                          <a:latin typeface="Helvetica Neue"/>
                          <a:ea typeface="Helvetica Neue"/>
                          <a:cs typeface="Helvetica Neue"/>
                        </a:rPr>
                        <a:t>252</a:t>
                      </a:r>
                    </a:p>
                  </a:txBody>
                  <a:tcPr>
                    <a:solidFill>
                      <a:srgbClr val="F1F4F6"/>
                    </a:solidFill>
                  </a:tcPr>
                </a:tc>
                <a:tc>
                  <a:txBody>
                    <a:bodyPr/>
                    <a:lstStyle/>
                    <a:p>
                      <a:r>
                        <a:rPr sz="1950" b="0" dirty="0">
                          <a:solidFill>
                            <a:srgbClr val="172D3C"/>
                          </a:solidFill>
                          <a:latin typeface="Helvetica Neue"/>
                          <a:ea typeface="Helvetica Neue"/>
                          <a:cs typeface="Helvetica Neue"/>
                        </a:rPr>
                        <a:t>252</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188422EC-AD43-44D7-94A4-0F55C5166876}"/>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Response: triplicate median minus the plate median, then median across repeated observations of a composition.</a:t>
            </a:r>
          </a:p>
        </p:txBody>
      </p:sp>
    </p:spTree>
    <p:extLst>
      <p:ext uri="{BB962C8B-B14F-4D97-AF65-F5344CB8AC3E}">
        <p14:creationId xmlns:p14="http://schemas.microsoft.com/office/powerpoint/2010/main" val="1418615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D683C58D-BE73-4439-97D6-1EE0491048D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Predicted rankings barely matched the next measurements</a:t>
            </a:r>
          </a:p>
        </p:txBody>
      </p:sp>
      <p:sp>
        <p:nvSpPr>
          <p:cNvPr id="2" name="Rechteck 1">
            <a:extLst>
              <a:ext uri="{FF2B5EF4-FFF2-40B4-BE49-F238E27FC236}">
                <a16:creationId xmlns:a16="http://schemas.microsoft.com/office/drawing/2014/main" id="{CE7F3A5E-6C5D-4119-8C3A-5E42703EAF7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13</a:t>
            </a:r>
          </a:p>
        </p:txBody>
      </p:sp>
      <p:sp>
        <p:nvSpPr>
          <p:cNvPr id="3" name="Rechteck 2">
            <a:extLst>
              <a:ext uri="{FF2B5EF4-FFF2-40B4-BE49-F238E27FC236}">
                <a16:creationId xmlns:a16="http://schemas.microsoft.com/office/drawing/2014/main" id="{93320405-91F4-463E-BCD8-80EFDD88A32A}"/>
              </a:ext>
            </a:extLst>
          </p:cNvPr>
          <p:cNvSpPr>
            <a:spLocks noGrp="1"/>
          </p:cNvSpPr>
          <p:nvPr/>
        </p:nvSpPr>
        <p:spPr>
          <a:xfrm>
            <a:off x="723900" y="1457325"/>
            <a:ext cx="10668000" cy="428625"/>
          </a:xfrm>
          <a:prstGeom prst="rect">
            <a:avLst/>
          </a:prstGeom>
          <a:noFill/>
          <a:ln w="0">
            <a:noFill/>
          </a:ln>
        </p:spPr>
        <p:txBody>
          <a:bodyPr>
            <a:noAutofit/>
          </a:bodyPr>
          <a:lstStyle/>
          <a:p>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Predictions saved on 2 September, compared with the 4 September readout</a:t>
            </a:r>
          </a:p>
        </p:txBody>
      </p:sp>
      <p:graphicFrame>
        <p:nvGraphicFramePr>
          <p:cNvPr id="9" name="Chart"/>
          <p:cNvGraphicFramePr/>
          <p:nvPr>
            <p:extLst>
              <p:ext uri="{D42A27DB-BD31-4B8C-83A1-F6EECF244321}">
                <p14:modId xmlns:p14="http://schemas.microsoft.com/office/powerpoint/2010/main" val="1445867081"/>
              </p:ext>
            </p:extLst>
          </p:nvPr>
        </p:nvGraphicFramePr>
        <p:xfrm>
          <a:off x="723900" y="1952625"/>
          <a:ext cx="10725150" cy="35718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EB37E0EF-0D84-41A3-890E-1E6ADC45EF55}"/>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−1 = reversed order, 0 = no rank agreement, +1 = perfect agreement.</a:t>
            </a:r>
          </a:p>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This tests ranking within each batch, separately from its average performance.</a:t>
            </a:r>
          </a:p>
        </p:txBody>
      </p:sp>
    </p:spTree>
    <p:extLst>
      <p:ext uri="{BB962C8B-B14F-4D97-AF65-F5344CB8AC3E}">
        <p14:creationId xmlns:p14="http://schemas.microsoft.com/office/powerpoint/2010/main" val="1298191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EC9298B3-8226-42B1-AB6E-160A921B3F2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September 11 </a:t>
            </a:r>
            <a:r>
              <a:rPr lang="de-DE" sz="3225" b="1" dirty="0" err="1">
                <a:solidFill>
                  <a:srgbClr val="172D3C"/>
                </a:solidFill>
                <a:latin typeface="Helvetica Neue"/>
                <a:ea typeface="Helvetica Neue"/>
                <a:cs typeface="Helvetica Neue"/>
              </a:rPr>
              <a:t>measurements</a:t>
            </a:r>
            <a:r>
              <a:rPr lang="de-DE" sz="3225" b="1" dirty="0">
                <a:solidFill>
                  <a:srgbClr val="172D3C"/>
                </a:solidFill>
                <a:latin typeface="Helvetica Neue"/>
                <a:ea typeface="Helvetica Neue"/>
                <a:cs typeface="Helvetica Neue"/>
              </a:rPr>
              <a:t> </a:t>
            </a:r>
            <a:r>
              <a:rPr lang="de-DE" sz="3225" b="1" dirty="0" err="1">
                <a:solidFill>
                  <a:srgbClr val="172D3C"/>
                </a:solidFill>
                <a:latin typeface="Helvetica Neue"/>
                <a:ea typeface="Helvetica Neue"/>
                <a:cs typeface="Helvetica Neue"/>
              </a:rPr>
              <a:t>are</a:t>
            </a:r>
            <a:r>
              <a:rPr sz="3225" b="1" dirty="0">
                <a:solidFill>
                  <a:srgbClr val="172D3C"/>
                </a:solidFill>
                <a:latin typeface="Helvetica Neue"/>
                <a:ea typeface="Helvetica Neue"/>
                <a:cs typeface="Helvetica Neue"/>
              </a:rPr>
              <a:t> close to the edge reference</a:t>
            </a:r>
          </a:p>
        </p:txBody>
      </p:sp>
      <p:sp>
        <p:nvSpPr>
          <p:cNvPr id="2" name="Rechteck 1">
            <a:extLst>
              <a:ext uri="{FF2B5EF4-FFF2-40B4-BE49-F238E27FC236}">
                <a16:creationId xmlns:a16="http://schemas.microsoft.com/office/drawing/2014/main" id="{6BB442A3-3FC9-47C0-AC40-8D1CFB38BB34}"/>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59E4E707-A608-4239-A4E6-B63BB9DA7B7A}"/>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Medians across 306 culture wells and 60 edge-reference wells per plate. No concentration conversion.</a:t>
            </a:r>
          </a:p>
        </p:txBody>
      </p:sp>
    </p:spTree>
    <p:extLst>
      <p:ext uri="{BB962C8B-B14F-4D97-AF65-F5344CB8AC3E}">
        <p14:creationId xmlns:p14="http://schemas.microsoft.com/office/powerpoint/2010/main" val="1809333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64E7822-EE9D-4200-8548-43D00476C9C8}"/>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Latest-round triplicates show little agreement</a:t>
            </a:r>
          </a:p>
        </p:txBody>
      </p:sp>
      <p:sp>
        <p:nvSpPr>
          <p:cNvPr id="2" name="Rechteck 1">
            <a:extLst>
              <a:ext uri="{FF2B5EF4-FFF2-40B4-BE49-F238E27FC236}">
                <a16:creationId xmlns:a16="http://schemas.microsoft.com/office/drawing/2014/main" id="{08D030E9-149E-475C-9DAE-DC1439298740}"/>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15</a:t>
            </a:r>
          </a:p>
        </p:txBody>
      </p:sp>
      <p:sp>
        <p:nvSpPr>
          <p:cNvPr id="3" name="Rechteck 2">
            <a:extLst>
              <a:ext uri="{FF2B5EF4-FFF2-40B4-BE49-F238E27FC236}">
                <a16:creationId xmlns:a16="http://schemas.microsoft.com/office/drawing/2014/main" id="{9A619A2C-0557-43C4-89D6-C7DBDA62FBEB}"/>
              </a:ext>
            </a:extLst>
          </p:cNvPr>
          <p:cNvSpPr>
            <a:spLocks noGrp="1"/>
          </p:cNvSpPr>
          <p:nvPr/>
        </p:nvSpPr>
        <p:spPr>
          <a:xfrm>
            <a:off x="723900" y="1438275"/>
            <a:ext cx="10668000" cy="428625"/>
          </a:xfrm>
          <a:prstGeom prst="rect">
            <a:avLst/>
          </a:prstGeom>
          <a:noFill/>
          <a:ln w="0">
            <a:noFill/>
          </a:ln>
        </p:spPr>
        <p:txBody>
          <a:bodyPr>
            <a:noAutofit/>
          </a:bodyPr>
          <a:lstStyle/>
          <a:p>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Do the three wells of a community give similar readings?</a:t>
            </a:r>
          </a:p>
        </p:txBody>
      </p:sp>
      <p:graphicFrame>
        <p:nvGraphicFramePr>
          <p:cNvPr id="9" name="Chart"/>
          <p:cNvGraphicFramePr/>
          <p:nvPr/>
        </p:nvGraphicFramePr>
        <p:xfrm>
          <a:off x="723900" y="1924050"/>
          <a:ext cx="10725150" cy="36099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25FB32A0-535B-431A-BA5E-EB488A9B7CF0}"/>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0 = no consistent community effect, 1 = perfect agreement between replicate wells.</a:t>
            </a:r>
          </a:p>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Latest values: 0.02–0.07. Within-community scatter dominates the differences between communities.</a:t>
            </a:r>
          </a:p>
        </p:txBody>
      </p:sp>
    </p:spTree>
    <p:extLst>
      <p:ext uri="{BB962C8B-B14F-4D97-AF65-F5344CB8AC3E}">
        <p14:creationId xmlns:p14="http://schemas.microsoft.com/office/powerpoint/2010/main" val="423203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6CCB0980-8F01-4B9D-8E5D-01A8CA221A8B}"/>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Next experiment and discussion</a:t>
            </a:r>
          </a:p>
        </p:txBody>
      </p:sp>
      <p:sp>
        <p:nvSpPr>
          <p:cNvPr id="2" name="Rechteck 1">
            <a:extLst>
              <a:ext uri="{FF2B5EF4-FFF2-40B4-BE49-F238E27FC236}">
                <a16:creationId xmlns:a16="http://schemas.microsoft.com/office/drawing/2014/main" id="{2664F2C7-E34D-4B8E-A91A-75774AE46C8B}"/>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16</a:t>
            </a:r>
          </a:p>
        </p:txBody>
      </p:sp>
      <p:sp>
        <p:nvSpPr>
          <p:cNvPr id="3" name="Rechteck 2">
            <a:extLst>
              <a:ext uri="{FF2B5EF4-FFF2-40B4-BE49-F238E27FC236}">
                <a16:creationId xmlns:a16="http://schemas.microsoft.com/office/drawing/2014/main" id="{8150857A-CF36-42C4-A23B-28942FE6524D}"/>
              </a:ext>
            </a:extLst>
          </p:cNvPr>
          <p:cNvSpPr>
            <a:spLocks noGrp="1"/>
          </p:cNvSpPr>
          <p:nvPr/>
        </p:nvSpPr>
        <p:spPr>
          <a:xfrm>
            <a:off x="704850" y="1685925"/>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Latest round</a:t>
            </a:r>
          </a:p>
        </p:txBody>
      </p:sp>
      <p:sp>
        <p:nvSpPr>
          <p:cNvPr id="4" name="Rechteck 3">
            <a:extLst>
              <a:ext uri="{FF2B5EF4-FFF2-40B4-BE49-F238E27FC236}">
                <a16:creationId xmlns:a16="http://schemas.microsoft.com/office/drawing/2014/main" id="{C1726D6A-DB30-45B6-B894-85C99F34E35E}"/>
              </a:ext>
            </a:extLst>
          </p:cNvPr>
          <p:cNvSpPr>
            <a:spLocks noGrp="1"/>
          </p:cNvSpPr>
          <p:nvPr/>
        </p:nvSpPr>
        <p:spPr>
          <a:xfrm>
            <a:off x="704850" y="217170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Identify which communities actually assembled</a:t>
            </a:r>
            <a:r>
              <a:rPr lang="de-DE" sz="1950" dirty="0">
                <a:solidFill>
                  <a:srgbClr val="506574"/>
                </a:solidFill>
                <a:latin typeface="Helvetica Neue"/>
                <a:ea typeface="Helvetica Neue"/>
                <a:cs typeface="Helvetica Neue"/>
              </a:rPr>
              <a:t> in </a:t>
            </a:r>
            <a:r>
              <a:rPr lang="de-DE" sz="1950" dirty="0" err="1">
                <a:solidFill>
                  <a:srgbClr val="506574"/>
                </a:solidFill>
                <a:latin typeface="Helvetica Neue"/>
                <a:ea typeface="Helvetica Neue"/>
                <a:cs typeface="Helvetica Neue"/>
              </a:rPr>
              <a:t>round</a:t>
            </a:r>
            <a:r>
              <a:rPr lang="de-DE" sz="1950" dirty="0">
                <a:solidFill>
                  <a:srgbClr val="506574"/>
                </a:solidFill>
                <a:latin typeface="Helvetica Neue"/>
                <a:ea typeface="Helvetica Neue"/>
                <a:cs typeface="Helvetica Neue"/>
              </a:rPr>
              <a:t> 2/3</a:t>
            </a:r>
            <a:r>
              <a:rPr sz="1950" b="0" dirty="0">
                <a:solidFill>
                  <a:srgbClr val="506574"/>
                </a:solidFill>
                <a:latin typeface="Helvetica Neue"/>
                <a:ea typeface="Helvetica Neue"/>
                <a:cs typeface="Helvetica Neue"/>
              </a:rPr>
              <a:t> before </a:t>
            </a:r>
            <a:r>
              <a:rPr lang="de-DE" sz="1950" b="0" dirty="0" err="1">
                <a:solidFill>
                  <a:srgbClr val="506574"/>
                </a:solidFill>
                <a:latin typeface="Helvetica Neue"/>
                <a:ea typeface="Helvetica Neue"/>
                <a:cs typeface="Helvetica Neue"/>
              </a:rPr>
              <a:t>re</a:t>
            </a:r>
            <a:r>
              <a:rPr lang="de-DE" sz="1950" b="0" dirty="0">
                <a:solidFill>
                  <a:srgbClr val="506574"/>
                </a:solidFill>
                <a:latin typeface="Helvetica Neue"/>
                <a:ea typeface="Helvetica Neue"/>
                <a:cs typeface="Helvetica Neue"/>
              </a:rPr>
              <a:t>-training </a:t>
            </a:r>
            <a:r>
              <a:rPr sz="1950" b="0" dirty="0">
                <a:solidFill>
                  <a:srgbClr val="506574"/>
                </a:solidFill>
                <a:latin typeface="Helvetica Neue"/>
                <a:ea typeface="Helvetica Neue"/>
                <a:cs typeface="Helvetica Neue"/>
              </a:rPr>
              <a:t>the models.</a:t>
            </a:r>
          </a:p>
        </p:txBody>
      </p:sp>
      <p:sp>
        <p:nvSpPr>
          <p:cNvPr id="5" name="Rechteck 4">
            <a:extLst>
              <a:ext uri="{FF2B5EF4-FFF2-40B4-BE49-F238E27FC236}">
                <a16:creationId xmlns:a16="http://schemas.microsoft.com/office/drawing/2014/main" id="{CF7BB2C1-E194-4796-B510-2AAB27AAC973}"/>
              </a:ext>
            </a:extLst>
          </p:cNvPr>
          <p:cNvSpPr>
            <a:spLocks noGrp="1"/>
          </p:cNvSpPr>
          <p:nvPr/>
        </p:nvSpPr>
        <p:spPr>
          <a:xfrm>
            <a:off x="704850" y="31242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lang="de-DE" sz="2250" b="1" dirty="0">
                <a:solidFill>
                  <a:srgbClr val="172D3C"/>
                </a:solidFill>
                <a:latin typeface="Helvetica Neue"/>
                <a:ea typeface="Helvetica Neue"/>
                <a:cs typeface="Helvetica Neue"/>
              </a:rPr>
              <a:t>Community &gt; </a:t>
            </a:r>
            <a:r>
              <a:rPr lang="de-DE" sz="2250" b="1" dirty="0" err="1">
                <a:solidFill>
                  <a:srgbClr val="172D3C"/>
                </a:solidFill>
                <a:latin typeface="Helvetica Neue"/>
                <a:ea typeface="Helvetica Neue"/>
                <a:cs typeface="Helvetica Neue"/>
              </a:rPr>
              <a:t>Monocultures</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targeted</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repeat</a:t>
            </a:r>
            <a:endParaRPr sz="2250" b="1" dirty="0">
              <a:solidFill>
                <a:srgbClr val="172D3C"/>
              </a:solidFill>
              <a:latin typeface="Helvetica Neue"/>
              <a:ea typeface="Helvetica Neue"/>
              <a:cs typeface="Helvetica Neue"/>
            </a:endParaRPr>
          </a:p>
        </p:txBody>
      </p:sp>
      <p:sp>
        <p:nvSpPr>
          <p:cNvPr id="6" name="Rechteck 5">
            <a:extLst>
              <a:ext uri="{FF2B5EF4-FFF2-40B4-BE49-F238E27FC236}">
                <a16:creationId xmlns:a16="http://schemas.microsoft.com/office/drawing/2014/main" id="{01A69B6B-CA52-4E85-AF59-CAD6FA247B80}"/>
              </a:ext>
            </a:extLst>
          </p:cNvPr>
          <p:cNvSpPr>
            <a:spLocks noGrp="1"/>
          </p:cNvSpPr>
          <p:nvPr/>
        </p:nvSpPr>
        <p:spPr>
          <a:xfrm>
            <a:off x="704850" y="36099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Independently repeat the four-member candidate and its constituent monocultures.</a:t>
            </a:r>
          </a:p>
        </p:txBody>
      </p:sp>
      <p:sp>
        <p:nvSpPr>
          <p:cNvPr id="8" name="Rechteck 7">
            <a:extLst>
              <a:ext uri="{FF2B5EF4-FFF2-40B4-BE49-F238E27FC236}">
                <a16:creationId xmlns:a16="http://schemas.microsoft.com/office/drawing/2014/main" id="{E1625B72-AA42-40B2-B5D9-F1861FE97EC4}"/>
              </a:ext>
            </a:extLst>
          </p:cNvPr>
          <p:cNvSpPr>
            <a:spLocks noGrp="1"/>
          </p:cNvSpPr>
          <p:nvPr/>
        </p:nvSpPr>
        <p:spPr>
          <a:xfrm>
            <a:off x="704850" y="504825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endParaRPr sz="19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499698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9C2C039-7A5C-467B-997B-2ADD0826AB7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the top standards respond on all four plates</a:t>
            </a:r>
          </a:p>
        </p:txBody>
      </p:sp>
      <p:sp>
        <p:nvSpPr>
          <p:cNvPr id="2" name="Rechteck 1">
            <a:extLst>
              <a:ext uri="{FF2B5EF4-FFF2-40B4-BE49-F238E27FC236}">
                <a16:creationId xmlns:a16="http://schemas.microsoft.com/office/drawing/2014/main" id="{558138C8-3172-42B4-A30D-E094A0891337}"/>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17</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1C36E113-8366-414B-B653-98B30910A28A}"/>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Standard concentration, mM. Equal spacing represents halving steps, not a linear concentration axis.</a:t>
            </a:r>
          </a:p>
        </p:txBody>
      </p:sp>
    </p:spTree>
    <p:extLst>
      <p:ext uri="{BB962C8B-B14F-4D97-AF65-F5344CB8AC3E}">
        <p14:creationId xmlns:p14="http://schemas.microsoft.com/office/powerpoint/2010/main" val="17235364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2948</Words>
  <Application>Microsoft Macintosh PowerPoint</Application>
  <DocSecurity>0</DocSecurity>
  <PresentationFormat>Breitbild</PresentationFormat>
  <Paragraphs>240</Paragraphs>
  <Slides>17</Slides>
  <Notes>17</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17</vt:i4>
      </vt:variant>
    </vt:vector>
  </HeadingPairs>
  <TitlesOfParts>
    <vt:vector size="20" baseType="lpstr">
      <vt:lpstr>Calibri</vt:lpstr>
      <vt:lpstr>Helvetica Neue</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Magnus Ohle</cp:lastModifiedBy>
  <cp:revision>2</cp:revision>
  <dcterms:created xsi:type="dcterms:W3CDTF">2026-09-14T06:23:51Z</dcterms:created>
  <dcterms:modified xsi:type="dcterms:W3CDTF">2026-09-14T07:17:41Z</dcterms:modified>
</cp:coreProperties>
</file>